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Jinni as a decision-support prototype. It helps people compare supplied options using their budget, time and priorities, then ask an optional AI to explain the evidence. The built-in examples are fictional. Add your name, teammate names and course or event details before presenting. Do not describe the demo as a live travel or investment service.</a:t>
            </a:r>
          </a:p>
          <a:p/>
          <a:p>
            <a:r>
              <a:t>Code references:</a:t>
            </a:r>
          </a:p>
          <a:p>
            <a:r>
              <a:t>README.md</a:t>
            </a:r>
          </a:p>
          <a:p>
            <a:r>
              <a:t>docs/GENERAL_DECISIONS.md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user problem before describing the technology. A cheaper journey may take longer, so a single price sort is not always enough. A hard limit rules out an option; an importance setting affects how the remaining options rank. Financial examples use synthetic information and do not provide investment advice.</a:t>
            </a:r>
          </a:p>
          <a:p/>
          <a:p>
            <a:r>
              <a:t>Code references:</a:t>
            </a:r>
          </a:p>
          <a:p>
            <a:r>
              <a:t>app/comparison/catalog.py</a:t>
            </a:r>
          </a:p>
          <a:p>
            <a:r>
              <a:t>web/presentation.mjs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common interface in the desktop app. Explain that typing a value or moving a slider changes the same underlying setting. The app keeps money, time and importance units separate. Ask AI opens a separate dialog; the user explicitly chooses whether to include the current comparison or activity preferences. An answer is not sent automatically just because a comparison was calculated.</a:t>
            </a:r>
          </a:p>
          <a:p/>
          <a:p>
            <a:r>
              <a:t>Code references:</a:t>
            </a:r>
          </a:p>
          <a:p>
            <a:r>
              <a:t>web/decision-app.mjs</a:t>
            </a:r>
          </a:p>
          <a:p>
            <a:r>
              <a:t>web/desktop-ai.mjs</a:t>
            </a:r>
          </a:p>
          <a:p>
            <a:r>
              <a:t>web/ui-context.mjs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API is a defined way for one part of the app to request work from another. Electron runs the same page as the website, but its platform adapter calls named bridge methods. The trusted main process calls the local Python service. GitHub Pages is static, so its comparisons run in JavaScript. This presentation focuses on the desktop OpenAI path the user selected.</a:t>
            </a:r>
          </a:p>
          <a:p/>
          <a:p>
            <a:r>
              <a:t>Code references:</a:t>
            </a:r>
          </a:p>
          <a:p>
            <a:r>
              <a:t>web/platform.mjs</a:t>
            </a:r>
          </a:p>
          <a:p>
            <a:r>
              <a:t>desktop/preload.cjs</a:t>
            </a:r>
          </a:p>
          <a:p>
            <a:r>
              <a:t>desktop/main.cjs</a:t>
            </a:r>
          </a:p>
          <a:p>
            <a:r>
              <a:t>desktop/assets.cjs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these files in the same order as a request. Keep the explanation at responsibility level first. The renderer presents information; the main process owns trusted desktop operations; the backend coordinates data and calculations. The pure comparison engine does not import FastAPI or frontend code. A pure function calculates from its inputs without calling the network or changing external state.</a:t>
            </a:r>
          </a:p>
          <a:p/>
          <a:p>
            <a:r>
              <a:t>Code references:</a:t>
            </a:r>
          </a:p>
          <a:p>
            <a:r>
              <a:t>docs/ARCHITECTURE.md</a:t>
            </a:r>
          </a:p>
          <a:p>
            <a:r>
              <a:t>docs/DESKTOP_BRIDGE.md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option feed says what the choices are; the measurement feed provides values such as cost, time and emissions. The adapters fetch the two differently shaped fictional feeds concurrently with bounded deadlines. The engine joins options and observations by ID. Unknown availability, missing active measurements or failed limits exclude a choice. In this prototype the mock feeds are routes in the same backend, not independent live organisations.</a:t>
            </a:r>
          </a:p>
          <a:p/>
          <a:p>
            <a:r>
              <a:t>Code references:</a:t>
            </a:r>
          </a:p>
          <a:p>
            <a:r>
              <a:t>app/comparison/adapters.py</a:t>
            </a:r>
          </a:p>
          <a:p>
            <a:r>
              <a:t>app/comparison/router.py</a:t>
            </a:r>
          </a:p>
          <a:p>
            <a:r>
              <a:t>app/comparison/engine.py</a:t>
            </a:r>
          </a:p>
          <a:p>
            <a:r>
              <a:t>data/decisions/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lower-is-better measure, use (maximum minus value) divided by (maximum minus minimum). For a higher-is-better measure, use (value minus minimum) divided by the range. A constant measure receives 1 because every feasible choice is equal on it. A weight of zero removes that measure from scoring, but a separate limit can still apply. Scores and contribution points round to six decimal places. Importance weights do not have to sum to 100.</a:t>
            </a:r>
          </a:p>
          <a:p/>
          <a:p>
            <a:r>
              <a:t>Code references:</a:t>
            </a:r>
          </a:p>
          <a:p>
            <a:r>
              <a:t>app/comparison/engine.py</a:t>
            </a:r>
          </a:p>
          <a:p>
            <a:r>
              <a:t>web/decisions.mjs</a:t>
            </a:r>
          </a:p>
          <a:p>
            <a:r>
              <a:t>tests/test_comparison_engine.py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come from the actual comparison endpoint using the configured travel fixtures. Train receives 35 points for time and 20 for emissions, giving 55; coach receives 45 for cost. Flight and taxi exceed the default budget and cycling exceeds the time limit. Changing the settings changes the calculation; this is not a canned response. The presentation builder checks this example against the Python application before creating the deck.</a:t>
            </a:r>
          </a:p>
          <a:p/>
          <a:p>
            <a:r>
              <a:t>Code references:</a:t>
            </a:r>
          </a:p>
          <a:p>
            <a:r>
              <a:t>data/decisions/travel-options.json</a:t>
            </a:r>
          </a:p>
          <a:p>
            <a:r>
              <a:t>data/decisions/travel-metrics.json</a:t>
            </a:r>
          </a:p>
          <a:p>
            <a:r>
              <a:t>app/comparison/catalog.py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Tick Include my current comparison before asking. The backend calls the same comparison endpoint used by the normal workflow and inserts its result into temporary decision-context evidence. OpenAI receives the question and bounded evidence through the Responses API. The request uses a strict JSON schema, store false and a 30-second deadline. The final response includes the authoritative calculated decision separately from the AI prose. No API key or chat history is written to the source library.</a:t>
            </a:r>
          </a:p>
          <a:p/>
          <a:p>
            <a:r>
              <a:t>Code references:</a:t>
            </a:r>
          </a:p>
          <a:p>
            <a:r>
              <a:t>web/desktop-ai.mjs</a:t>
            </a:r>
          </a:p>
          <a:p>
            <a:r>
              <a:t>app/knowledge/router.py</a:t>
            </a:r>
          </a:p>
          <a:p>
            <a:r>
              <a:t>app/knowledge/openai_client.py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OpenAI improvement in this change. A number such as 800 is ambiguous without a unit. The updated context includes criteria definitions and chosen weights and limits, so the explanation can discuss trade-offs and exclusion reasons. Large contexts drop optional details as whole structured items and report omissions; they do not cut JSON in the middle. Selected documents use bounded lexical retrieval. This is comparison analysis and evidence explanation, not arbitrary spreadsheet execution, forecasting or a whole-document statistical audit.</a:t>
            </a:r>
          </a:p>
          <a:p/>
          <a:p>
            <a:r>
              <a:t>Code references:</a:t>
            </a:r>
          </a:p>
          <a:p>
            <a:r>
              <a:t>app/knowledge/router.py: decision_evidence</a:t>
            </a:r>
          </a:p>
          <a:p>
            <a:r>
              <a:t>app/knowledge/openai_client.py: INSTRUCTIONS</a:t>
            </a:r>
          </a:p>
          <a:p>
            <a:r>
              <a:t>tests/test_decision_chat.py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initial uv sync and npm ci, run npm run desktop or the Windows launcher. API access, model availability and quota must be enabled for the user's OpenAI account; a ChatGPT subscription does not itself prove API access. Saving a key only stores it for the session; access is checked on the first actual question. The notice names OpenAI as the recipient of the question and selected evidence. Never put a genuine key on a slide, in source code, in Git or in chat.</a:t>
            </a:r>
          </a:p>
          <a:p/>
          <a:p>
            <a:r>
              <a:t>Code references:</a:t>
            </a:r>
          </a:p>
          <a:p>
            <a:r>
              <a:t>web/desktop-ai.mjs</a:t>
            </a:r>
          </a:p>
          <a:p>
            <a:r>
              <a:t>desktop/api-client.cjs</a:t>
            </a:r>
          </a:p>
          <a:p>
            <a:r>
              <a:t>docs/OPENAI_DESKTOP_GUIDE.md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renderer has no Node access and uses a narrow preload bridge. The main process attaches a key only to the selected provider's chat request. The backend validates structured output and exact quotation membership. Instructions inside documents are treated as data, but this and quotation checks are safeguards rather than proof of truth. No matching source passages avoids a provider call. Ordinary comparisons remain available without any AI provider. Text/PDF import is bounded, with no OCR, web scraping or automatic provider fallback.</a:t>
            </a:r>
          </a:p>
          <a:p/>
          <a:p>
            <a:r>
              <a:t>Code references:</a:t>
            </a:r>
          </a:p>
          <a:p>
            <a:r>
              <a:t>desktop/preload.cjs</a:t>
            </a:r>
          </a:p>
          <a:p>
            <a:r>
              <a:t>desktop/validation.cjs</a:t>
            </a:r>
          </a:p>
          <a:p>
            <a:r>
              <a:t>app/knowledge/openai_client.py</a:t>
            </a:r>
          </a:p>
          <a:p>
            <a:r>
              <a:t>app/knowledge/storage.py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which checks used actual calculations and which used injected cloud responses. The new tests inspect the exact data sent to OpenAI, including units, changed priorities, limits and bounded custom context. A conservative live checker also checks that an example answer says £8.00 and 120 minutes and includes a valid citation. No genuine OpenAI key was configured during this work, so live access remains unverified. Update this slide only after recording a real run; do not claim human review or live success just because automated tests pass.</a:t>
            </a:r>
          </a:p>
          <a:p/>
          <a:p>
            <a:r>
              <a:t>Code references:</a:t>
            </a:r>
          </a:p>
          <a:p>
            <a:r>
              <a:t>tests/test_decision_chat.py</a:t>
            </a:r>
          </a:p>
          <a:p>
            <a:r>
              <a:t>tests/test_openai_client.py</a:t>
            </a:r>
          </a:p>
          <a:p>
            <a:r>
              <a:t>tests/test_verify_openai.py</a:t>
            </a:r>
          </a:p>
          <a:p>
            <a:r>
              <a:t>scripts/verify_openai.py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should show a changing calculated result, not just a polished screen. Start keyless, then add optional OpenAI explanation with explicit context. If the provider fails, show the real error and continue using the comparison. Do not improvise a fake AI success. End by explaining one important design choice: exact pence protects money boundaries; pure ranking makes results reproducible; citations let users inspect evidence. Future live-data adapters and hosted browser AI are possible extensions, not current completed features.</a:t>
            </a:r>
          </a:p>
          <a:p/>
          <a:p>
            <a:r>
              <a:t>Code references:</a:t>
            </a:r>
          </a:p>
          <a:p>
            <a:r>
              <a:t>docs/OPENAI_DESKTOP_GUIDE.md</a:t>
            </a:r>
          </a:p>
          <a:p>
            <a:r>
              <a:t>scripts/verify_openai.py</a:t>
            </a:r>
          </a:p>
          <a:p>
            <a:r>
              <a:t>docs/AI_USAGE.md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CODE WALKTHROUGH · DESKTOP + OPENAI</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Jinni</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01 / 14</a:t>
            </a:r>
          </a:p>
        </p:txBody>
      </p:sp>
      <p:sp>
        <p:nvSpPr>
          <p:cNvPr id="10" name="TextBox 9"/>
          <p:cNvSpPr txBox="1"/>
          <p:nvPr/>
        </p:nvSpPr>
        <p:spPr>
          <a:xfrm>
            <a:off x="594360" y="2148840"/>
            <a:ext cx="10927080" cy="1371600"/>
          </a:xfrm>
          <a:prstGeom prst="rect">
            <a:avLst/>
          </a:prstGeom>
          <a:noFill/>
        </p:spPr>
        <p:txBody>
          <a:bodyPr wrap="square" lIns="9144" rIns="9144" tIns="0" bIns="0">
            <a:spAutoFit/>
          </a:bodyPr>
          <a:lstStyle/>
          <a:p>
            <a:pPr>
              <a:spcAft>
                <a:spcPts val="0"/>
              </a:spcAft>
              <a:defRPr sz="4400" b="1">
                <a:solidFill>
                  <a:srgbClr val="17243B"/>
                </a:solidFill>
                <a:latin typeface="Aptos"/>
              </a:defRPr>
            </a:pPr>
            <a:r>
              <a:t>Compare data. Explain decisions.</a:t>
            </a:r>
          </a:p>
        </p:txBody>
      </p:sp>
      <p:sp>
        <p:nvSpPr>
          <p:cNvPr id="11" name="Rounded Rectangle 10"/>
          <p:cNvSpPr/>
          <p:nvPr/>
        </p:nvSpPr>
        <p:spPr>
          <a:xfrm>
            <a:off x="594360" y="4389120"/>
            <a:ext cx="3520440" cy="105156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4590288"/>
            <a:ext cx="3108960" cy="731520"/>
          </a:xfrm>
          <a:prstGeom prst="rect">
            <a:avLst/>
          </a:prstGeom>
          <a:noFill/>
        </p:spPr>
        <p:txBody>
          <a:bodyPr wrap="square" lIns="9144" rIns="9144" tIns="0" bIns="0">
            <a:spAutoFit/>
          </a:bodyPr>
          <a:lstStyle/>
          <a:p>
            <a:pPr>
              <a:spcAft>
                <a:spcPts val="0"/>
              </a:spcAft>
              <a:defRPr sz="2200" b="1">
                <a:solidFill>
                  <a:srgbClr val="BC3045"/>
                </a:solidFill>
                <a:latin typeface="Aptos"/>
              </a:defRPr>
            </a:pPr>
            <a:r>
              <a:t>One shared interface</a:t>
            </a:r>
          </a:p>
        </p:txBody>
      </p:sp>
      <p:sp>
        <p:nvSpPr>
          <p:cNvPr id="13" name="Rounded Rectangle 12"/>
          <p:cNvSpPr/>
          <p:nvPr/>
        </p:nvSpPr>
        <p:spPr>
          <a:xfrm>
            <a:off x="4297680" y="4389120"/>
            <a:ext cx="3520440" cy="1051560"/>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4590288"/>
            <a:ext cx="3108960" cy="731520"/>
          </a:xfrm>
          <a:prstGeom prst="rect">
            <a:avLst/>
          </a:prstGeom>
          <a:noFill/>
        </p:spPr>
        <p:txBody>
          <a:bodyPr wrap="square" lIns="9144" rIns="9144" tIns="0" bIns="0">
            <a:spAutoFit/>
          </a:bodyPr>
          <a:lstStyle/>
          <a:p>
            <a:pPr>
              <a:spcAft>
                <a:spcPts val="0"/>
              </a:spcAft>
              <a:defRPr sz="2200" b="1">
                <a:solidFill>
                  <a:srgbClr val="18704C"/>
                </a:solidFill>
                <a:latin typeface="Aptos"/>
              </a:defRPr>
            </a:pPr>
            <a:r>
              <a:t>Deterministic comparisons</a:t>
            </a:r>
          </a:p>
        </p:txBody>
      </p:sp>
      <p:sp>
        <p:nvSpPr>
          <p:cNvPr id="15" name="Rounded Rectangle 14"/>
          <p:cNvSpPr/>
          <p:nvPr/>
        </p:nvSpPr>
        <p:spPr>
          <a:xfrm>
            <a:off x="8001000" y="4389120"/>
            <a:ext cx="3520440" cy="1051560"/>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4590288"/>
            <a:ext cx="3108960" cy="731520"/>
          </a:xfrm>
          <a:prstGeom prst="rect">
            <a:avLst/>
          </a:prstGeom>
          <a:noFill/>
        </p:spPr>
        <p:txBody>
          <a:bodyPr wrap="square" lIns="9144" rIns="9144" tIns="0" bIns="0">
            <a:spAutoFit/>
          </a:bodyPr>
          <a:lstStyle/>
          <a:p>
            <a:pPr>
              <a:spcAft>
                <a:spcPts val="0"/>
              </a:spcAft>
              <a:defRPr sz="2200" b="1">
                <a:solidFill>
                  <a:srgbClr val="255EC9"/>
                </a:solidFill>
                <a:latin typeface="Aptos"/>
              </a:defRPr>
            </a:pPr>
            <a:r>
              <a:t>Evidence-based AI explanations</a:t>
            </a:r>
          </a:p>
        </p:txBody>
      </p:sp>
      <p:sp>
        <p:nvSpPr>
          <p:cNvPr id="17" name="TextBox 16"/>
          <p:cNvSpPr txBox="1"/>
          <p:nvPr/>
        </p:nvSpPr>
        <p:spPr>
          <a:xfrm>
            <a:off x="594360" y="5779008"/>
            <a:ext cx="10789920" cy="320040"/>
          </a:xfrm>
          <a:prstGeom prst="rect">
            <a:avLst/>
          </a:prstGeom>
          <a:noFill/>
        </p:spPr>
        <p:txBody>
          <a:bodyPr wrap="square" lIns="9144" rIns="9144" tIns="0" bIns="0">
            <a:spAutoFit/>
          </a:bodyPr>
          <a:lstStyle/>
          <a:p>
            <a:pPr>
              <a:spcAft>
                <a:spcPts val="0"/>
              </a:spcAft>
              <a:defRPr sz="1600" b="0">
                <a:solidFill>
                  <a:srgbClr val="526078"/>
                </a:solidFill>
                <a:latin typeface="Aptos"/>
              </a:defRPr>
            </a:pPr>
            <a:r>
              <a:t>Desktop application + optional OpenAI · presentation notes included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01 · THE PROBLEM</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A choice has more than one measure</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02 / 14</a:t>
            </a:r>
          </a:p>
        </p:txBody>
      </p:sp>
      <p:sp>
        <p:nvSpPr>
          <p:cNvPr id="10" name="Rounded Rectangle 9"/>
          <p:cNvSpPr/>
          <p:nvPr/>
        </p:nvSpPr>
        <p:spPr>
          <a:xfrm>
            <a:off x="594360" y="2011680"/>
            <a:ext cx="3532632" cy="297180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194560"/>
            <a:ext cx="3130296" cy="320040"/>
          </a:xfrm>
          <a:prstGeom prst="rect">
            <a:avLst/>
          </a:prstGeom>
          <a:noFill/>
        </p:spPr>
        <p:txBody>
          <a:bodyPr wrap="square" lIns="9144" rIns="9144" tIns="0" bIns="0">
            <a:spAutoFit/>
          </a:bodyPr>
          <a:lstStyle/>
          <a:p>
            <a:pPr>
              <a:spcAft>
                <a:spcPts val="0"/>
              </a:spcAft>
              <a:defRPr sz="1400" b="1">
                <a:solidFill>
                  <a:srgbClr val="BC3045"/>
                </a:solidFill>
                <a:latin typeface="Aptos"/>
              </a:defRPr>
            </a:pPr>
            <a:r>
              <a:t>01</a:t>
            </a:r>
          </a:p>
        </p:txBody>
      </p:sp>
      <p:sp>
        <p:nvSpPr>
          <p:cNvPr id="12" name="TextBox 11"/>
          <p:cNvSpPr txBox="1"/>
          <p:nvPr/>
        </p:nvSpPr>
        <p:spPr>
          <a:xfrm>
            <a:off x="795528" y="2743200"/>
            <a:ext cx="3130296" cy="594360"/>
          </a:xfrm>
          <a:prstGeom prst="rect">
            <a:avLst/>
          </a:prstGeom>
          <a:noFill/>
        </p:spPr>
        <p:txBody>
          <a:bodyPr wrap="square" lIns="9144" rIns="9144" tIns="0" bIns="0">
            <a:spAutoFit/>
          </a:bodyPr>
          <a:lstStyle/>
          <a:p>
            <a:pPr>
              <a:spcAft>
                <a:spcPts val="0"/>
              </a:spcAft>
              <a:defRPr sz="2300" b="1">
                <a:solidFill>
                  <a:srgbClr val="BC3045"/>
                </a:solidFill>
                <a:latin typeface="Aptos"/>
              </a:defRPr>
            </a:pPr>
            <a:r>
              <a:t>Money</a:t>
            </a:r>
          </a:p>
        </p:txBody>
      </p:sp>
      <p:sp>
        <p:nvSpPr>
          <p:cNvPr id="13" name="TextBox 12"/>
          <p:cNvSpPr txBox="1"/>
          <p:nvPr/>
        </p:nvSpPr>
        <p:spPr>
          <a:xfrm>
            <a:off x="795528" y="3520440"/>
            <a:ext cx="3130296" cy="1280160"/>
          </a:xfrm>
          <a:prstGeom prst="rect">
            <a:avLst/>
          </a:prstGeom>
          <a:noFill/>
        </p:spPr>
        <p:txBody>
          <a:bodyPr wrap="square" lIns="9144" rIns="9144" tIns="0" bIns="0">
            <a:spAutoFit/>
          </a:bodyPr>
          <a:lstStyle/>
          <a:p>
            <a:pPr>
              <a:spcAft>
                <a:spcPts val="800"/>
              </a:spcAft>
              <a:defRPr sz="2000" b="0">
                <a:solidFill>
                  <a:srgbClr val="17243B"/>
                </a:solidFill>
                <a:latin typeface="Aptos"/>
              </a:defRPr>
            </a:pPr>
            <a:r>
              <a:t>What fits my budget?</a:t>
            </a:r>
          </a:p>
          <a:p>
            <a:pPr>
              <a:spcAft>
                <a:spcPts val="0"/>
              </a:spcAft>
              <a:defRPr sz="2000" b="0">
                <a:solidFill>
                  <a:srgbClr val="17243B"/>
                </a:solidFill>
                <a:latin typeface="Aptos"/>
              </a:defRPr>
            </a:pPr>
            <a:r>
              <a:t>Prices display in £.</a:t>
            </a:r>
          </a:p>
        </p:txBody>
      </p:sp>
      <p:sp>
        <p:nvSpPr>
          <p:cNvPr id="14" name="Rounded Rectangle 13"/>
          <p:cNvSpPr/>
          <p:nvPr/>
        </p:nvSpPr>
        <p:spPr>
          <a:xfrm>
            <a:off x="4328160" y="2011680"/>
            <a:ext cx="3532632" cy="2971800"/>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9328" y="2194560"/>
            <a:ext cx="3130296" cy="320040"/>
          </a:xfrm>
          <a:prstGeom prst="rect">
            <a:avLst/>
          </a:prstGeom>
          <a:noFill/>
        </p:spPr>
        <p:txBody>
          <a:bodyPr wrap="square" lIns="9144" rIns="9144" tIns="0" bIns="0">
            <a:spAutoFit/>
          </a:bodyPr>
          <a:lstStyle/>
          <a:p>
            <a:pPr>
              <a:spcAft>
                <a:spcPts val="0"/>
              </a:spcAft>
              <a:defRPr sz="1400" b="1">
                <a:solidFill>
                  <a:srgbClr val="18704C"/>
                </a:solidFill>
                <a:latin typeface="Aptos"/>
              </a:defRPr>
            </a:pPr>
            <a:r>
              <a:t>02</a:t>
            </a:r>
          </a:p>
        </p:txBody>
      </p:sp>
      <p:sp>
        <p:nvSpPr>
          <p:cNvPr id="16" name="TextBox 15"/>
          <p:cNvSpPr txBox="1"/>
          <p:nvPr/>
        </p:nvSpPr>
        <p:spPr>
          <a:xfrm>
            <a:off x="4529328" y="2743200"/>
            <a:ext cx="3130296" cy="594360"/>
          </a:xfrm>
          <a:prstGeom prst="rect">
            <a:avLst/>
          </a:prstGeom>
          <a:noFill/>
        </p:spPr>
        <p:txBody>
          <a:bodyPr wrap="square" lIns="9144" rIns="9144" tIns="0" bIns="0">
            <a:spAutoFit/>
          </a:bodyPr>
          <a:lstStyle/>
          <a:p>
            <a:pPr>
              <a:spcAft>
                <a:spcPts val="0"/>
              </a:spcAft>
              <a:defRPr sz="2300" b="1">
                <a:solidFill>
                  <a:srgbClr val="18704C"/>
                </a:solidFill>
                <a:latin typeface="Aptos"/>
              </a:defRPr>
            </a:pPr>
            <a:r>
              <a:t>Time</a:t>
            </a:r>
          </a:p>
        </p:txBody>
      </p:sp>
      <p:sp>
        <p:nvSpPr>
          <p:cNvPr id="17" name="TextBox 16"/>
          <p:cNvSpPr txBox="1"/>
          <p:nvPr/>
        </p:nvSpPr>
        <p:spPr>
          <a:xfrm>
            <a:off x="4529328" y="3520440"/>
            <a:ext cx="3130296" cy="1280160"/>
          </a:xfrm>
          <a:prstGeom prst="rect">
            <a:avLst/>
          </a:prstGeom>
          <a:noFill/>
        </p:spPr>
        <p:txBody>
          <a:bodyPr wrap="square" lIns="9144" rIns="9144" tIns="0" bIns="0">
            <a:spAutoFit/>
          </a:bodyPr>
          <a:lstStyle/>
          <a:p>
            <a:pPr>
              <a:spcAft>
                <a:spcPts val="800"/>
              </a:spcAft>
              <a:defRPr sz="2000" b="0">
                <a:solidFill>
                  <a:srgbClr val="17243B"/>
                </a:solidFill>
                <a:latin typeface="Aptos"/>
              </a:defRPr>
            </a:pPr>
            <a:r>
              <a:t>How long will it take?</a:t>
            </a:r>
          </a:p>
          <a:p>
            <a:pPr>
              <a:spcAft>
                <a:spcPts val="0"/>
              </a:spcAft>
              <a:defRPr sz="2000" b="0">
                <a:solidFill>
                  <a:srgbClr val="17243B"/>
                </a:solidFill>
                <a:latin typeface="Aptos"/>
              </a:defRPr>
            </a:pPr>
            <a:r>
              <a:t>Minutes, hours and days stay distinct.</a:t>
            </a:r>
          </a:p>
        </p:txBody>
      </p:sp>
      <p:sp>
        <p:nvSpPr>
          <p:cNvPr id="18" name="Rounded Rectangle 17"/>
          <p:cNvSpPr/>
          <p:nvPr/>
        </p:nvSpPr>
        <p:spPr>
          <a:xfrm>
            <a:off x="8061960" y="2011680"/>
            <a:ext cx="3532632" cy="2971800"/>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3128" y="2194560"/>
            <a:ext cx="3130296" cy="320040"/>
          </a:xfrm>
          <a:prstGeom prst="rect">
            <a:avLst/>
          </a:prstGeom>
          <a:noFill/>
        </p:spPr>
        <p:txBody>
          <a:bodyPr wrap="square" lIns="9144" rIns="9144" tIns="0" bIns="0">
            <a:spAutoFit/>
          </a:bodyPr>
          <a:lstStyle/>
          <a:p>
            <a:pPr>
              <a:spcAft>
                <a:spcPts val="0"/>
              </a:spcAft>
              <a:defRPr sz="1400" b="1">
                <a:solidFill>
                  <a:srgbClr val="255EC9"/>
                </a:solidFill>
                <a:latin typeface="Aptos"/>
              </a:defRPr>
            </a:pPr>
            <a:r>
              <a:t>03</a:t>
            </a:r>
          </a:p>
        </p:txBody>
      </p:sp>
      <p:sp>
        <p:nvSpPr>
          <p:cNvPr id="20" name="TextBox 19"/>
          <p:cNvSpPr txBox="1"/>
          <p:nvPr/>
        </p:nvSpPr>
        <p:spPr>
          <a:xfrm>
            <a:off x="8263128" y="2743200"/>
            <a:ext cx="3130296" cy="594360"/>
          </a:xfrm>
          <a:prstGeom prst="rect">
            <a:avLst/>
          </a:prstGeom>
          <a:noFill/>
        </p:spPr>
        <p:txBody>
          <a:bodyPr wrap="square" lIns="9144" rIns="9144" tIns="0" bIns="0">
            <a:spAutoFit/>
          </a:bodyPr>
          <a:lstStyle/>
          <a:p>
            <a:pPr>
              <a:spcAft>
                <a:spcPts val="0"/>
              </a:spcAft>
              <a:defRPr sz="2300" b="1">
                <a:solidFill>
                  <a:srgbClr val="255EC9"/>
                </a:solidFill>
                <a:latin typeface="Aptos"/>
              </a:defRPr>
            </a:pPr>
            <a:r>
              <a:t>Priorities</a:t>
            </a:r>
          </a:p>
        </p:txBody>
      </p:sp>
      <p:sp>
        <p:nvSpPr>
          <p:cNvPr id="21" name="TextBox 20"/>
          <p:cNvSpPr txBox="1"/>
          <p:nvPr/>
        </p:nvSpPr>
        <p:spPr>
          <a:xfrm>
            <a:off x="8263128" y="3520440"/>
            <a:ext cx="3130296" cy="1280160"/>
          </a:xfrm>
          <a:prstGeom prst="rect">
            <a:avLst/>
          </a:prstGeom>
          <a:noFill/>
        </p:spPr>
        <p:txBody>
          <a:bodyPr wrap="square" lIns="9144" rIns="9144" tIns="0" bIns="0">
            <a:spAutoFit/>
          </a:bodyPr>
          <a:lstStyle/>
          <a:p>
            <a:pPr>
              <a:spcAft>
                <a:spcPts val="800"/>
              </a:spcAft>
              <a:defRPr sz="2000" b="0">
                <a:solidFill>
                  <a:srgbClr val="17243B"/>
                </a:solidFill>
                <a:latin typeface="Aptos"/>
              </a:defRPr>
            </a:pPr>
            <a:r>
              <a:t>What matters most?</a:t>
            </a:r>
          </a:p>
          <a:p>
            <a:pPr>
              <a:spcAft>
                <a:spcPts val="0"/>
              </a:spcAft>
              <a:defRPr sz="2000" b="0">
                <a:solidFill>
                  <a:srgbClr val="17243B"/>
                </a:solidFill>
                <a:latin typeface="Aptos"/>
              </a:defRPr>
            </a:pPr>
            <a:r>
              <a:t>Importance is measured in points.</a:t>
            </a:r>
          </a:p>
        </p:txBody>
      </p:sp>
      <p:sp>
        <p:nvSpPr>
          <p:cNvPr id="22" name="TextBox 21"/>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Travel, student life, greener choices, financial examples and custom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02 · THE EXPERIENCE</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The user journey</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03 / 14</a:t>
            </a:r>
          </a:p>
        </p:txBody>
      </p:sp>
      <p:sp>
        <p:nvSpPr>
          <p:cNvPr id="10" name="Rounded Rectangle 9"/>
          <p:cNvSpPr/>
          <p:nvPr/>
        </p:nvSpPr>
        <p:spPr>
          <a:xfrm>
            <a:off x="594360" y="2011680"/>
            <a:ext cx="2599182" cy="297180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194560"/>
            <a:ext cx="2196846" cy="320040"/>
          </a:xfrm>
          <a:prstGeom prst="rect">
            <a:avLst/>
          </a:prstGeom>
          <a:noFill/>
        </p:spPr>
        <p:txBody>
          <a:bodyPr wrap="square" lIns="9144" rIns="9144" tIns="0" bIns="0">
            <a:spAutoFit/>
          </a:bodyPr>
          <a:lstStyle/>
          <a:p>
            <a:pPr>
              <a:spcAft>
                <a:spcPts val="0"/>
              </a:spcAft>
              <a:defRPr sz="1400" b="1">
                <a:solidFill>
                  <a:srgbClr val="BC3045"/>
                </a:solidFill>
                <a:latin typeface="Aptos"/>
              </a:defRPr>
            </a:pPr>
            <a:r>
              <a:t>01</a:t>
            </a:r>
          </a:p>
        </p:txBody>
      </p:sp>
      <p:sp>
        <p:nvSpPr>
          <p:cNvPr id="12" name="TextBox 11"/>
          <p:cNvSpPr txBox="1"/>
          <p:nvPr/>
        </p:nvSpPr>
        <p:spPr>
          <a:xfrm>
            <a:off x="795528" y="2743200"/>
            <a:ext cx="2196846" cy="594360"/>
          </a:xfrm>
          <a:prstGeom prst="rect">
            <a:avLst/>
          </a:prstGeom>
          <a:noFill/>
        </p:spPr>
        <p:txBody>
          <a:bodyPr wrap="square" lIns="9144" rIns="9144" tIns="0" bIns="0">
            <a:spAutoFit/>
          </a:bodyPr>
          <a:lstStyle/>
          <a:p>
            <a:pPr>
              <a:spcAft>
                <a:spcPts val="0"/>
              </a:spcAft>
              <a:defRPr sz="2300" b="1">
                <a:solidFill>
                  <a:srgbClr val="BC3045"/>
                </a:solidFill>
                <a:latin typeface="Aptos"/>
              </a:defRPr>
            </a:pPr>
            <a:r>
              <a:t>Choose</a:t>
            </a:r>
          </a:p>
        </p:txBody>
      </p:sp>
      <p:sp>
        <p:nvSpPr>
          <p:cNvPr id="13" name="TextBox 12"/>
          <p:cNvSpPr txBox="1"/>
          <p:nvPr/>
        </p:nvSpPr>
        <p:spPr>
          <a:xfrm>
            <a:off x="79552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Pick a topic and options.</a:t>
            </a:r>
          </a:p>
        </p:txBody>
      </p:sp>
      <p:sp>
        <p:nvSpPr>
          <p:cNvPr id="14" name="Rounded Rectangle 13"/>
          <p:cNvSpPr/>
          <p:nvPr/>
        </p:nvSpPr>
        <p:spPr>
          <a:xfrm>
            <a:off x="3394710" y="2011680"/>
            <a:ext cx="2599182" cy="2971800"/>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5878" y="2194560"/>
            <a:ext cx="2196846" cy="320040"/>
          </a:xfrm>
          <a:prstGeom prst="rect">
            <a:avLst/>
          </a:prstGeom>
          <a:noFill/>
        </p:spPr>
        <p:txBody>
          <a:bodyPr wrap="square" lIns="9144" rIns="9144" tIns="0" bIns="0">
            <a:spAutoFit/>
          </a:bodyPr>
          <a:lstStyle/>
          <a:p>
            <a:pPr>
              <a:spcAft>
                <a:spcPts val="0"/>
              </a:spcAft>
              <a:defRPr sz="1400" b="1">
                <a:solidFill>
                  <a:srgbClr val="18704C"/>
                </a:solidFill>
                <a:latin typeface="Aptos"/>
              </a:defRPr>
            </a:pPr>
            <a:r>
              <a:t>02</a:t>
            </a:r>
          </a:p>
        </p:txBody>
      </p:sp>
      <p:sp>
        <p:nvSpPr>
          <p:cNvPr id="16" name="TextBox 15"/>
          <p:cNvSpPr txBox="1"/>
          <p:nvPr/>
        </p:nvSpPr>
        <p:spPr>
          <a:xfrm>
            <a:off x="3595878" y="2743200"/>
            <a:ext cx="2196846" cy="594360"/>
          </a:xfrm>
          <a:prstGeom prst="rect">
            <a:avLst/>
          </a:prstGeom>
          <a:noFill/>
        </p:spPr>
        <p:txBody>
          <a:bodyPr wrap="square" lIns="9144" rIns="9144" tIns="0" bIns="0">
            <a:spAutoFit/>
          </a:bodyPr>
          <a:lstStyle/>
          <a:p>
            <a:pPr>
              <a:spcAft>
                <a:spcPts val="0"/>
              </a:spcAft>
              <a:defRPr sz="2300" b="1">
                <a:solidFill>
                  <a:srgbClr val="18704C"/>
                </a:solidFill>
                <a:latin typeface="Aptos"/>
              </a:defRPr>
            </a:pPr>
            <a:r>
              <a:t>Adjust</a:t>
            </a:r>
          </a:p>
        </p:txBody>
      </p:sp>
      <p:sp>
        <p:nvSpPr>
          <p:cNvPr id="17" name="TextBox 16"/>
          <p:cNvSpPr txBox="1"/>
          <p:nvPr/>
        </p:nvSpPr>
        <p:spPr>
          <a:xfrm>
            <a:off x="359587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Set limits and importance.</a:t>
            </a:r>
          </a:p>
        </p:txBody>
      </p:sp>
      <p:sp>
        <p:nvSpPr>
          <p:cNvPr id="18" name="Rounded Rectangle 17"/>
          <p:cNvSpPr/>
          <p:nvPr/>
        </p:nvSpPr>
        <p:spPr>
          <a:xfrm>
            <a:off x="6195060" y="2011680"/>
            <a:ext cx="2599182" cy="2971800"/>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6228" y="2194560"/>
            <a:ext cx="2196846" cy="320040"/>
          </a:xfrm>
          <a:prstGeom prst="rect">
            <a:avLst/>
          </a:prstGeom>
          <a:noFill/>
        </p:spPr>
        <p:txBody>
          <a:bodyPr wrap="square" lIns="9144" rIns="9144" tIns="0" bIns="0">
            <a:spAutoFit/>
          </a:bodyPr>
          <a:lstStyle/>
          <a:p>
            <a:pPr>
              <a:spcAft>
                <a:spcPts val="0"/>
              </a:spcAft>
              <a:defRPr sz="1400" b="1">
                <a:solidFill>
                  <a:srgbClr val="255EC9"/>
                </a:solidFill>
                <a:latin typeface="Aptos"/>
              </a:defRPr>
            </a:pPr>
            <a:r>
              <a:t>03</a:t>
            </a:r>
          </a:p>
        </p:txBody>
      </p:sp>
      <p:sp>
        <p:nvSpPr>
          <p:cNvPr id="20" name="TextBox 19"/>
          <p:cNvSpPr txBox="1"/>
          <p:nvPr/>
        </p:nvSpPr>
        <p:spPr>
          <a:xfrm>
            <a:off x="6396228" y="2743200"/>
            <a:ext cx="2196846" cy="594360"/>
          </a:xfrm>
          <a:prstGeom prst="rect">
            <a:avLst/>
          </a:prstGeom>
          <a:noFill/>
        </p:spPr>
        <p:txBody>
          <a:bodyPr wrap="square" lIns="9144" rIns="9144" tIns="0" bIns="0">
            <a:spAutoFit/>
          </a:bodyPr>
          <a:lstStyle/>
          <a:p>
            <a:pPr>
              <a:spcAft>
                <a:spcPts val="0"/>
              </a:spcAft>
              <a:defRPr sz="2300" b="1">
                <a:solidFill>
                  <a:srgbClr val="255EC9"/>
                </a:solidFill>
                <a:latin typeface="Aptos"/>
              </a:defRPr>
            </a:pPr>
            <a:r>
              <a:t>Compare</a:t>
            </a:r>
          </a:p>
        </p:txBody>
      </p:sp>
      <p:sp>
        <p:nvSpPr>
          <p:cNvPr id="21" name="TextBox 20"/>
          <p:cNvSpPr txBox="1"/>
          <p:nvPr/>
        </p:nvSpPr>
        <p:spPr>
          <a:xfrm>
            <a:off x="639622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Read measures and trade-offs.</a:t>
            </a:r>
          </a:p>
        </p:txBody>
      </p:sp>
      <p:sp>
        <p:nvSpPr>
          <p:cNvPr id="22" name="Rounded Rectangle 21"/>
          <p:cNvSpPr/>
          <p:nvPr/>
        </p:nvSpPr>
        <p:spPr>
          <a:xfrm>
            <a:off x="8995410" y="2011680"/>
            <a:ext cx="2599182" cy="2971800"/>
          </a:xfrm>
          <a:prstGeom prst="roundRect">
            <a:avLst>
              <a:gd name="adj" fmla="val 8000"/>
            </a:avLst>
          </a:prstGeom>
          <a:solidFill>
            <a:srgbClr val="FFF7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6578" y="2194560"/>
            <a:ext cx="2196846" cy="320040"/>
          </a:xfrm>
          <a:prstGeom prst="rect">
            <a:avLst/>
          </a:prstGeom>
          <a:noFill/>
        </p:spPr>
        <p:txBody>
          <a:bodyPr wrap="square" lIns="9144" rIns="9144" tIns="0" bIns="0">
            <a:spAutoFit/>
          </a:bodyPr>
          <a:lstStyle/>
          <a:p>
            <a:pPr>
              <a:spcAft>
                <a:spcPts val="0"/>
              </a:spcAft>
              <a:defRPr sz="1400" b="1">
                <a:solidFill>
                  <a:srgbClr val="8A630A"/>
                </a:solidFill>
                <a:latin typeface="Aptos"/>
              </a:defRPr>
            </a:pPr>
            <a:r>
              <a:t>04</a:t>
            </a:r>
          </a:p>
        </p:txBody>
      </p:sp>
      <p:sp>
        <p:nvSpPr>
          <p:cNvPr id="24" name="TextBox 23"/>
          <p:cNvSpPr txBox="1"/>
          <p:nvPr/>
        </p:nvSpPr>
        <p:spPr>
          <a:xfrm>
            <a:off x="9196578" y="2743200"/>
            <a:ext cx="2196846" cy="594360"/>
          </a:xfrm>
          <a:prstGeom prst="rect">
            <a:avLst/>
          </a:prstGeom>
          <a:noFill/>
        </p:spPr>
        <p:txBody>
          <a:bodyPr wrap="square" lIns="9144" rIns="9144" tIns="0" bIns="0">
            <a:spAutoFit/>
          </a:bodyPr>
          <a:lstStyle/>
          <a:p>
            <a:pPr>
              <a:spcAft>
                <a:spcPts val="0"/>
              </a:spcAft>
              <a:defRPr sz="2300" b="1">
                <a:solidFill>
                  <a:srgbClr val="8A630A"/>
                </a:solidFill>
                <a:latin typeface="Aptos"/>
              </a:defRPr>
            </a:pPr>
            <a:r>
              <a:t>Ask + check</a:t>
            </a:r>
          </a:p>
        </p:txBody>
      </p:sp>
      <p:sp>
        <p:nvSpPr>
          <p:cNvPr id="25" name="TextBox 24"/>
          <p:cNvSpPr txBox="1"/>
          <p:nvPr/>
        </p:nvSpPr>
        <p:spPr>
          <a:xfrm>
            <a:off x="919657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Use OpenAI, then open a citation.</a:t>
            </a:r>
          </a:p>
        </p:txBody>
      </p:sp>
      <p:sp>
        <p:nvSpPr>
          <p:cNvPr id="26" name="TextBox 25"/>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Comparison works without an API key. AI is an optional desktop tool.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03 · ARCHITECTURE</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One interface, two runtimes</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04 / 14</a:t>
            </a:r>
          </a:p>
        </p:txBody>
      </p:sp>
      <p:sp>
        <p:nvSpPr>
          <p:cNvPr id="10" name="Rounded Rectangle 9"/>
          <p:cNvSpPr/>
          <p:nvPr/>
        </p:nvSpPr>
        <p:spPr>
          <a:xfrm>
            <a:off x="594360" y="1810512"/>
            <a:ext cx="5394960" cy="3858768"/>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011680"/>
            <a:ext cx="4919472" cy="411480"/>
          </a:xfrm>
          <a:prstGeom prst="rect">
            <a:avLst/>
          </a:prstGeom>
          <a:noFill/>
        </p:spPr>
        <p:txBody>
          <a:bodyPr wrap="square" lIns="9144" rIns="9144" tIns="0" bIns="0">
            <a:spAutoFit/>
          </a:bodyPr>
          <a:lstStyle/>
          <a:p>
            <a:pPr>
              <a:spcAft>
                <a:spcPts val="0"/>
              </a:spcAft>
              <a:defRPr sz="2300" b="1">
                <a:solidFill>
                  <a:srgbClr val="18704C"/>
                </a:solidFill>
                <a:latin typeface="Aptos"/>
              </a:defRPr>
            </a:pPr>
            <a:r>
              <a:t>Desktop app</a:t>
            </a:r>
          </a:p>
        </p:txBody>
      </p:sp>
      <p:sp>
        <p:nvSpPr>
          <p:cNvPr id="12" name="TextBox 11"/>
          <p:cNvSpPr txBox="1"/>
          <p:nvPr/>
        </p:nvSpPr>
        <p:spPr>
          <a:xfrm>
            <a:off x="822960" y="2697480"/>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Shared web/ interface in Electron</a:t>
            </a:r>
          </a:p>
        </p:txBody>
      </p:sp>
      <p:sp>
        <p:nvSpPr>
          <p:cNvPr id="13" name="TextBox 12"/>
          <p:cNvSpPr txBox="1"/>
          <p:nvPr/>
        </p:nvSpPr>
        <p:spPr>
          <a:xfrm>
            <a:off x="822960" y="3364992"/>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Restricted preload → main-process IPC</a:t>
            </a:r>
          </a:p>
        </p:txBody>
      </p:sp>
      <p:sp>
        <p:nvSpPr>
          <p:cNvPr id="14" name="TextBox 13"/>
          <p:cNvSpPr txBox="1"/>
          <p:nvPr/>
        </p:nvSpPr>
        <p:spPr>
          <a:xfrm>
            <a:off x="822960" y="4032504"/>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Local FastAPI calculations + SQLite</a:t>
            </a:r>
          </a:p>
        </p:txBody>
      </p:sp>
      <p:sp>
        <p:nvSpPr>
          <p:cNvPr id="15" name="TextBox 14"/>
          <p:cNvSpPr txBox="1"/>
          <p:nvPr/>
        </p:nvSpPr>
        <p:spPr>
          <a:xfrm>
            <a:off x="822960" y="4700016"/>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Optional OpenAI through the backend</a:t>
            </a:r>
          </a:p>
        </p:txBody>
      </p:sp>
      <p:sp>
        <p:nvSpPr>
          <p:cNvPr id="16" name="Rounded Rectangle 15"/>
          <p:cNvSpPr/>
          <p:nvPr/>
        </p:nvSpPr>
        <p:spPr>
          <a:xfrm>
            <a:off x="6190488" y="1810512"/>
            <a:ext cx="5394960" cy="3858768"/>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011680"/>
            <a:ext cx="4919472" cy="411480"/>
          </a:xfrm>
          <a:prstGeom prst="rect">
            <a:avLst/>
          </a:prstGeom>
          <a:noFill/>
        </p:spPr>
        <p:txBody>
          <a:bodyPr wrap="square" lIns="9144" rIns="9144" tIns="0" bIns="0">
            <a:spAutoFit/>
          </a:bodyPr>
          <a:lstStyle/>
          <a:p>
            <a:pPr>
              <a:spcAft>
                <a:spcPts val="0"/>
              </a:spcAft>
              <a:defRPr sz="2300" b="1">
                <a:solidFill>
                  <a:srgbClr val="255EC9"/>
                </a:solidFill>
                <a:latin typeface="Aptos"/>
              </a:defRPr>
            </a:pPr>
            <a:r>
              <a:t>GitHub Pages</a:t>
            </a:r>
          </a:p>
        </p:txBody>
      </p:sp>
      <p:sp>
        <p:nvSpPr>
          <p:cNvPr id="18" name="TextBox 17"/>
          <p:cNvSpPr txBox="1"/>
          <p:nvPr/>
        </p:nvSpPr>
        <p:spPr>
          <a:xfrm>
            <a:off x="6419088" y="2697480"/>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The same page, styles and controls</a:t>
            </a:r>
          </a:p>
        </p:txBody>
      </p:sp>
      <p:sp>
        <p:nvSpPr>
          <p:cNvPr id="19" name="TextBox 18"/>
          <p:cNvSpPr txBox="1"/>
          <p:nvPr/>
        </p:nvSpPr>
        <p:spPr>
          <a:xfrm>
            <a:off x="6419088" y="3364992"/>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JavaScript calculates from exported data</a:t>
            </a:r>
          </a:p>
        </p:txBody>
      </p:sp>
      <p:sp>
        <p:nvSpPr>
          <p:cNvPr id="20" name="TextBox 19"/>
          <p:cNvSpPr txBox="1"/>
          <p:nvPr/>
        </p:nvSpPr>
        <p:spPr>
          <a:xfrm>
            <a:off x="6419088" y="4032504"/>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IndexedDB stores local notes</a:t>
            </a:r>
          </a:p>
        </p:txBody>
      </p:sp>
      <p:sp>
        <p:nvSpPr>
          <p:cNvPr id="21" name="TextBox 20"/>
          <p:cNvSpPr txBox="1"/>
          <p:nvPr/>
        </p:nvSpPr>
        <p:spPr>
          <a:xfrm>
            <a:off x="6419088" y="4700016"/>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Original-text search; no cloud AI server</a:t>
            </a:r>
          </a:p>
        </p:txBody>
      </p:sp>
      <p:sp>
        <p:nvSpPr>
          <p:cNvPr id="22" name="TextBox 21"/>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web/platform.mjs selects the runtime. The UI is not duplicated.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04 · CODE MAP</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Where the code lives</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05 / 14</a:t>
            </a:r>
          </a:p>
        </p:txBody>
      </p:sp>
      <p:sp>
        <p:nvSpPr>
          <p:cNvPr id="10" name="Rectangle 9"/>
          <p:cNvSpPr/>
          <p:nvPr/>
        </p:nvSpPr>
        <p:spPr>
          <a:xfrm>
            <a:off x="594360" y="1810512"/>
            <a:ext cx="4114800" cy="502920"/>
          </a:xfrm>
          <a:prstGeom prst="rect">
            <a:avLst/>
          </a:prstGeom>
          <a:solidFill>
            <a:srgbClr val="E7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11095"/>
            <a:ext cx="3895344" cy="393192"/>
          </a:xfrm>
          <a:prstGeom prst="rect">
            <a:avLst/>
          </a:prstGeom>
          <a:noFill/>
        </p:spPr>
        <p:txBody>
          <a:bodyPr wrap="square" lIns="9144" rIns="9144" tIns="0" bIns="0">
            <a:spAutoFit/>
          </a:bodyPr>
          <a:lstStyle/>
          <a:p>
            <a:pPr>
              <a:spcAft>
                <a:spcPts val="0"/>
              </a:spcAft>
              <a:defRPr sz="1300" b="1">
                <a:solidFill>
                  <a:srgbClr val="255EC9"/>
                </a:solidFill>
                <a:latin typeface="Consolas"/>
              </a:defRPr>
            </a:pPr>
            <a:r>
              <a:t>CODE</a:t>
            </a:r>
          </a:p>
        </p:txBody>
      </p:sp>
      <p:sp>
        <p:nvSpPr>
          <p:cNvPr id="12" name="Rectangle 11"/>
          <p:cNvSpPr/>
          <p:nvPr/>
        </p:nvSpPr>
        <p:spPr>
          <a:xfrm>
            <a:off x="4709160" y="1810512"/>
            <a:ext cx="6885432" cy="502920"/>
          </a:xfrm>
          <a:prstGeom prst="rect">
            <a:avLst/>
          </a:prstGeom>
          <a:solidFill>
            <a:srgbClr val="E7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18888" y="1911095"/>
            <a:ext cx="6665976" cy="393192"/>
          </a:xfrm>
          <a:prstGeom prst="rect">
            <a:avLst/>
          </a:prstGeom>
          <a:noFill/>
        </p:spPr>
        <p:txBody>
          <a:bodyPr wrap="square" lIns="9144" rIns="9144" tIns="0" bIns="0">
            <a:spAutoFit/>
          </a:bodyPr>
          <a:lstStyle/>
          <a:p>
            <a:pPr>
              <a:spcAft>
                <a:spcPts val="0"/>
              </a:spcAft>
              <a:defRPr sz="1700" b="1">
                <a:solidFill>
                  <a:srgbClr val="255EC9"/>
                </a:solidFill>
                <a:latin typeface="Aptos"/>
              </a:defRPr>
            </a:pPr>
            <a:r>
              <a:t>RESPONSIBILITY</a:t>
            </a:r>
          </a:p>
        </p:txBody>
      </p:sp>
      <p:sp>
        <p:nvSpPr>
          <p:cNvPr id="14" name="Rectangle 13"/>
          <p:cNvSpPr/>
          <p:nvPr/>
        </p:nvSpPr>
        <p:spPr>
          <a:xfrm>
            <a:off x="594360" y="2350008"/>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450592"/>
            <a:ext cx="3895344" cy="393192"/>
          </a:xfrm>
          <a:prstGeom prst="rect">
            <a:avLst/>
          </a:prstGeom>
          <a:noFill/>
        </p:spPr>
        <p:txBody>
          <a:bodyPr wrap="square" lIns="9144" rIns="9144" tIns="0" bIns="0">
            <a:spAutoFit/>
          </a:bodyPr>
          <a:lstStyle/>
          <a:p>
            <a:pPr>
              <a:spcAft>
                <a:spcPts val="0"/>
              </a:spcAft>
              <a:defRPr sz="1300" b="0">
                <a:solidFill>
                  <a:srgbClr val="17243B"/>
                </a:solidFill>
                <a:latin typeface="Consolas"/>
              </a:defRPr>
            </a:pPr>
            <a:r>
              <a:t>web/decision-app.mjs</a:t>
            </a:r>
          </a:p>
        </p:txBody>
      </p:sp>
      <p:sp>
        <p:nvSpPr>
          <p:cNvPr id="16" name="Rectangle 15"/>
          <p:cNvSpPr/>
          <p:nvPr/>
        </p:nvSpPr>
        <p:spPr>
          <a:xfrm>
            <a:off x="4709160" y="2350008"/>
            <a:ext cx="688543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18888" y="2450592"/>
            <a:ext cx="6665976" cy="393192"/>
          </a:xfrm>
          <a:prstGeom prst="rect">
            <a:avLst/>
          </a:prstGeom>
          <a:noFill/>
        </p:spPr>
        <p:txBody>
          <a:bodyPr wrap="square" lIns="9144" rIns="9144" tIns="0" bIns="0">
            <a:spAutoFit/>
          </a:bodyPr>
          <a:lstStyle/>
          <a:p>
            <a:pPr>
              <a:spcAft>
                <a:spcPts val="0"/>
              </a:spcAft>
              <a:defRPr sz="1700" b="0">
                <a:solidFill>
                  <a:srgbClr val="17243B"/>
                </a:solidFill>
                <a:latin typeface="Aptos"/>
              </a:defRPr>
            </a:pPr>
            <a:r>
              <a:t>Controls, validation and comparison results</a:t>
            </a:r>
          </a:p>
        </p:txBody>
      </p:sp>
      <p:sp>
        <p:nvSpPr>
          <p:cNvPr id="18" name="Rectangle 17"/>
          <p:cNvSpPr/>
          <p:nvPr/>
        </p:nvSpPr>
        <p:spPr>
          <a:xfrm>
            <a:off x="594360" y="2889504"/>
            <a:ext cx="4114800" cy="502920"/>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2990088"/>
            <a:ext cx="3895344" cy="393192"/>
          </a:xfrm>
          <a:prstGeom prst="rect">
            <a:avLst/>
          </a:prstGeom>
          <a:noFill/>
        </p:spPr>
        <p:txBody>
          <a:bodyPr wrap="square" lIns="9144" rIns="9144" tIns="0" bIns="0">
            <a:spAutoFit/>
          </a:bodyPr>
          <a:lstStyle/>
          <a:p>
            <a:pPr>
              <a:spcAft>
                <a:spcPts val="0"/>
              </a:spcAft>
              <a:defRPr sz="1300" b="0">
                <a:solidFill>
                  <a:srgbClr val="17243B"/>
                </a:solidFill>
                <a:latin typeface="Consolas"/>
              </a:defRPr>
            </a:pPr>
            <a:r>
              <a:t>web/desktop-ai.mjs</a:t>
            </a:r>
          </a:p>
        </p:txBody>
      </p:sp>
      <p:sp>
        <p:nvSpPr>
          <p:cNvPr id="20" name="Rectangle 19"/>
          <p:cNvSpPr/>
          <p:nvPr/>
        </p:nvSpPr>
        <p:spPr>
          <a:xfrm>
            <a:off x="4709160" y="2889504"/>
            <a:ext cx="6885432" cy="502920"/>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18888" y="2990088"/>
            <a:ext cx="6665976" cy="393192"/>
          </a:xfrm>
          <a:prstGeom prst="rect">
            <a:avLst/>
          </a:prstGeom>
          <a:noFill/>
        </p:spPr>
        <p:txBody>
          <a:bodyPr wrap="square" lIns="9144" rIns="9144" tIns="0" bIns="0">
            <a:spAutoFit/>
          </a:bodyPr>
          <a:lstStyle/>
          <a:p>
            <a:pPr>
              <a:spcAft>
                <a:spcPts val="0"/>
              </a:spcAft>
              <a:defRPr sz="1700" b="0">
                <a:solidFill>
                  <a:srgbClr val="17243B"/>
                </a:solidFill>
                <a:latin typeface="Aptos"/>
              </a:defRPr>
            </a:pPr>
            <a:r>
              <a:t>AI dialog, provider choice and explicit context</a:t>
            </a:r>
          </a:p>
        </p:txBody>
      </p:sp>
      <p:sp>
        <p:nvSpPr>
          <p:cNvPr id="22" name="Rectangle 21"/>
          <p:cNvSpPr/>
          <p:nvPr/>
        </p:nvSpPr>
        <p:spPr>
          <a:xfrm>
            <a:off x="594360" y="3429000"/>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3529584"/>
            <a:ext cx="3895344" cy="393192"/>
          </a:xfrm>
          <a:prstGeom prst="rect">
            <a:avLst/>
          </a:prstGeom>
          <a:noFill/>
        </p:spPr>
        <p:txBody>
          <a:bodyPr wrap="square" lIns="9144" rIns="9144" tIns="0" bIns="0">
            <a:spAutoFit/>
          </a:bodyPr>
          <a:lstStyle/>
          <a:p>
            <a:pPr>
              <a:spcAft>
                <a:spcPts val="0"/>
              </a:spcAft>
              <a:defRPr sz="1300" b="0">
                <a:solidFill>
                  <a:srgbClr val="17243B"/>
                </a:solidFill>
                <a:latin typeface="Consolas"/>
              </a:defRPr>
            </a:pPr>
            <a:r>
              <a:t>desktop/main.cjs + preload.cjs</a:t>
            </a:r>
          </a:p>
        </p:txBody>
      </p:sp>
      <p:sp>
        <p:nvSpPr>
          <p:cNvPr id="24" name="Rectangle 23"/>
          <p:cNvSpPr/>
          <p:nvPr/>
        </p:nvSpPr>
        <p:spPr>
          <a:xfrm>
            <a:off x="4709160" y="3429000"/>
            <a:ext cx="688543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18888" y="3529584"/>
            <a:ext cx="6665976" cy="393192"/>
          </a:xfrm>
          <a:prstGeom prst="rect">
            <a:avLst/>
          </a:prstGeom>
          <a:noFill/>
        </p:spPr>
        <p:txBody>
          <a:bodyPr wrap="square" lIns="9144" rIns="9144" tIns="0" bIns="0">
            <a:spAutoFit/>
          </a:bodyPr>
          <a:lstStyle/>
          <a:p>
            <a:pPr>
              <a:spcAft>
                <a:spcPts val="0"/>
              </a:spcAft>
              <a:defRPr sz="1700" b="0">
                <a:solidFill>
                  <a:srgbClr val="17243B"/>
                </a:solidFill>
                <a:latin typeface="Aptos"/>
              </a:defRPr>
            </a:pPr>
            <a:r>
              <a:t>Trusted window, named IPC and key operations</a:t>
            </a:r>
          </a:p>
        </p:txBody>
      </p:sp>
      <p:sp>
        <p:nvSpPr>
          <p:cNvPr id="26" name="Rectangle 25"/>
          <p:cNvSpPr/>
          <p:nvPr/>
        </p:nvSpPr>
        <p:spPr>
          <a:xfrm>
            <a:off x="594360" y="3968496"/>
            <a:ext cx="4114800" cy="502920"/>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4069080"/>
            <a:ext cx="3895344" cy="393192"/>
          </a:xfrm>
          <a:prstGeom prst="rect">
            <a:avLst/>
          </a:prstGeom>
          <a:noFill/>
        </p:spPr>
        <p:txBody>
          <a:bodyPr wrap="square" lIns="9144" rIns="9144" tIns="0" bIns="0">
            <a:spAutoFit/>
          </a:bodyPr>
          <a:lstStyle/>
          <a:p>
            <a:pPr>
              <a:spcAft>
                <a:spcPts val="0"/>
              </a:spcAft>
              <a:defRPr sz="1300" b="0">
                <a:solidFill>
                  <a:srgbClr val="17243B"/>
                </a:solidFill>
                <a:latin typeface="Consolas"/>
              </a:defRPr>
            </a:pPr>
            <a:r>
              <a:t>app/comparison/</a:t>
            </a:r>
          </a:p>
        </p:txBody>
      </p:sp>
      <p:sp>
        <p:nvSpPr>
          <p:cNvPr id="28" name="Rectangle 27"/>
          <p:cNvSpPr/>
          <p:nvPr/>
        </p:nvSpPr>
        <p:spPr>
          <a:xfrm>
            <a:off x="4709160" y="3968496"/>
            <a:ext cx="6885432" cy="502920"/>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18888" y="4069080"/>
            <a:ext cx="6665976" cy="393192"/>
          </a:xfrm>
          <a:prstGeom prst="rect">
            <a:avLst/>
          </a:prstGeom>
          <a:noFill/>
        </p:spPr>
        <p:txBody>
          <a:bodyPr wrap="square" lIns="9144" rIns="9144" tIns="0" bIns="0">
            <a:spAutoFit/>
          </a:bodyPr>
          <a:lstStyle/>
          <a:p>
            <a:pPr>
              <a:spcAft>
                <a:spcPts val="0"/>
              </a:spcAft>
              <a:defRPr sz="1700" b="0">
                <a:solidFill>
                  <a:srgbClr val="17243B"/>
                </a:solidFill>
                <a:latin typeface="Aptos"/>
              </a:defRPr>
            </a:pPr>
            <a:r>
              <a:t>Scenario data, source adapters and pure ranking</a:t>
            </a:r>
          </a:p>
        </p:txBody>
      </p:sp>
      <p:sp>
        <p:nvSpPr>
          <p:cNvPr id="30" name="Rectangle 29"/>
          <p:cNvSpPr/>
          <p:nvPr/>
        </p:nvSpPr>
        <p:spPr>
          <a:xfrm>
            <a:off x="594360" y="4507992"/>
            <a:ext cx="41148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4608576"/>
            <a:ext cx="3895344" cy="393192"/>
          </a:xfrm>
          <a:prstGeom prst="rect">
            <a:avLst/>
          </a:prstGeom>
          <a:noFill/>
        </p:spPr>
        <p:txBody>
          <a:bodyPr wrap="square" lIns="9144" rIns="9144" tIns="0" bIns="0">
            <a:spAutoFit/>
          </a:bodyPr>
          <a:lstStyle/>
          <a:p>
            <a:pPr>
              <a:spcAft>
                <a:spcPts val="0"/>
              </a:spcAft>
              <a:defRPr sz="1300" b="0">
                <a:solidFill>
                  <a:srgbClr val="17243B"/>
                </a:solidFill>
                <a:latin typeface="Consolas"/>
              </a:defRPr>
            </a:pPr>
            <a:r>
              <a:t>app/knowledge/</a:t>
            </a:r>
          </a:p>
        </p:txBody>
      </p:sp>
      <p:sp>
        <p:nvSpPr>
          <p:cNvPr id="32" name="Rectangle 31"/>
          <p:cNvSpPr/>
          <p:nvPr/>
        </p:nvSpPr>
        <p:spPr>
          <a:xfrm>
            <a:off x="4709160" y="4507992"/>
            <a:ext cx="688543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18888" y="4608576"/>
            <a:ext cx="6665976" cy="393192"/>
          </a:xfrm>
          <a:prstGeom prst="rect">
            <a:avLst/>
          </a:prstGeom>
          <a:noFill/>
        </p:spPr>
        <p:txBody>
          <a:bodyPr wrap="square" lIns="9144" rIns="9144" tIns="0" bIns="0">
            <a:spAutoFit/>
          </a:bodyPr>
          <a:lstStyle/>
          <a:p>
            <a:pPr>
              <a:spcAft>
                <a:spcPts val="0"/>
              </a:spcAft>
              <a:defRPr sz="1700" b="0">
                <a:solidFill>
                  <a:srgbClr val="17243B"/>
                </a:solidFill>
                <a:latin typeface="Aptos"/>
              </a:defRPr>
            </a:pPr>
            <a:r>
              <a:t>Document search, AI requests and citation checks</a:t>
            </a:r>
          </a:p>
        </p:txBody>
      </p:sp>
      <p:sp>
        <p:nvSpPr>
          <p:cNvPr id="34" name="Rectangle 33"/>
          <p:cNvSpPr/>
          <p:nvPr/>
        </p:nvSpPr>
        <p:spPr>
          <a:xfrm>
            <a:off x="594360" y="5047488"/>
            <a:ext cx="4114800" cy="502920"/>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5148072"/>
            <a:ext cx="3895344" cy="393192"/>
          </a:xfrm>
          <a:prstGeom prst="rect">
            <a:avLst/>
          </a:prstGeom>
          <a:noFill/>
        </p:spPr>
        <p:txBody>
          <a:bodyPr wrap="square" lIns="9144" rIns="9144" tIns="0" bIns="0">
            <a:spAutoFit/>
          </a:bodyPr>
          <a:lstStyle/>
          <a:p>
            <a:pPr>
              <a:spcAft>
                <a:spcPts val="0"/>
              </a:spcAft>
              <a:defRPr sz="1300" b="0">
                <a:solidFill>
                  <a:srgbClr val="17243B"/>
                </a:solidFill>
                <a:latin typeface="Consolas"/>
              </a:defRPr>
            </a:pPr>
            <a:r>
              <a:t>tests/ + scripts/</a:t>
            </a:r>
          </a:p>
        </p:txBody>
      </p:sp>
      <p:sp>
        <p:nvSpPr>
          <p:cNvPr id="36" name="Rectangle 35"/>
          <p:cNvSpPr/>
          <p:nvPr/>
        </p:nvSpPr>
        <p:spPr>
          <a:xfrm>
            <a:off x="4709160" y="5047488"/>
            <a:ext cx="6885432" cy="502920"/>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18888" y="5148072"/>
            <a:ext cx="6665976" cy="393192"/>
          </a:xfrm>
          <a:prstGeom prst="rect">
            <a:avLst/>
          </a:prstGeom>
          <a:noFill/>
        </p:spPr>
        <p:txBody>
          <a:bodyPr wrap="square" lIns="9144" rIns="9144" tIns="0" bIns="0">
            <a:spAutoFit/>
          </a:bodyPr>
          <a:lstStyle/>
          <a:p>
            <a:pPr>
              <a:spcAft>
                <a:spcPts val="0"/>
              </a:spcAft>
              <a:defRPr sz="1700" b="0">
                <a:solidFill>
                  <a:srgbClr val="17243B"/>
                </a:solidFill>
                <a:latin typeface="Aptos"/>
              </a:defRPr>
            </a:pPr>
            <a:r>
              <a:t>Regression checks, parity and optional live verification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05 · DATA FLOW</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From two sources to a comparison</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06 / 14</a:t>
            </a:r>
          </a:p>
        </p:txBody>
      </p:sp>
      <p:sp>
        <p:nvSpPr>
          <p:cNvPr id="10" name="Rounded Rectangle 9"/>
          <p:cNvSpPr/>
          <p:nvPr/>
        </p:nvSpPr>
        <p:spPr>
          <a:xfrm>
            <a:off x="594360" y="2011680"/>
            <a:ext cx="2599182" cy="297180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194560"/>
            <a:ext cx="2196846" cy="320040"/>
          </a:xfrm>
          <a:prstGeom prst="rect">
            <a:avLst/>
          </a:prstGeom>
          <a:noFill/>
        </p:spPr>
        <p:txBody>
          <a:bodyPr wrap="square" lIns="9144" rIns="9144" tIns="0" bIns="0">
            <a:spAutoFit/>
          </a:bodyPr>
          <a:lstStyle/>
          <a:p>
            <a:pPr>
              <a:spcAft>
                <a:spcPts val="0"/>
              </a:spcAft>
              <a:defRPr sz="1400" b="1">
                <a:solidFill>
                  <a:srgbClr val="BC3045"/>
                </a:solidFill>
                <a:latin typeface="Aptos"/>
              </a:defRPr>
            </a:pPr>
            <a:r>
              <a:t>01</a:t>
            </a:r>
          </a:p>
        </p:txBody>
      </p:sp>
      <p:sp>
        <p:nvSpPr>
          <p:cNvPr id="12" name="TextBox 11"/>
          <p:cNvSpPr txBox="1"/>
          <p:nvPr/>
        </p:nvSpPr>
        <p:spPr>
          <a:xfrm>
            <a:off x="795528" y="2743200"/>
            <a:ext cx="2196846" cy="594360"/>
          </a:xfrm>
          <a:prstGeom prst="rect">
            <a:avLst/>
          </a:prstGeom>
          <a:noFill/>
        </p:spPr>
        <p:txBody>
          <a:bodyPr wrap="square" lIns="9144" rIns="9144" tIns="0" bIns="0">
            <a:spAutoFit/>
          </a:bodyPr>
          <a:lstStyle/>
          <a:p>
            <a:pPr>
              <a:spcAft>
                <a:spcPts val="0"/>
              </a:spcAft>
              <a:defRPr sz="2300" b="1">
                <a:solidFill>
                  <a:srgbClr val="BC3045"/>
                </a:solidFill>
                <a:latin typeface="Aptos"/>
              </a:defRPr>
            </a:pPr>
            <a:r>
              <a:t>Fetch</a:t>
            </a:r>
          </a:p>
        </p:txBody>
      </p:sp>
      <p:sp>
        <p:nvSpPr>
          <p:cNvPr id="13" name="TextBox 12"/>
          <p:cNvSpPr txBox="1"/>
          <p:nvPr/>
        </p:nvSpPr>
        <p:spPr>
          <a:xfrm>
            <a:off x="79552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Option catalog + separate measurements</a:t>
            </a:r>
          </a:p>
        </p:txBody>
      </p:sp>
      <p:sp>
        <p:nvSpPr>
          <p:cNvPr id="14" name="Rounded Rectangle 13"/>
          <p:cNvSpPr/>
          <p:nvPr/>
        </p:nvSpPr>
        <p:spPr>
          <a:xfrm>
            <a:off x="3394710" y="2011680"/>
            <a:ext cx="2599182" cy="2971800"/>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5878" y="2194560"/>
            <a:ext cx="2196846" cy="320040"/>
          </a:xfrm>
          <a:prstGeom prst="rect">
            <a:avLst/>
          </a:prstGeom>
          <a:noFill/>
        </p:spPr>
        <p:txBody>
          <a:bodyPr wrap="square" lIns="9144" rIns="9144" tIns="0" bIns="0">
            <a:spAutoFit/>
          </a:bodyPr>
          <a:lstStyle/>
          <a:p>
            <a:pPr>
              <a:spcAft>
                <a:spcPts val="0"/>
              </a:spcAft>
              <a:defRPr sz="1400" b="1">
                <a:solidFill>
                  <a:srgbClr val="18704C"/>
                </a:solidFill>
                <a:latin typeface="Aptos"/>
              </a:defRPr>
            </a:pPr>
            <a:r>
              <a:t>02</a:t>
            </a:r>
          </a:p>
        </p:txBody>
      </p:sp>
      <p:sp>
        <p:nvSpPr>
          <p:cNvPr id="16" name="TextBox 15"/>
          <p:cNvSpPr txBox="1"/>
          <p:nvPr/>
        </p:nvSpPr>
        <p:spPr>
          <a:xfrm>
            <a:off x="3595878" y="2743200"/>
            <a:ext cx="2196846" cy="594360"/>
          </a:xfrm>
          <a:prstGeom prst="rect">
            <a:avLst/>
          </a:prstGeom>
          <a:noFill/>
        </p:spPr>
        <p:txBody>
          <a:bodyPr wrap="square" lIns="9144" rIns="9144" tIns="0" bIns="0">
            <a:spAutoFit/>
          </a:bodyPr>
          <a:lstStyle/>
          <a:p>
            <a:pPr>
              <a:spcAft>
                <a:spcPts val="0"/>
              </a:spcAft>
              <a:defRPr sz="2300" b="1">
                <a:solidFill>
                  <a:srgbClr val="18704C"/>
                </a:solidFill>
                <a:latin typeface="Aptos"/>
              </a:defRPr>
            </a:pPr>
            <a:r>
              <a:t>Validate</a:t>
            </a:r>
          </a:p>
        </p:txBody>
      </p:sp>
      <p:sp>
        <p:nvSpPr>
          <p:cNvPr id="17" name="TextBox 16"/>
          <p:cNvSpPr txBox="1"/>
          <p:nvPr/>
        </p:nvSpPr>
        <p:spPr>
          <a:xfrm>
            <a:off x="359587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IDs, types, units and source metadata</a:t>
            </a:r>
          </a:p>
        </p:txBody>
      </p:sp>
      <p:sp>
        <p:nvSpPr>
          <p:cNvPr id="18" name="Rounded Rectangle 17"/>
          <p:cNvSpPr/>
          <p:nvPr/>
        </p:nvSpPr>
        <p:spPr>
          <a:xfrm>
            <a:off x="6195060" y="2011680"/>
            <a:ext cx="2599182" cy="2971800"/>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6228" y="2194560"/>
            <a:ext cx="2196846" cy="320040"/>
          </a:xfrm>
          <a:prstGeom prst="rect">
            <a:avLst/>
          </a:prstGeom>
          <a:noFill/>
        </p:spPr>
        <p:txBody>
          <a:bodyPr wrap="square" lIns="9144" rIns="9144" tIns="0" bIns="0">
            <a:spAutoFit/>
          </a:bodyPr>
          <a:lstStyle/>
          <a:p>
            <a:pPr>
              <a:spcAft>
                <a:spcPts val="0"/>
              </a:spcAft>
              <a:defRPr sz="1400" b="1">
                <a:solidFill>
                  <a:srgbClr val="255EC9"/>
                </a:solidFill>
                <a:latin typeface="Aptos"/>
              </a:defRPr>
            </a:pPr>
            <a:r>
              <a:t>03</a:t>
            </a:r>
          </a:p>
        </p:txBody>
      </p:sp>
      <p:sp>
        <p:nvSpPr>
          <p:cNvPr id="20" name="TextBox 19"/>
          <p:cNvSpPr txBox="1"/>
          <p:nvPr/>
        </p:nvSpPr>
        <p:spPr>
          <a:xfrm>
            <a:off x="6396228" y="2743200"/>
            <a:ext cx="2196846" cy="594360"/>
          </a:xfrm>
          <a:prstGeom prst="rect">
            <a:avLst/>
          </a:prstGeom>
          <a:noFill/>
        </p:spPr>
        <p:txBody>
          <a:bodyPr wrap="square" lIns="9144" rIns="9144" tIns="0" bIns="0">
            <a:spAutoFit/>
          </a:bodyPr>
          <a:lstStyle/>
          <a:p>
            <a:pPr>
              <a:spcAft>
                <a:spcPts val="0"/>
              </a:spcAft>
              <a:defRPr sz="2300" b="1">
                <a:solidFill>
                  <a:srgbClr val="255EC9"/>
                </a:solidFill>
                <a:latin typeface="Aptos"/>
              </a:defRPr>
            </a:pPr>
            <a:r>
              <a:t>Filter</a:t>
            </a:r>
          </a:p>
        </p:txBody>
      </p:sp>
      <p:sp>
        <p:nvSpPr>
          <p:cNvPr id="21" name="TextBox 20"/>
          <p:cNvSpPr txBox="1"/>
          <p:nvPr/>
        </p:nvSpPr>
        <p:spPr>
          <a:xfrm>
            <a:off x="639622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Availability, required values and limits</a:t>
            </a:r>
          </a:p>
        </p:txBody>
      </p:sp>
      <p:sp>
        <p:nvSpPr>
          <p:cNvPr id="22" name="Rounded Rectangle 21"/>
          <p:cNvSpPr/>
          <p:nvPr/>
        </p:nvSpPr>
        <p:spPr>
          <a:xfrm>
            <a:off x="8995410" y="2011680"/>
            <a:ext cx="2599182" cy="2971800"/>
          </a:xfrm>
          <a:prstGeom prst="roundRect">
            <a:avLst>
              <a:gd name="adj" fmla="val 8000"/>
            </a:avLst>
          </a:prstGeom>
          <a:solidFill>
            <a:srgbClr val="FFF7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6578" y="2194560"/>
            <a:ext cx="2196846" cy="320040"/>
          </a:xfrm>
          <a:prstGeom prst="rect">
            <a:avLst/>
          </a:prstGeom>
          <a:noFill/>
        </p:spPr>
        <p:txBody>
          <a:bodyPr wrap="square" lIns="9144" rIns="9144" tIns="0" bIns="0">
            <a:spAutoFit/>
          </a:bodyPr>
          <a:lstStyle/>
          <a:p>
            <a:pPr>
              <a:spcAft>
                <a:spcPts val="0"/>
              </a:spcAft>
              <a:defRPr sz="1400" b="1">
                <a:solidFill>
                  <a:srgbClr val="8A630A"/>
                </a:solidFill>
                <a:latin typeface="Aptos"/>
              </a:defRPr>
            </a:pPr>
            <a:r>
              <a:t>04</a:t>
            </a:r>
          </a:p>
        </p:txBody>
      </p:sp>
      <p:sp>
        <p:nvSpPr>
          <p:cNvPr id="24" name="TextBox 23"/>
          <p:cNvSpPr txBox="1"/>
          <p:nvPr/>
        </p:nvSpPr>
        <p:spPr>
          <a:xfrm>
            <a:off x="9196578" y="2743200"/>
            <a:ext cx="2196846" cy="594360"/>
          </a:xfrm>
          <a:prstGeom prst="rect">
            <a:avLst/>
          </a:prstGeom>
          <a:noFill/>
        </p:spPr>
        <p:txBody>
          <a:bodyPr wrap="square" lIns="9144" rIns="9144" tIns="0" bIns="0">
            <a:spAutoFit/>
          </a:bodyPr>
          <a:lstStyle/>
          <a:p>
            <a:pPr>
              <a:spcAft>
                <a:spcPts val="0"/>
              </a:spcAft>
              <a:defRPr sz="2300" b="1">
                <a:solidFill>
                  <a:srgbClr val="8A630A"/>
                </a:solidFill>
                <a:latin typeface="Aptos"/>
              </a:defRPr>
            </a:pPr>
            <a:r>
              <a:t>Rank</a:t>
            </a:r>
          </a:p>
        </p:txBody>
      </p:sp>
      <p:sp>
        <p:nvSpPr>
          <p:cNvPr id="25" name="TextBox 24"/>
          <p:cNvSpPr txBox="1"/>
          <p:nvPr/>
        </p:nvSpPr>
        <p:spPr>
          <a:xfrm>
            <a:off x="919657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Score only the feasible options</a:t>
            </a:r>
          </a:p>
        </p:txBody>
      </p:sp>
      <p:sp>
        <p:nvSpPr>
          <p:cNvPr id="26" name="TextBox 25"/>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Missing values never become zero. A failed required source returns an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06 · THE ALGORITHM</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How ranking works</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07 / 14</a:t>
            </a:r>
          </a:p>
        </p:txBody>
      </p:sp>
      <p:sp>
        <p:nvSpPr>
          <p:cNvPr id="10" name="Rounded Rectangle 9"/>
          <p:cNvSpPr/>
          <p:nvPr/>
        </p:nvSpPr>
        <p:spPr>
          <a:xfrm>
            <a:off x="594360" y="1874519"/>
            <a:ext cx="11000232" cy="914400"/>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121408"/>
            <a:ext cx="10515600" cy="548640"/>
          </a:xfrm>
          <a:prstGeom prst="rect">
            <a:avLst/>
          </a:prstGeom>
          <a:noFill/>
        </p:spPr>
        <p:txBody>
          <a:bodyPr wrap="square" lIns="9144" rIns="9144" tIns="0" bIns="0">
            <a:spAutoFit/>
          </a:bodyPr>
          <a:lstStyle/>
          <a:p>
            <a:pPr>
              <a:spcAft>
                <a:spcPts val="0"/>
              </a:spcAft>
              <a:defRPr sz="2300" b="1">
                <a:solidFill>
                  <a:srgbClr val="255EC9"/>
                </a:solidFill>
                <a:latin typeface="Aptos"/>
              </a:defRPr>
            </a:pPr>
            <a:r>
              <a:t>score = 100 × Σ(weight × normalised value) / Σ(weight)</a:t>
            </a:r>
          </a:p>
        </p:txBody>
      </p:sp>
      <p:sp>
        <p:nvSpPr>
          <p:cNvPr id="12" name="TextBox 11"/>
          <p:cNvSpPr txBox="1"/>
          <p:nvPr/>
        </p:nvSpPr>
        <p:spPr>
          <a:xfrm>
            <a:off x="777240" y="3246120"/>
            <a:ext cx="10698480" cy="457200"/>
          </a:xfrm>
          <a:prstGeom prst="rect">
            <a:avLst/>
          </a:prstGeom>
          <a:noFill/>
        </p:spPr>
        <p:txBody>
          <a:bodyPr wrap="square" lIns="9144" rIns="9144" tIns="0" bIns="0">
            <a:spAutoFit/>
          </a:bodyPr>
          <a:lstStyle/>
          <a:p>
            <a:pPr>
              <a:spcAft>
                <a:spcPts val="0"/>
              </a:spcAft>
              <a:defRPr sz="2200" b="0">
                <a:solidFill>
                  <a:srgbClr val="17243B"/>
                </a:solidFill>
                <a:latin typeface="Aptos"/>
              </a:defRPr>
            </a:pPr>
            <a:r>
              <a:t>1.  Apply hard limits first.</a:t>
            </a:r>
          </a:p>
        </p:txBody>
      </p:sp>
      <p:sp>
        <p:nvSpPr>
          <p:cNvPr id="13" name="TextBox 12"/>
          <p:cNvSpPr txBox="1"/>
          <p:nvPr/>
        </p:nvSpPr>
        <p:spPr>
          <a:xfrm>
            <a:off x="777240" y="3749039"/>
            <a:ext cx="10698480" cy="457200"/>
          </a:xfrm>
          <a:prstGeom prst="rect">
            <a:avLst/>
          </a:prstGeom>
          <a:noFill/>
        </p:spPr>
        <p:txBody>
          <a:bodyPr wrap="square" lIns="9144" rIns="9144" tIns="0" bIns="0">
            <a:spAutoFit/>
          </a:bodyPr>
          <a:lstStyle/>
          <a:p>
            <a:pPr>
              <a:spcAft>
                <a:spcPts val="0"/>
              </a:spcAft>
              <a:defRPr sz="2200" b="0">
                <a:solidFill>
                  <a:srgbClr val="17243B"/>
                </a:solidFill>
                <a:latin typeface="Aptos"/>
              </a:defRPr>
            </a:pPr>
            <a:r>
              <a:t>2.  Normalise each active measure over feasible options.</a:t>
            </a:r>
          </a:p>
        </p:txBody>
      </p:sp>
      <p:sp>
        <p:nvSpPr>
          <p:cNvPr id="14" name="TextBox 13"/>
          <p:cNvSpPr txBox="1"/>
          <p:nvPr/>
        </p:nvSpPr>
        <p:spPr>
          <a:xfrm>
            <a:off x="777240" y="4251960"/>
            <a:ext cx="10698480" cy="457200"/>
          </a:xfrm>
          <a:prstGeom prst="rect">
            <a:avLst/>
          </a:prstGeom>
          <a:noFill/>
        </p:spPr>
        <p:txBody>
          <a:bodyPr wrap="square" lIns="9144" rIns="9144" tIns="0" bIns="0">
            <a:spAutoFit/>
          </a:bodyPr>
          <a:lstStyle/>
          <a:p>
            <a:pPr>
              <a:spcAft>
                <a:spcPts val="0"/>
              </a:spcAft>
              <a:defRPr sz="2200" b="0">
                <a:solidFill>
                  <a:srgbClr val="17243B"/>
                </a:solidFill>
                <a:latin typeface="Aptos"/>
              </a:defRPr>
            </a:pPr>
            <a:r>
              <a:t>3.  Reverse the scale when a lower value is better.</a:t>
            </a:r>
          </a:p>
        </p:txBody>
      </p:sp>
      <p:sp>
        <p:nvSpPr>
          <p:cNvPr id="15" name="TextBox 14"/>
          <p:cNvSpPr txBox="1"/>
          <p:nvPr/>
        </p:nvSpPr>
        <p:spPr>
          <a:xfrm>
            <a:off x="777240" y="4754880"/>
            <a:ext cx="10698480" cy="457200"/>
          </a:xfrm>
          <a:prstGeom prst="rect">
            <a:avLst/>
          </a:prstGeom>
          <a:noFill/>
        </p:spPr>
        <p:txBody>
          <a:bodyPr wrap="square" lIns="9144" rIns="9144" tIns="0" bIns="0">
            <a:spAutoFit/>
          </a:bodyPr>
          <a:lstStyle/>
          <a:p>
            <a:pPr>
              <a:spcAft>
                <a:spcPts val="0"/>
              </a:spcAft>
              <a:defRPr sz="2200" b="0">
                <a:solidFill>
                  <a:srgbClr val="17243B"/>
                </a:solidFill>
                <a:latin typeface="Aptos"/>
              </a:defRPr>
            </a:pPr>
            <a:r>
              <a:t>4.  Rank by score; use the option ID to break ties.</a:t>
            </a:r>
          </a:p>
        </p:txBody>
      </p:sp>
      <p:sp>
        <p:nvSpPr>
          <p:cNvPr id="16" name="TextBox 15"/>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A score is relative preference fit, not a probability or forecast.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07 · ACTUAL CALCULATED EXAMPLE</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Worked example: travel</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08 / 14</a:t>
            </a:r>
          </a:p>
        </p:txBody>
      </p:sp>
      <p:sp>
        <p:nvSpPr>
          <p:cNvPr id="10" name="Rectangle 9"/>
          <p:cNvSpPr/>
          <p:nvPr/>
        </p:nvSpPr>
        <p:spPr>
          <a:xfrm>
            <a:off x="594360" y="1810512"/>
            <a:ext cx="2926080" cy="585216"/>
          </a:xfrm>
          <a:prstGeom prst="rect">
            <a:avLst/>
          </a:prstGeom>
          <a:solidFill>
            <a:srgbClr val="E7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11095"/>
            <a:ext cx="2706624" cy="475488"/>
          </a:xfrm>
          <a:prstGeom prst="rect">
            <a:avLst/>
          </a:prstGeom>
          <a:noFill/>
        </p:spPr>
        <p:txBody>
          <a:bodyPr wrap="square" lIns="9144" rIns="9144" tIns="0" bIns="0">
            <a:spAutoFit/>
          </a:bodyPr>
          <a:lstStyle/>
          <a:p>
            <a:pPr>
              <a:spcAft>
                <a:spcPts val="0"/>
              </a:spcAft>
              <a:defRPr sz="1700" b="1">
                <a:solidFill>
                  <a:srgbClr val="255EC9"/>
                </a:solidFill>
                <a:latin typeface="Aptos"/>
              </a:defRPr>
            </a:pPr>
            <a:r>
              <a:t>Fictional option</a:t>
            </a:r>
          </a:p>
        </p:txBody>
      </p:sp>
      <p:sp>
        <p:nvSpPr>
          <p:cNvPr id="12" name="Rectangle 11"/>
          <p:cNvSpPr/>
          <p:nvPr/>
        </p:nvSpPr>
        <p:spPr>
          <a:xfrm>
            <a:off x="3520440" y="1810512"/>
            <a:ext cx="1463040" cy="585216"/>
          </a:xfrm>
          <a:prstGeom prst="rect">
            <a:avLst/>
          </a:prstGeom>
          <a:solidFill>
            <a:srgbClr val="E7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168" y="1911095"/>
            <a:ext cx="1243584" cy="475488"/>
          </a:xfrm>
          <a:prstGeom prst="rect">
            <a:avLst/>
          </a:prstGeom>
          <a:noFill/>
        </p:spPr>
        <p:txBody>
          <a:bodyPr wrap="square" lIns="9144" rIns="9144" tIns="0" bIns="0">
            <a:spAutoFit/>
          </a:bodyPr>
          <a:lstStyle/>
          <a:p>
            <a:pPr>
              <a:spcAft>
                <a:spcPts val="0"/>
              </a:spcAft>
              <a:defRPr sz="1700" b="1">
                <a:solidFill>
                  <a:srgbClr val="255EC9"/>
                </a:solidFill>
                <a:latin typeface="Aptos"/>
              </a:defRPr>
            </a:pPr>
            <a:r>
              <a:t>Price</a:t>
            </a:r>
          </a:p>
        </p:txBody>
      </p:sp>
      <p:sp>
        <p:nvSpPr>
          <p:cNvPr id="14" name="Rectangle 13"/>
          <p:cNvSpPr/>
          <p:nvPr/>
        </p:nvSpPr>
        <p:spPr>
          <a:xfrm>
            <a:off x="4983480" y="1810512"/>
            <a:ext cx="2286000" cy="585216"/>
          </a:xfrm>
          <a:prstGeom prst="rect">
            <a:avLst/>
          </a:prstGeom>
          <a:solidFill>
            <a:srgbClr val="E7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93208" y="1911095"/>
            <a:ext cx="2066543" cy="475488"/>
          </a:xfrm>
          <a:prstGeom prst="rect">
            <a:avLst/>
          </a:prstGeom>
          <a:noFill/>
        </p:spPr>
        <p:txBody>
          <a:bodyPr wrap="square" lIns="9144" rIns="9144" tIns="0" bIns="0">
            <a:spAutoFit/>
          </a:bodyPr>
          <a:lstStyle/>
          <a:p>
            <a:pPr>
              <a:spcAft>
                <a:spcPts val="0"/>
              </a:spcAft>
              <a:defRPr sz="1700" b="1">
                <a:solidFill>
                  <a:srgbClr val="255EC9"/>
                </a:solidFill>
                <a:latin typeface="Aptos"/>
              </a:defRPr>
            </a:pPr>
            <a:r>
              <a:t>Travel time</a:t>
            </a:r>
          </a:p>
        </p:txBody>
      </p:sp>
      <p:sp>
        <p:nvSpPr>
          <p:cNvPr id="16" name="Rectangle 15"/>
          <p:cNvSpPr/>
          <p:nvPr/>
        </p:nvSpPr>
        <p:spPr>
          <a:xfrm>
            <a:off x="7269480" y="1810512"/>
            <a:ext cx="2194560" cy="585216"/>
          </a:xfrm>
          <a:prstGeom prst="rect">
            <a:avLst/>
          </a:prstGeom>
          <a:solidFill>
            <a:srgbClr val="E7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79208" y="1911095"/>
            <a:ext cx="1975104" cy="475488"/>
          </a:xfrm>
          <a:prstGeom prst="rect">
            <a:avLst/>
          </a:prstGeom>
          <a:noFill/>
        </p:spPr>
        <p:txBody>
          <a:bodyPr wrap="square" lIns="9144" rIns="9144" tIns="0" bIns="0">
            <a:spAutoFit/>
          </a:bodyPr>
          <a:lstStyle/>
          <a:p>
            <a:pPr>
              <a:spcAft>
                <a:spcPts val="0"/>
              </a:spcAft>
              <a:defRPr sz="1700" b="1">
                <a:solidFill>
                  <a:srgbClr val="255EC9"/>
                </a:solidFill>
                <a:latin typeface="Aptos"/>
              </a:defRPr>
            </a:pPr>
            <a:r>
              <a:t>Carbon</a:t>
            </a:r>
          </a:p>
        </p:txBody>
      </p:sp>
      <p:sp>
        <p:nvSpPr>
          <p:cNvPr id="18" name="Rectangle 17"/>
          <p:cNvSpPr/>
          <p:nvPr/>
        </p:nvSpPr>
        <p:spPr>
          <a:xfrm>
            <a:off x="9464040" y="1810512"/>
            <a:ext cx="2130552" cy="585216"/>
          </a:xfrm>
          <a:prstGeom prst="rect">
            <a:avLst/>
          </a:prstGeom>
          <a:solidFill>
            <a:srgbClr val="E7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7" y="1911095"/>
            <a:ext cx="1911095" cy="475488"/>
          </a:xfrm>
          <a:prstGeom prst="rect">
            <a:avLst/>
          </a:prstGeom>
          <a:noFill/>
        </p:spPr>
        <p:txBody>
          <a:bodyPr wrap="square" lIns="9144" rIns="9144" tIns="0" bIns="0">
            <a:spAutoFit/>
          </a:bodyPr>
          <a:lstStyle/>
          <a:p>
            <a:pPr>
              <a:spcAft>
                <a:spcPts val="0"/>
              </a:spcAft>
              <a:defRPr sz="1700" b="1">
                <a:solidFill>
                  <a:srgbClr val="255EC9"/>
                </a:solidFill>
                <a:latin typeface="Aptos"/>
              </a:defRPr>
            </a:pPr>
            <a:r>
              <a:t>Relative fit</a:t>
            </a:r>
          </a:p>
        </p:txBody>
      </p:sp>
      <p:sp>
        <p:nvSpPr>
          <p:cNvPr id="20" name="Rectangle 19"/>
          <p:cNvSpPr/>
          <p:nvPr/>
        </p:nvSpPr>
        <p:spPr>
          <a:xfrm>
            <a:off x="594360" y="2432304"/>
            <a:ext cx="2926080"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2532888"/>
            <a:ext cx="2706624"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Train</a:t>
            </a:r>
          </a:p>
        </p:txBody>
      </p:sp>
      <p:sp>
        <p:nvSpPr>
          <p:cNvPr id="22" name="Rectangle 21"/>
          <p:cNvSpPr/>
          <p:nvPr/>
        </p:nvSpPr>
        <p:spPr>
          <a:xfrm>
            <a:off x="3520440" y="2432304"/>
            <a:ext cx="1463040"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0168" y="2532888"/>
            <a:ext cx="1243584"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£18.00</a:t>
            </a:r>
          </a:p>
        </p:txBody>
      </p:sp>
      <p:sp>
        <p:nvSpPr>
          <p:cNvPr id="24" name="Rectangle 23"/>
          <p:cNvSpPr/>
          <p:nvPr/>
        </p:nvSpPr>
        <p:spPr>
          <a:xfrm>
            <a:off x="4983480" y="2432304"/>
            <a:ext cx="2286000"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93208" y="2532888"/>
            <a:ext cx="2066543"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70 minutes</a:t>
            </a:r>
          </a:p>
        </p:txBody>
      </p:sp>
      <p:sp>
        <p:nvSpPr>
          <p:cNvPr id="26" name="Rectangle 25"/>
          <p:cNvSpPr/>
          <p:nvPr/>
        </p:nvSpPr>
        <p:spPr>
          <a:xfrm>
            <a:off x="7269480" y="2432304"/>
            <a:ext cx="2194560"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79208" y="2532888"/>
            <a:ext cx="1975104"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2.2 kg CO₂e</a:t>
            </a:r>
          </a:p>
        </p:txBody>
      </p:sp>
      <p:sp>
        <p:nvSpPr>
          <p:cNvPr id="28" name="Rectangle 27"/>
          <p:cNvSpPr/>
          <p:nvPr/>
        </p:nvSpPr>
        <p:spPr>
          <a:xfrm>
            <a:off x="9464040" y="2432304"/>
            <a:ext cx="2130552" cy="5852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73767" y="2532888"/>
            <a:ext cx="1911095"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55 / 100</a:t>
            </a:r>
          </a:p>
        </p:txBody>
      </p:sp>
      <p:sp>
        <p:nvSpPr>
          <p:cNvPr id="30" name="Rectangle 29"/>
          <p:cNvSpPr/>
          <p:nvPr/>
        </p:nvSpPr>
        <p:spPr>
          <a:xfrm>
            <a:off x="594360" y="3054096"/>
            <a:ext cx="2926080" cy="585216"/>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3154680"/>
            <a:ext cx="2706624"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Coach</a:t>
            </a:r>
          </a:p>
        </p:txBody>
      </p:sp>
      <p:sp>
        <p:nvSpPr>
          <p:cNvPr id="32" name="Rectangle 31"/>
          <p:cNvSpPr/>
          <p:nvPr/>
        </p:nvSpPr>
        <p:spPr>
          <a:xfrm>
            <a:off x="3520440" y="3054096"/>
            <a:ext cx="1463040" cy="585216"/>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30168" y="3154680"/>
            <a:ext cx="1243584"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£8.00</a:t>
            </a:r>
          </a:p>
        </p:txBody>
      </p:sp>
      <p:sp>
        <p:nvSpPr>
          <p:cNvPr id="34" name="Rectangle 33"/>
          <p:cNvSpPr/>
          <p:nvPr/>
        </p:nvSpPr>
        <p:spPr>
          <a:xfrm>
            <a:off x="4983480" y="3054096"/>
            <a:ext cx="2286000" cy="585216"/>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93208" y="3154680"/>
            <a:ext cx="2066543"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120 minutes</a:t>
            </a:r>
          </a:p>
        </p:txBody>
      </p:sp>
      <p:sp>
        <p:nvSpPr>
          <p:cNvPr id="36" name="Rectangle 35"/>
          <p:cNvSpPr/>
          <p:nvPr/>
        </p:nvSpPr>
        <p:spPr>
          <a:xfrm>
            <a:off x="7269480" y="3054096"/>
            <a:ext cx="2194560" cy="585216"/>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79208" y="3154680"/>
            <a:ext cx="1975104"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5 kg CO₂e</a:t>
            </a:r>
          </a:p>
        </p:txBody>
      </p:sp>
      <p:sp>
        <p:nvSpPr>
          <p:cNvPr id="38" name="Rectangle 37"/>
          <p:cNvSpPr/>
          <p:nvPr/>
        </p:nvSpPr>
        <p:spPr>
          <a:xfrm>
            <a:off x="9464040" y="3054096"/>
            <a:ext cx="2130552" cy="585216"/>
          </a:xfrm>
          <a:prstGeom prst="rect">
            <a:avLst/>
          </a:prstGeom>
          <a:solidFill>
            <a:srgbClr val="F0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73767" y="3154680"/>
            <a:ext cx="1911095" cy="475488"/>
          </a:xfrm>
          <a:prstGeom prst="rect">
            <a:avLst/>
          </a:prstGeom>
          <a:noFill/>
        </p:spPr>
        <p:txBody>
          <a:bodyPr wrap="square" lIns="9144" rIns="9144" tIns="0" bIns="0">
            <a:spAutoFit/>
          </a:bodyPr>
          <a:lstStyle/>
          <a:p>
            <a:pPr>
              <a:spcAft>
                <a:spcPts val="0"/>
              </a:spcAft>
              <a:defRPr sz="1700" b="0">
                <a:solidFill>
                  <a:srgbClr val="17243B"/>
                </a:solidFill>
                <a:latin typeface="Aptos"/>
              </a:defRPr>
            </a:pPr>
            <a:r>
              <a:t>45 / 100</a:t>
            </a:r>
          </a:p>
        </p:txBody>
      </p:sp>
      <p:sp>
        <p:nvSpPr>
          <p:cNvPr id="40" name="TextBox 39"/>
          <p:cNvSpPr txBox="1"/>
          <p:nvPr/>
        </p:nvSpPr>
        <p:spPr>
          <a:xfrm>
            <a:off x="640080" y="4160520"/>
            <a:ext cx="10789920" cy="411480"/>
          </a:xfrm>
          <a:prstGeom prst="rect">
            <a:avLst/>
          </a:prstGeom>
          <a:noFill/>
        </p:spPr>
        <p:txBody>
          <a:bodyPr wrap="square" lIns="9144" rIns="9144" tIns="0" bIns="0">
            <a:spAutoFit/>
          </a:bodyPr>
          <a:lstStyle/>
          <a:p>
            <a:pPr>
              <a:spcAft>
                <a:spcPts val="0"/>
              </a:spcAft>
              <a:defRPr sz="1800" b="0">
                <a:solidFill>
                  <a:srgbClr val="17243B"/>
                </a:solidFill>
                <a:latin typeface="Aptos"/>
              </a:defRPr>
            </a:pPr>
            <a:r>
              <a:t>• Limits: spend up to £25 and travel for at most 180 minutes.</a:t>
            </a:r>
          </a:p>
        </p:txBody>
      </p:sp>
      <p:sp>
        <p:nvSpPr>
          <p:cNvPr id="41" name="TextBox 40"/>
          <p:cNvSpPr txBox="1"/>
          <p:nvPr/>
        </p:nvSpPr>
        <p:spPr>
          <a:xfrm>
            <a:off x="640080" y="4599431"/>
            <a:ext cx="10789920" cy="411480"/>
          </a:xfrm>
          <a:prstGeom prst="rect">
            <a:avLst/>
          </a:prstGeom>
          <a:noFill/>
        </p:spPr>
        <p:txBody>
          <a:bodyPr wrap="square" lIns="9144" rIns="9144" tIns="0" bIns="0">
            <a:spAutoFit/>
          </a:bodyPr>
          <a:lstStyle/>
          <a:p>
            <a:pPr>
              <a:spcAft>
                <a:spcPts val="0"/>
              </a:spcAft>
              <a:defRPr sz="1800" b="0">
                <a:solidFill>
                  <a:srgbClr val="17243B"/>
                </a:solidFill>
                <a:latin typeface="Aptos"/>
              </a:defRPr>
            </a:pPr>
            <a:r>
              <a:t>• Importance: price 45, time 35, carbon 20.</a:t>
            </a:r>
          </a:p>
        </p:txBody>
      </p:sp>
      <p:sp>
        <p:nvSpPr>
          <p:cNvPr id="42" name="TextBox 41"/>
          <p:cNvSpPr txBox="1"/>
          <p:nvPr/>
        </p:nvSpPr>
        <p:spPr>
          <a:xfrm>
            <a:off x="640080" y="5038344"/>
            <a:ext cx="10789920" cy="411480"/>
          </a:xfrm>
          <a:prstGeom prst="rect">
            <a:avLst/>
          </a:prstGeom>
          <a:noFill/>
        </p:spPr>
        <p:txBody>
          <a:bodyPr wrap="square" lIns="9144" rIns="9144" tIns="0" bIns="0">
            <a:spAutoFit/>
          </a:bodyPr>
          <a:lstStyle/>
          <a:p>
            <a:pPr>
              <a:spcAft>
                <a:spcPts val="0"/>
              </a:spcAft>
              <a:defRPr sz="1800" b="0">
                <a:solidFill>
                  <a:srgbClr val="17243B"/>
                </a:solidFill>
                <a:latin typeface="Aptos"/>
              </a:defRPr>
            </a:pPr>
            <a:r>
              <a:t>• Change to price-only importance with an £8 limit: coach wins.</a:t>
            </a:r>
          </a:p>
        </p:txBody>
      </p:sp>
      <p:sp>
        <p:nvSpPr>
          <p:cNvPr id="43" name="TextBox 42"/>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At £7.99 with the 180-minute limit, no choice fits. At £8.00, the coach fits.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08 · THE AI PATH</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How OpenAI supports the decision</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09 / 14</a:t>
            </a:r>
          </a:p>
        </p:txBody>
      </p:sp>
      <p:sp>
        <p:nvSpPr>
          <p:cNvPr id="10" name="Rounded Rectangle 9"/>
          <p:cNvSpPr/>
          <p:nvPr/>
        </p:nvSpPr>
        <p:spPr>
          <a:xfrm>
            <a:off x="594360" y="2011680"/>
            <a:ext cx="2599182" cy="297180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194560"/>
            <a:ext cx="2196846" cy="320040"/>
          </a:xfrm>
          <a:prstGeom prst="rect">
            <a:avLst/>
          </a:prstGeom>
          <a:noFill/>
        </p:spPr>
        <p:txBody>
          <a:bodyPr wrap="square" lIns="9144" rIns="9144" tIns="0" bIns="0">
            <a:spAutoFit/>
          </a:bodyPr>
          <a:lstStyle/>
          <a:p>
            <a:pPr>
              <a:spcAft>
                <a:spcPts val="0"/>
              </a:spcAft>
              <a:defRPr sz="1400" b="1">
                <a:solidFill>
                  <a:srgbClr val="BC3045"/>
                </a:solidFill>
                <a:latin typeface="Aptos"/>
              </a:defRPr>
            </a:pPr>
            <a:r>
              <a:t>01</a:t>
            </a:r>
          </a:p>
        </p:txBody>
      </p:sp>
      <p:sp>
        <p:nvSpPr>
          <p:cNvPr id="12" name="TextBox 11"/>
          <p:cNvSpPr txBox="1"/>
          <p:nvPr/>
        </p:nvSpPr>
        <p:spPr>
          <a:xfrm>
            <a:off x="795528" y="2743200"/>
            <a:ext cx="2196846" cy="594360"/>
          </a:xfrm>
          <a:prstGeom prst="rect">
            <a:avLst/>
          </a:prstGeom>
          <a:noFill/>
        </p:spPr>
        <p:txBody>
          <a:bodyPr wrap="square" lIns="9144" rIns="9144" tIns="0" bIns="0">
            <a:spAutoFit/>
          </a:bodyPr>
          <a:lstStyle/>
          <a:p>
            <a:pPr>
              <a:spcAft>
                <a:spcPts val="0"/>
              </a:spcAft>
              <a:defRPr sz="2300" b="1">
                <a:solidFill>
                  <a:srgbClr val="BC3045"/>
                </a:solidFill>
                <a:latin typeface="Aptos"/>
              </a:defRPr>
            </a:pPr>
            <a:r>
              <a:t>Calculate</a:t>
            </a:r>
          </a:p>
        </p:txBody>
      </p:sp>
      <p:sp>
        <p:nvSpPr>
          <p:cNvPr id="13" name="TextBox 12"/>
          <p:cNvSpPr txBox="1"/>
          <p:nvPr/>
        </p:nvSpPr>
        <p:spPr>
          <a:xfrm>
            <a:off x="79552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Run the actual comparison again.</a:t>
            </a:r>
          </a:p>
        </p:txBody>
      </p:sp>
      <p:sp>
        <p:nvSpPr>
          <p:cNvPr id="14" name="Rounded Rectangle 13"/>
          <p:cNvSpPr/>
          <p:nvPr/>
        </p:nvSpPr>
        <p:spPr>
          <a:xfrm>
            <a:off x="3394710" y="2011680"/>
            <a:ext cx="2599182" cy="2971800"/>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5878" y="2194560"/>
            <a:ext cx="2196846" cy="320040"/>
          </a:xfrm>
          <a:prstGeom prst="rect">
            <a:avLst/>
          </a:prstGeom>
          <a:noFill/>
        </p:spPr>
        <p:txBody>
          <a:bodyPr wrap="square" lIns="9144" rIns="9144" tIns="0" bIns="0">
            <a:spAutoFit/>
          </a:bodyPr>
          <a:lstStyle/>
          <a:p>
            <a:pPr>
              <a:spcAft>
                <a:spcPts val="0"/>
              </a:spcAft>
              <a:defRPr sz="1400" b="1">
                <a:solidFill>
                  <a:srgbClr val="18704C"/>
                </a:solidFill>
                <a:latin typeface="Aptos"/>
              </a:defRPr>
            </a:pPr>
            <a:r>
              <a:t>02</a:t>
            </a:r>
          </a:p>
        </p:txBody>
      </p:sp>
      <p:sp>
        <p:nvSpPr>
          <p:cNvPr id="16" name="TextBox 15"/>
          <p:cNvSpPr txBox="1"/>
          <p:nvPr/>
        </p:nvSpPr>
        <p:spPr>
          <a:xfrm>
            <a:off x="3595878" y="2743200"/>
            <a:ext cx="2196846" cy="594360"/>
          </a:xfrm>
          <a:prstGeom prst="rect">
            <a:avLst/>
          </a:prstGeom>
          <a:noFill/>
        </p:spPr>
        <p:txBody>
          <a:bodyPr wrap="square" lIns="9144" rIns="9144" tIns="0" bIns="0">
            <a:spAutoFit/>
          </a:bodyPr>
          <a:lstStyle/>
          <a:p>
            <a:pPr>
              <a:spcAft>
                <a:spcPts val="0"/>
              </a:spcAft>
              <a:defRPr sz="2300" b="1">
                <a:solidFill>
                  <a:srgbClr val="18704C"/>
                </a:solidFill>
                <a:latin typeface="Aptos"/>
              </a:defRPr>
            </a:pPr>
            <a:r>
              <a:t>Assemble</a:t>
            </a:r>
          </a:p>
        </p:txBody>
      </p:sp>
      <p:sp>
        <p:nvSpPr>
          <p:cNvPr id="17" name="TextBox 16"/>
          <p:cNvSpPr txBox="1"/>
          <p:nvPr/>
        </p:nvSpPr>
        <p:spPr>
          <a:xfrm>
            <a:off x="359587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Add explicit settings and selected evidence.</a:t>
            </a:r>
          </a:p>
        </p:txBody>
      </p:sp>
      <p:sp>
        <p:nvSpPr>
          <p:cNvPr id="18" name="Rounded Rectangle 17"/>
          <p:cNvSpPr/>
          <p:nvPr/>
        </p:nvSpPr>
        <p:spPr>
          <a:xfrm>
            <a:off x="6195060" y="2011680"/>
            <a:ext cx="2599182" cy="2971800"/>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6228" y="2194560"/>
            <a:ext cx="2196846" cy="320040"/>
          </a:xfrm>
          <a:prstGeom prst="rect">
            <a:avLst/>
          </a:prstGeom>
          <a:noFill/>
        </p:spPr>
        <p:txBody>
          <a:bodyPr wrap="square" lIns="9144" rIns="9144" tIns="0" bIns="0">
            <a:spAutoFit/>
          </a:bodyPr>
          <a:lstStyle/>
          <a:p>
            <a:pPr>
              <a:spcAft>
                <a:spcPts val="0"/>
              </a:spcAft>
              <a:defRPr sz="1400" b="1">
                <a:solidFill>
                  <a:srgbClr val="255EC9"/>
                </a:solidFill>
                <a:latin typeface="Aptos"/>
              </a:defRPr>
            </a:pPr>
            <a:r>
              <a:t>03</a:t>
            </a:r>
          </a:p>
        </p:txBody>
      </p:sp>
      <p:sp>
        <p:nvSpPr>
          <p:cNvPr id="20" name="TextBox 19"/>
          <p:cNvSpPr txBox="1"/>
          <p:nvPr/>
        </p:nvSpPr>
        <p:spPr>
          <a:xfrm>
            <a:off x="6396228" y="2743200"/>
            <a:ext cx="2196846" cy="594360"/>
          </a:xfrm>
          <a:prstGeom prst="rect">
            <a:avLst/>
          </a:prstGeom>
          <a:noFill/>
        </p:spPr>
        <p:txBody>
          <a:bodyPr wrap="square" lIns="9144" rIns="9144" tIns="0" bIns="0">
            <a:spAutoFit/>
          </a:bodyPr>
          <a:lstStyle/>
          <a:p>
            <a:pPr>
              <a:spcAft>
                <a:spcPts val="0"/>
              </a:spcAft>
              <a:defRPr sz="2300" b="1">
                <a:solidFill>
                  <a:srgbClr val="255EC9"/>
                </a:solidFill>
                <a:latin typeface="Aptos"/>
              </a:defRPr>
            </a:pPr>
            <a:r>
              <a:t>Explain</a:t>
            </a:r>
          </a:p>
        </p:txBody>
      </p:sp>
      <p:sp>
        <p:nvSpPr>
          <p:cNvPr id="21" name="TextBox 20"/>
          <p:cNvSpPr txBox="1"/>
          <p:nvPr/>
        </p:nvSpPr>
        <p:spPr>
          <a:xfrm>
            <a:off x="639622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OpenAI returns a structured answer.</a:t>
            </a:r>
          </a:p>
        </p:txBody>
      </p:sp>
      <p:sp>
        <p:nvSpPr>
          <p:cNvPr id="22" name="Rounded Rectangle 21"/>
          <p:cNvSpPr/>
          <p:nvPr/>
        </p:nvSpPr>
        <p:spPr>
          <a:xfrm>
            <a:off x="8995410" y="2011680"/>
            <a:ext cx="2599182" cy="2971800"/>
          </a:xfrm>
          <a:prstGeom prst="roundRect">
            <a:avLst>
              <a:gd name="adj" fmla="val 8000"/>
            </a:avLst>
          </a:prstGeom>
          <a:solidFill>
            <a:srgbClr val="FFF7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6578" y="2194560"/>
            <a:ext cx="2196846" cy="320040"/>
          </a:xfrm>
          <a:prstGeom prst="rect">
            <a:avLst/>
          </a:prstGeom>
          <a:noFill/>
        </p:spPr>
        <p:txBody>
          <a:bodyPr wrap="square" lIns="9144" rIns="9144" tIns="0" bIns="0">
            <a:spAutoFit/>
          </a:bodyPr>
          <a:lstStyle/>
          <a:p>
            <a:pPr>
              <a:spcAft>
                <a:spcPts val="0"/>
              </a:spcAft>
              <a:defRPr sz="1400" b="1">
                <a:solidFill>
                  <a:srgbClr val="8A630A"/>
                </a:solidFill>
                <a:latin typeface="Aptos"/>
              </a:defRPr>
            </a:pPr>
            <a:r>
              <a:t>04</a:t>
            </a:r>
          </a:p>
        </p:txBody>
      </p:sp>
      <p:sp>
        <p:nvSpPr>
          <p:cNvPr id="24" name="TextBox 23"/>
          <p:cNvSpPr txBox="1"/>
          <p:nvPr/>
        </p:nvSpPr>
        <p:spPr>
          <a:xfrm>
            <a:off x="9196578" y="2743200"/>
            <a:ext cx="2196846" cy="594360"/>
          </a:xfrm>
          <a:prstGeom prst="rect">
            <a:avLst/>
          </a:prstGeom>
          <a:noFill/>
        </p:spPr>
        <p:txBody>
          <a:bodyPr wrap="square" lIns="9144" rIns="9144" tIns="0" bIns="0">
            <a:spAutoFit/>
          </a:bodyPr>
          <a:lstStyle/>
          <a:p>
            <a:pPr>
              <a:spcAft>
                <a:spcPts val="0"/>
              </a:spcAft>
              <a:defRPr sz="2300" b="1">
                <a:solidFill>
                  <a:srgbClr val="8A630A"/>
                </a:solidFill>
                <a:latin typeface="Aptos"/>
              </a:defRPr>
            </a:pPr>
            <a:r>
              <a:t>Check</a:t>
            </a:r>
          </a:p>
        </p:txBody>
      </p:sp>
      <p:sp>
        <p:nvSpPr>
          <p:cNvPr id="25" name="TextBox 24"/>
          <p:cNvSpPr txBox="1"/>
          <p:nvPr/>
        </p:nvSpPr>
        <p:spPr>
          <a:xfrm>
            <a:off x="9196578" y="3520440"/>
            <a:ext cx="219684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Validate citations; return the actual result.</a:t>
            </a:r>
          </a:p>
        </p:txBody>
      </p:sp>
      <p:sp>
        <p:nvSpPr>
          <p:cNvPr id="26" name="TextBox 25"/>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Python ranks the options. OpenAI explains the supplied results and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09 · GROUNDED DATA ANALYSIS</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Give the model the meaning of the numbers</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10 / 14</a:t>
            </a:r>
          </a:p>
        </p:txBody>
      </p:sp>
      <p:sp>
        <p:nvSpPr>
          <p:cNvPr id="10" name="Rounded Rectangle 9"/>
          <p:cNvSpPr/>
          <p:nvPr/>
        </p:nvSpPr>
        <p:spPr>
          <a:xfrm>
            <a:off x="594360" y="1810512"/>
            <a:ext cx="5394960" cy="3858768"/>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011680"/>
            <a:ext cx="4919472" cy="411480"/>
          </a:xfrm>
          <a:prstGeom prst="rect">
            <a:avLst/>
          </a:prstGeom>
          <a:noFill/>
        </p:spPr>
        <p:txBody>
          <a:bodyPr wrap="square" lIns="9144" rIns="9144" tIns="0" bIns="0">
            <a:spAutoFit/>
          </a:bodyPr>
          <a:lstStyle/>
          <a:p>
            <a:pPr>
              <a:spcAft>
                <a:spcPts val="0"/>
              </a:spcAft>
              <a:defRPr sz="2300" b="1">
                <a:solidFill>
                  <a:srgbClr val="18704C"/>
                </a:solidFill>
                <a:latin typeface="Aptos"/>
              </a:defRPr>
            </a:pPr>
            <a:r>
              <a:t>Supplied context</a:t>
            </a:r>
          </a:p>
        </p:txBody>
      </p:sp>
      <p:sp>
        <p:nvSpPr>
          <p:cNvPr id="12" name="TextBox 11"/>
          <p:cNvSpPr txBox="1"/>
          <p:nvPr/>
        </p:nvSpPr>
        <p:spPr>
          <a:xfrm>
            <a:off x="822960" y="2697480"/>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Criteria: label, unit, direction and effective weight</a:t>
            </a:r>
          </a:p>
        </p:txBody>
      </p:sp>
      <p:sp>
        <p:nvSpPr>
          <p:cNvPr id="13" name="TextBox 12"/>
          <p:cNvSpPr txBox="1"/>
          <p:nvPr/>
        </p:nvSpPr>
        <p:spPr>
          <a:xfrm>
            <a:off x="822960" y="3364992"/>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The exact limits the user selected</a:t>
            </a:r>
          </a:p>
        </p:txBody>
      </p:sp>
      <p:sp>
        <p:nvSpPr>
          <p:cNvPr id="14" name="TextBox 13"/>
          <p:cNvSpPr txBox="1"/>
          <p:nvPr/>
        </p:nvSpPr>
        <p:spPr>
          <a:xfrm>
            <a:off x="822960" y="4032504"/>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Winner, up to two alternatives and contributions</a:t>
            </a:r>
          </a:p>
        </p:txBody>
      </p:sp>
      <p:sp>
        <p:nvSpPr>
          <p:cNvPr id="15" name="TextBox 14"/>
          <p:cNvSpPr txBox="1"/>
          <p:nvPr/>
        </p:nvSpPr>
        <p:spPr>
          <a:xfrm>
            <a:off x="822960" y="4700016"/>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Sample exclusions, source metadata and limitations</a:t>
            </a:r>
          </a:p>
        </p:txBody>
      </p:sp>
      <p:sp>
        <p:nvSpPr>
          <p:cNvPr id="16" name="Rounded Rectangle 15"/>
          <p:cNvSpPr/>
          <p:nvPr/>
        </p:nvSpPr>
        <p:spPr>
          <a:xfrm>
            <a:off x="6190488" y="1810512"/>
            <a:ext cx="5394960" cy="3858768"/>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011680"/>
            <a:ext cx="4919472" cy="411480"/>
          </a:xfrm>
          <a:prstGeom prst="rect">
            <a:avLst/>
          </a:prstGeom>
          <a:noFill/>
        </p:spPr>
        <p:txBody>
          <a:bodyPr wrap="square" lIns="9144" rIns="9144" tIns="0" bIns="0">
            <a:spAutoFit/>
          </a:bodyPr>
          <a:lstStyle/>
          <a:p>
            <a:pPr>
              <a:spcAft>
                <a:spcPts val="0"/>
              </a:spcAft>
              <a:defRPr sz="2300" b="1">
                <a:solidFill>
                  <a:srgbClr val="255EC9"/>
                </a:solidFill>
                <a:latin typeface="Aptos"/>
              </a:defRPr>
            </a:pPr>
            <a:r>
              <a:t>Interpretation rules</a:t>
            </a:r>
          </a:p>
        </p:txBody>
      </p:sp>
      <p:sp>
        <p:nvSpPr>
          <p:cNvPr id="18" name="TextBox 17"/>
          <p:cNvSpPr txBox="1"/>
          <p:nvPr/>
        </p:nvSpPr>
        <p:spPr>
          <a:xfrm>
            <a:off x="6419088" y="2697480"/>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800 pence means £8.00</a:t>
            </a:r>
          </a:p>
        </p:txBody>
      </p:sp>
      <p:sp>
        <p:nvSpPr>
          <p:cNvPr id="19" name="TextBox 18"/>
          <p:cNvSpPr txBox="1"/>
          <p:nvPr/>
        </p:nvSpPr>
        <p:spPr>
          <a:xfrm>
            <a:off x="6419088" y="3364992"/>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120 minutes stays a time measurement</a:t>
            </a:r>
          </a:p>
        </p:txBody>
      </p:sp>
      <p:sp>
        <p:nvSpPr>
          <p:cNvPr id="20" name="TextBox 19"/>
          <p:cNvSpPr txBox="1"/>
          <p:nvPr/>
        </p:nvSpPr>
        <p:spPr>
          <a:xfrm>
            <a:off x="6419088" y="4032504"/>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Importance points are not money or percentages</a:t>
            </a:r>
          </a:p>
        </p:txBody>
      </p:sp>
      <p:sp>
        <p:nvSpPr>
          <p:cNvPr id="21" name="TextBox 20"/>
          <p:cNvSpPr txBox="1"/>
          <p:nvPr/>
        </p:nvSpPr>
        <p:spPr>
          <a:xfrm>
            <a:off x="6419088" y="4700016"/>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Omitted details are flagged, never invented</a:t>
            </a:r>
          </a:p>
        </p:txBody>
      </p:sp>
      <p:sp>
        <p:nvSpPr>
          <p:cNvPr id="22" name="TextBox 21"/>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Selected document passages can provide additional evidence. Exact quotes remain original.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10 · SETUP + FIRST QUESTION</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Connect OpenAI in the desktop app</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11 / 14</a:t>
            </a:r>
          </a:p>
        </p:txBody>
      </p:sp>
      <p:sp>
        <p:nvSpPr>
          <p:cNvPr id="10" name="Rounded Rectangle 9"/>
          <p:cNvSpPr/>
          <p:nvPr/>
        </p:nvSpPr>
        <p:spPr>
          <a:xfrm>
            <a:off x="594360" y="1828800"/>
            <a:ext cx="411480" cy="41148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1883664"/>
            <a:ext cx="228600" cy="274320"/>
          </a:xfrm>
          <a:prstGeom prst="rect">
            <a:avLst/>
          </a:prstGeom>
          <a:noFill/>
        </p:spPr>
        <p:txBody>
          <a:bodyPr wrap="square" lIns="9144" rIns="9144" tIns="0" bIns="0">
            <a:spAutoFit/>
          </a:bodyPr>
          <a:lstStyle/>
          <a:p>
            <a:pPr>
              <a:spcAft>
                <a:spcPts val="0"/>
              </a:spcAft>
              <a:defRPr sz="1600" b="1">
                <a:solidFill>
                  <a:srgbClr val="BC3045"/>
                </a:solidFill>
                <a:latin typeface="Aptos"/>
              </a:defRPr>
            </a:pPr>
            <a:r>
              <a:t>1</a:t>
            </a:r>
          </a:p>
        </p:txBody>
      </p:sp>
      <p:sp>
        <p:nvSpPr>
          <p:cNvPr id="12" name="TextBox 11"/>
          <p:cNvSpPr txBox="1"/>
          <p:nvPr/>
        </p:nvSpPr>
        <p:spPr>
          <a:xfrm>
            <a:off x="1188720" y="1847088"/>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Launch the app and open Ask AI.</a:t>
            </a:r>
          </a:p>
        </p:txBody>
      </p:sp>
      <p:sp>
        <p:nvSpPr>
          <p:cNvPr id="13" name="Rounded Rectangle 12"/>
          <p:cNvSpPr/>
          <p:nvPr/>
        </p:nvSpPr>
        <p:spPr>
          <a:xfrm>
            <a:off x="594360" y="2468880"/>
            <a:ext cx="411480" cy="411480"/>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2523744"/>
            <a:ext cx="228600" cy="274320"/>
          </a:xfrm>
          <a:prstGeom prst="rect">
            <a:avLst/>
          </a:prstGeom>
          <a:noFill/>
        </p:spPr>
        <p:txBody>
          <a:bodyPr wrap="square" lIns="9144" rIns="9144" tIns="0" bIns="0">
            <a:spAutoFit/>
          </a:bodyPr>
          <a:lstStyle/>
          <a:p>
            <a:pPr>
              <a:spcAft>
                <a:spcPts val="0"/>
              </a:spcAft>
              <a:defRPr sz="1600" b="1">
                <a:solidFill>
                  <a:srgbClr val="18704C"/>
                </a:solidFill>
                <a:latin typeface="Aptos"/>
              </a:defRPr>
            </a:pPr>
            <a:r>
              <a:t>2</a:t>
            </a:r>
          </a:p>
        </p:txBody>
      </p:sp>
      <p:sp>
        <p:nvSpPr>
          <p:cNvPr id="15" name="TextBox 14"/>
          <p:cNvSpPr txBox="1"/>
          <p:nvPr/>
        </p:nvSpPr>
        <p:spPr>
          <a:xfrm>
            <a:off x="1188720" y="2487168"/>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Choose OpenAI; expand AI session settings.</a:t>
            </a:r>
          </a:p>
        </p:txBody>
      </p:sp>
      <p:sp>
        <p:nvSpPr>
          <p:cNvPr id="16" name="Rounded Rectangle 15"/>
          <p:cNvSpPr/>
          <p:nvPr/>
        </p:nvSpPr>
        <p:spPr>
          <a:xfrm>
            <a:off x="594360" y="3108960"/>
            <a:ext cx="411480" cy="411480"/>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3163824"/>
            <a:ext cx="228600" cy="274320"/>
          </a:xfrm>
          <a:prstGeom prst="rect">
            <a:avLst/>
          </a:prstGeom>
          <a:noFill/>
        </p:spPr>
        <p:txBody>
          <a:bodyPr wrap="square" lIns="9144" rIns="9144" tIns="0" bIns="0">
            <a:spAutoFit/>
          </a:bodyPr>
          <a:lstStyle/>
          <a:p>
            <a:pPr>
              <a:spcAft>
                <a:spcPts val="0"/>
              </a:spcAft>
              <a:defRPr sz="1600" b="1">
                <a:solidFill>
                  <a:srgbClr val="255EC9"/>
                </a:solidFill>
                <a:latin typeface="Aptos"/>
              </a:defRPr>
            </a:pPr>
            <a:r>
              <a:t>3</a:t>
            </a:r>
          </a:p>
        </p:txBody>
      </p:sp>
      <p:sp>
        <p:nvSpPr>
          <p:cNvPr id="18" name="TextBox 17"/>
          <p:cNvSpPr txBox="1"/>
          <p:nvPr/>
        </p:nvSpPr>
        <p:spPr>
          <a:xfrm>
            <a:off x="1188720" y="3127248"/>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Enter your API key and select Use for this session.</a:t>
            </a:r>
          </a:p>
        </p:txBody>
      </p:sp>
      <p:sp>
        <p:nvSpPr>
          <p:cNvPr id="19" name="Rounded Rectangle 18"/>
          <p:cNvSpPr/>
          <p:nvPr/>
        </p:nvSpPr>
        <p:spPr>
          <a:xfrm>
            <a:off x="594360" y="3749039"/>
            <a:ext cx="411480" cy="411480"/>
          </a:xfrm>
          <a:prstGeom prst="roundRect">
            <a:avLst>
              <a:gd name="adj" fmla="val 8000"/>
            </a:avLst>
          </a:prstGeom>
          <a:solidFill>
            <a:srgbClr val="FFF7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3803903"/>
            <a:ext cx="228600" cy="274320"/>
          </a:xfrm>
          <a:prstGeom prst="rect">
            <a:avLst/>
          </a:prstGeom>
          <a:noFill/>
        </p:spPr>
        <p:txBody>
          <a:bodyPr wrap="square" lIns="9144" rIns="9144" tIns="0" bIns="0">
            <a:spAutoFit/>
          </a:bodyPr>
          <a:lstStyle/>
          <a:p>
            <a:pPr>
              <a:spcAft>
                <a:spcPts val="0"/>
              </a:spcAft>
              <a:defRPr sz="1600" b="1">
                <a:solidFill>
                  <a:srgbClr val="8A630A"/>
                </a:solidFill>
                <a:latin typeface="Aptos"/>
              </a:defRPr>
            </a:pPr>
            <a:r>
              <a:t>4</a:t>
            </a:r>
          </a:p>
        </p:txBody>
      </p:sp>
      <p:sp>
        <p:nvSpPr>
          <p:cNvPr id="21" name="TextBox 20"/>
          <p:cNvSpPr txBox="1"/>
          <p:nvPr/>
        </p:nvSpPr>
        <p:spPr>
          <a:xfrm>
            <a:off x="1188720" y="3767327"/>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Keep a compatible accessible model, such as gpt-4.1-mini.</a:t>
            </a:r>
          </a:p>
        </p:txBody>
      </p:sp>
      <p:sp>
        <p:nvSpPr>
          <p:cNvPr id="22" name="Rounded Rectangle 21"/>
          <p:cNvSpPr/>
          <p:nvPr/>
        </p:nvSpPr>
        <p:spPr>
          <a:xfrm>
            <a:off x="594360" y="4389120"/>
            <a:ext cx="411480" cy="41148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4443983"/>
            <a:ext cx="228600" cy="274320"/>
          </a:xfrm>
          <a:prstGeom prst="rect">
            <a:avLst/>
          </a:prstGeom>
          <a:noFill/>
        </p:spPr>
        <p:txBody>
          <a:bodyPr wrap="square" lIns="9144" rIns="9144" tIns="0" bIns="0">
            <a:spAutoFit/>
          </a:bodyPr>
          <a:lstStyle/>
          <a:p>
            <a:pPr>
              <a:spcAft>
                <a:spcPts val="0"/>
              </a:spcAft>
              <a:defRPr sz="1600" b="1">
                <a:solidFill>
                  <a:srgbClr val="BC3045"/>
                </a:solidFill>
                <a:latin typeface="Aptos"/>
              </a:defRPr>
            </a:pPr>
            <a:r>
              <a:t>5</a:t>
            </a:r>
          </a:p>
        </p:txBody>
      </p:sp>
      <p:sp>
        <p:nvSpPr>
          <p:cNvPr id="24" name="TextBox 23"/>
          <p:cNvSpPr txBox="1"/>
          <p:nvPr/>
        </p:nvSpPr>
        <p:spPr>
          <a:xfrm>
            <a:off x="1188720" y="4407407"/>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Tick Include my current comparison, ask a question, then open its citation.</a:t>
            </a:r>
          </a:p>
        </p:txBody>
      </p:sp>
      <p:sp>
        <p:nvSpPr>
          <p:cNvPr id="25" name="Rounded Rectangle 24"/>
          <p:cNvSpPr/>
          <p:nvPr/>
        </p:nvSpPr>
        <p:spPr>
          <a:xfrm>
            <a:off x="594360" y="5394960"/>
            <a:ext cx="11000232" cy="749808"/>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559552"/>
            <a:ext cx="10469880" cy="530352"/>
          </a:xfrm>
          <a:prstGeom prst="rect">
            <a:avLst/>
          </a:prstGeom>
          <a:noFill/>
        </p:spPr>
        <p:txBody>
          <a:bodyPr wrap="square" lIns="9144" rIns="9144" tIns="0" bIns="0">
            <a:spAutoFit/>
          </a:bodyPr>
          <a:lstStyle/>
          <a:p>
            <a:pPr>
              <a:spcAft>
                <a:spcPts val="0"/>
              </a:spcAft>
              <a:defRPr sz="1700" b="1">
                <a:solidFill>
                  <a:srgbClr val="255EC9"/>
                </a:solidFill>
                <a:latin typeface="Aptos"/>
              </a:defRPr>
            </a:pPr>
            <a:r>
              <a:t>Try: “Why did this option rank first? Explain the price, time and trade-offs.”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11 · TRUST BOUNDARIES</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Reliability, privacy and honest limits</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12 / 14</a:t>
            </a:r>
          </a:p>
        </p:txBody>
      </p:sp>
      <p:sp>
        <p:nvSpPr>
          <p:cNvPr id="10" name="Rounded Rectangle 9"/>
          <p:cNvSpPr/>
          <p:nvPr/>
        </p:nvSpPr>
        <p:spPr>
          <a:xfrm>
            <a:off x="594360" y="2011680"/>
            <a:ext cx="3532632" cy="297180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194560"/>
            <a:ext cx="3130296" cy="320040"/>
          </a:xfrm>
          <a:prstGeom prst="rect">
            <a:avLst/>
          </a:prstGeom>
          <a:noFill/>
        </p:spPr>
        <p:txBody>
          <a:bodyPr wrap="square" lIns="9144" rIns="9144" tIns="0" bIns="0">
            <a:spAutoFit/>
          </a:bodyPr>
          <a:lstStyle/>
          <a:p>
            <a:pPr>
              <a:spcAft>
                <a:spcPts val="0"/>
              </a:spcAft>
              <a:defRPr sz="1400" b="1">
                <a:solidFill>
                  <a:srgbClr val="BC3045"/>
                </a:solidFill>
                <a:latin typeface="Aptos"/>
              </a:defRPr>
            </a:pPr>
            <a:r>
              <a:t>01</a:t>
            </a:r>
          </a:p>
        </p:txBody>
      </p:sp>
      <p:sp>
        <p:nvSpPr>
          <p:cNvPr id="12" name="TextBox 11"/>
          <p:cNvSpPr txBox="1"/>
          <p:nvPr/>
        </p:nvSpPr>
        <p:spPr>
          <a:xfrm>
            <a:off x="795528" y="2743200"/>
            <a:ext cx="3130296" cy="594360"/>
          </a:xfrm>
          <a:prstGeom prst="rect">
            <a:avLst/>
          </a:prstGeom>
          <a:noFill/>
        </p:spPr>
        <p:txBody>
          <a:bodyPr wrap="square" lIns="9144" rIns="9144" tIns="0" bIns="0">
            <a:spAutoFit/>
          </a:bodyPr>
          <a:lstStyle/>
          <a:p>
            <a:pPr>
              <a:spcAft>
                <a:spcPts val="0"/>
              </a:spcAft>
              <a:defRPr sz="2300" b="1">
                <a:solidFill>
                  <a:srgbClr val="BC3045"/>
                </a:solidFill>
                <a:latin typeface="Aptos"/>
              </a:defRPr>
            </a:pPr>
            <a:r>
              <a:t>Credentials</a:t>
            </a:r>
          </a:p>
        </p:txBody>
      </p:sp>
      <p:sp>
        <p:nvSpPr>
          <p:cNvPr id="13" name="TextBox 12"/>
          <p:cNvSpPr txBox="1"/>
          <p:nvPr/>
        </p:nvSpPr>
        <p:spPr>
          <a:xfrm>
            <a:off x="795528" y="3520440"/>
            <a:ext cx="313029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Keys stay in main-process session memory. Only the selected provider receives its key.</a:t>
            </a:r>
          </a:p>
        </p:txBody>
      </p:sp>
      <p:sp>
        <p:nvSpPr>
          <p:cNvPr id="14" name="Rounded Rectangle 13"/>
          <p:cNvSpPr/>
          <p:nvPr/>
        </p:nvSpPr>
        <p:spPr>
          <a:xfrm>
            <a:off x="4328160" y="2011680"/>
            <a:ext cx="3532632" cy="2971800"/>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9328" y="2194560"/>
            <a:ext cx="3130296" cy="320040"/>
          </a:xfrm>
          <a:prstGeom prst="rect">
            <a:avLst/>
          </a:prstGeom>
          <a:noFill/>
        </p:spPr>
        <p:txBody>
          <a:bodyPr wrap="square" lIns="9144" rIns="9144" tIns="0" bIns="0">
            <a:spAutoFit/>
          </a:bodyPr>
          <a:lstStyle/>
          <a:p>
            <a:pPr>
              <a:spcAft>
                <a:spcPts val="0"/>
              </a:spcAft>
              <a:defRPr sz="1400" b="1">
                <a:solidFill>
                  <a:srgbClr val="18704C"/>
                </a:solidFill>
                <a:latin typeface="Aptos"/>
              </a:defRPr>
            </a:pPr>
            <a:r>
              <a:t>02</a:t>
            </a:r>
          </a:p>
        </p:txBody>
      </p:sp>
      <p:sp>
        <p:nvSpPr>
          <p:cNvPr id="16" name="TextBox 15"/>
          <p:cNvSpPr txBox="1"/>
          <p:nvPr/>
        </p:nvSpPr>
        <p:spPr>
          <a:xfrm>
            <a:off x="4529328" y="2743200"/>
            <a:ext cx="3130296" cy="594360"/>
          </a:xfrm>
          <a:prstGeom prst="rect">
            <a:avLst/>
          </a:prstGeom>
          <a:noFill/>
        </p:spPr>
        <p:txBody>
          <a:bodyPr wrap="square" lIns="9144" rIns="9144" tIns="0" bIns="0">
            <a:spAutoFit/>
          </a:bodyPr>
          <a:lstStyle/>
          <a:p>
            <a:pPr>
              <a:spcAft>
                <a:spcPts val="0"/>
              </a:spcAft>
              <a:defRPr sz="2300" b="1">
                <a:solidFill>
                  <a:srgbClr val="18704C"/>
                </a:solidFill>
                <a:latin typeface="Aptos"/>
              </a:defRPr>
            </a:pPr>
            <a:r>
              <a:t>Evidence</a:t>
            </a:r>
          </a:p>
        </p:txBody>
      </p:sp>
      <p:sp>
        <p:nvSpPr>
          <p:cNvPr id="17" name="TextBox 16"/>
          <p:cNvSpPr txBox="1"/>
          <p:nvPr/>
        </p:nvSpPr>
        <p:spPr>
          <a:xfrm>
            <a:off x="4529328" y="3520440"/>
            <a:ext cx="313029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Every accepted quote must match selected evidence. Quote checks do not prove every claim.</a:t>
            </a:r>
          </a:p>
        </p:txBody>
      </p:sp>
      <p:sp>
        <p:nvSpPr>
          <p:cNvPr id="18" name="Rounded Rectangle 17"/>
          <p:cNvSpPr/>
          <p:nvPr/>
        </p:nvSpPr>
        <p:spPr>
          <a:xfrm>
            <a:off x="8061960" y="2011680"/>
            <a:ext cx="3532632" cy="2971800"/>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3128" y="2194560"/>
            <a:ext cx="3130296" cy="320040"/>
          </a:xfrm>
          <a:prstGeom prst="rect">
            <a:avLst/>
          </a:prstGeom>
          <a:noFill/>
        </p:spPr>
        <p:txBody>
          <a:bodyPr wrap="square" lIns="9144" rIns="9144" tIns="0" bIns="0">
            <a:spAutoFit/>
          </a:bodyPr>
          <a:lstStyle/>
          <a:p>
            <a:pPr>
              <a:spcAft>
                <a:spcPts val="0"/>
              </a:spcAft>
              <a:defRPr sz="1400" b="1">
                <a:solidFill>
                  <a:srgbClr val="255EC9"/>
                </a:solidFill>
                <a:latin typeface="Aptos"/>
              </a:defRPr>
            </a:pPr>
            <a:r>
              <a:t>03</a:t>
            </a:r>
          </a:p>
        </p:txBody>
      </p:sp>
      <p:sp>
        <p:nvSpPr>
          <p:cNvPr id="20" name="TextBox 19"/>
          <p:cNvSpPr txBox="1"/>
          <p:nvPr/>
        </p:nvSpPr>
        <p:spPr>
          <a:xfrm>
            <a:off x="8263128" y="2743200"/>
            <a:ext cx="3130296" cy="594360"/>
          </a:xfrm>
          <a:prstGeom prst="rect">
            <a:avLst/>
          </a:prstGeom>
          <a:noFill/>
        </p:spPr>
        <p:txBody>
          <a:bodyPr wrap="square" lIns="9144" rIns="9144" tIns="0" bIns="0">
            <a:spAutoFit/>
          </a:bodyPr>
          <a:lstStyle/>
          <a:p>
            <a:pPr>
              <a:spcAft>
                <a:spcPts val="0"/>
              </a:spcAft>
              <a:defRPr sz="2300" b="1">
                <a:solidFill>
                  <a:srgbClr val="255EC9"/>
                </a:solidFill>
                <a:latin typeface="Aptos"/>
              </a:defRPr>
            </a:pPr>
            <a:r>
              <a:t>Failures</a:t>
            </a:r>
          </a:p>
        </p:txBody>
      </p:sp>
      <p:sp>
        <p:nvSpPr>
          <p:cNvPr id="21" name="TextBox 20"/>
          <p:cNvSpPr txBox="1"/>
          <p:nvPr/>
        </p:nvSpPr>
        <p:spPr>
          <a:xfrm>
            <a:off x="8263128" y="3520440"/>
            <a:ext cx="3130296" cy="1280160"/>
          </a:xfrm>
          <a:prstGeom prst="rect">
            <a:avLst/>
          </a:prstGeom>
          <a:noFill/>
        </p:spPr>
        <p:txBody>
          <a:bodyPr wrap="square" lIns="9144" rIns="9144" tIns="0" bIns="0">
            <a:spAutoFit/>
          </a:bodyPr>
          <a:lstStyle/>
          <a:p>
            <a:pPr>
              <a:spcAft>
                <a:spcPts val="0"/>
              </a:spcAft>
              <a:defRPr sz="2000" b="0">
                <a:solidFill>
                  <a:srgbClr val="17243B"/>
                </a:solidFill>
                <a:latin typeface="Aptos"/>
              </a:defRPr>
            </a:pPr>
            <a:r>
              <a:t>Missing evidence, invalid keys, quota limits and timeouts have explicit outcomes.</a:t>
            </a:r>
          </a:p>
        </p:txBody>
      </p:sp>
      <p:sp>
        <p:nvSpPr>
          <p:cNvPr id="22" name="TextBox 21"/>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Source documents are untrusted data. The AI has no tools or authority to change the ranking.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12 · VERIFICATION</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What the checks establish</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13 / 14</a:t>
            </a:r>
          </a:p>
        </p:txBody>
      </p:sp>
      <p:sp>
        <p:nvSpPr>
          <p:cNvPr id="10" name="Rounded Rectangle 9"/>
          <p:cNvSpPr/>
          <p:nvPr/>
        </p:nvSpPr>
        <p:spPr>
          <a:xfrm>
            <a:off x="594360" y="1810512"/>
            <a:ext cx="5394960" cy="3858768"/>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011680"/>
            <a:ext cx="4919472" cy="411480"/>
          </a:xfrm>
          <a:prstGeom prst="rect">
            <a:avLst/>
          </a:prstGeom>
          <a:noFill/>
        </p:spPr>
        <p:txBody>
          <a:bodyPr wrap="square" lIns="9144" rIns="9144" tIns="0" bIns="0">
            <a:spAutoFit/>
          </a:bodyPr>
          <a:lstStyle/>
          <a:p>
            <a:pPr>
              <a:spcAft>
                <a:spcPts val="0"/>
              </a:spcAft>
              <a:defRPr sz="2300" b="1">
                <a:solidFill>
                  <a:srgbClr val="18704C"/>
                </a:solidFill>
                <a:latin typeface="Aptos"/>
              </a:defRPr>
            </a:pPr>
            <a:r>
              <a:t>Automated verification</a:t>
            </a:r>
          </a:p>
        </p:txBody>
      </p:sp>
      <p:sp>
        <p:nvSpPr>
          <p:cNvPr id="12" name="TextBox 11"/>
          <p:cNvSpPr txBox="1"/>
          <p:nvPr/>
        </p:nvSpPr>
        <p:spPr>
          <a:xfrm>
            <a:off x="822960" y="2697480"/>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Budget and time boundaries; missing-data handling</a:t>
            </a:r>
          </a:p>
        </p:txBody>
      </p:sp>
      <p:sp>
        <p:nvSpPr>
          <p:cNvPr id="13" name="TextBox 12"/>
          <p:cNvSpPr txBox="1"/>
          <p:nvPr/>
        </p:nvSpPr>
        <p:spPr>
          <a:xfrm>
            <a:off x="822960" y="3364992"/>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All five topics and custom criteria</a:t>
            </a:r>
          </a:p>
        </p:txBody>
      </p:sp>
      <p:sp>
        <p:nvSpPr>
          <p:cNvPr id="14" name="TextBox 13"/>
          <p:cNvSpPr txBox="1"/>
          <p:nvPr/>
        </p:nvSpPr>
        <p:spPr>
          <a:xfrm>
            <a:off x="822960" y="4032504"/>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Python/JavaScript response parity</a:t>
            </a:r>
          </a:p>
        </p:txBody>
      </p:sp>
      <p:sp>
        <p:nvSpPr>
          <p:cNvPr id="15" name="TextBox 14"/>
          <p:cNvSpPr txBox="1"/>
          <p:nvPr/>
        </p:nvSpPr>
        <p:spPr>
          <a:xfrm>
            <a:off x="822960" y="4700016"/>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Mocked provider requests, citations and safe errors</a:t>
            </a:r>
          </a:p>
        </p:txBody>
      </p:sp>
      <p:sp>
        <p:nvSpPr>
          <p:cNvPr id="16" name="Rounded Rectangle 15"/>
          <p:cNvSpPr/>
          <p:nvPr/>
        </p:nvSpPr>
        <p:spPr>
          <a:xfrm>
            <a:off x="6190488" y="1810512"/>
            <a:ext cx="5394960" cy="3858768"/>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011680"/>
            <a:ext cx="4919472" cy="411480"/>
          </a:xfrm>
          <a:prstGeom prst="rect">
            <a:avLst/>
          </a:prstGeom>
          <a:noFill/>
        </p:spPr>
        <p:txBody>
          <a:bodyPr wrap="square" lIns="9144" rIns="9144" tIns="0" bIns="0">
            <a:spAutoFit/>
          </a:bodyPr>
          <a:lstStyle/>
          <a:p>
            <a:pPr>
              <a:spcAft>
                <a:spcPts val="0"/>
              </a:spcAft>
              <a:defRPr sz="2300" b="1">
                <a:solidFill>
                  <a:srgbClr val="255EC9"/>
                </a:solidFill>
                <a:latin typeface="Aptos"/>
              </a:defRPr>
            </a:pPr>
            <a:r>
              <a:t>Separate live acceptance</a:t>
            </a:r>
          </a:p>
        </p:txBody>
      </p:sp>
      <p:sp>
        <p:nvSpPr>
          <p:cNvPr id="18" name="TextBox 17"/>
          <p:cNvSpPr txBox="1"/>
          <p:nvPr/>
        </p:nvSpPr>
        <p:spPr>
          <a:xfrm>
            <a:off x="6419088" y="2697480"/>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Run the live check with your own API account</a:t>
            </a:r>
          </a:p>
        </p:txBody>
      </p:sp>
      <p:sp>
        <p:nvSpPr>
          <p:cNvPr id="19" name="TextBox 18"/>
          <p:cNvSpPr txBox="1"/>
          <p:nvPr/>
        </p:nvSpPr>
        <p:spPr>
          <a:xfrm>
            <a:off x="6419088" y="3364992"/>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Confirm the actual model responds</a:t>
            </a:r>
          </a:p>
        </p:txBody>
      </p:sp>
      <p:sp>
        <p:nvSpPr>
          <p:cNvPr id="20" name="TextBox 19"/>
          <p:cNvSpPr txBox="1"/>
          <p:nvPr/>
        </p:nvSpPr>
        <p:spPr>
          <a:xfrm>
            <a:off x="6419088" y="4032504"/>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Check the cited answer in the desktop window</a:t>
            </a:r>
          </a:p>
        </p:txBody>
      </p:sp>
      <p:sp>
        <p:nvSpPr>
          <p:cNvPr id="21" name="TextBox 20"/>
          <p:cNvSpPr txBox="1"/>
          <p:nvPr/>
        </p:nvSpPr>
        <p:spPr>
          <a:xfrm>
            <a:off x="6419088" y="4700016"/>
            <a:ext cx="4892040" cy="658368"/>
          </a:xfrm>
          <a:prstGeom prst="rect">
            <a:avLst/>
          </a:prstGeom>
          <a:noFill/>
        </p:spPr>
        <p:txBody>
          <a:bodyPr wrap="square" lIns="9144" rIns="9144" tIns="0" bIns="0">
            <a:spAutoFit/>
          </a:bodyPr>
          <a:lstStyle/>
          <a:p>
            <a:pPr>
              <a:spcAft>
                <a:spcPts val="0"/>
              </a:spcAft>
              <a:defRPr sz="1800" b="0">
                <a:solidFill>
                  <a:srgbClr val="17243B"/>
                </a:solidFill>
                <a:latin typeface="Aptos"/>
              </a:defRPr>
            </a:pPr>
            <a:r>
              <a:t>• Review answer quality on your own selected data</a:t>
            </a:r>
          </a:p>
        </p:txBody>
      </p:sp>
      <p:sp>
        <p:nvSpPr>
          <p:cNvPr id="22" name="TextBox 21"/>
          <p:cNvSpPr txBox="1"/>
          <p:nvPr/>
        </p:nvSpPr>
        <p:spPr>
          <a:xfrm>
            <a:off x="640080" y="5833872"/>
            <a:ext cx="10927080" cy="411480"/>
          </a:xfrm>
          <a:prstGeom prst="rect">
            <a:avLst/>
          </a:prstGeom>
          <a:noFill/>
        </p:spPr>
        <p:txBody>
          <a:bodyPr wrap="square" lIns="9144" rIns="9144" tIns="0" bIns="0">
            <a:spAutoFit/>
          </a:bodyPr>
          <a:lstStyle/>
          <a:p>
            <a:pPr>
              <a:spcAft>
                <a:spcPts val="0"/>
              </a:spcAft>
              <a:defRPr sz="1600" b="0">
                <a:solidFill>
                  <a:srgbClr val="526078"/>
                </a:solidFill>
                <a:latin typeface="Aptos"/>
              </a:defRPr>
            </a:pPr>
            <a:r>
              <a:t>A mocked API test does not establish live account access or answer quality.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Rectangle 1"/>
          <p:cNvSpPr/>
          <p:nvPr/>
        </p:nvSpPr>
        <p:spPr>
          <a:xfrm>
            <a:off x="594360" y="365760"/>
            <a:ext cx="228600" cy="50292"/>
          </a:xfrm>
          <a:prstGeom prst="rect">
            <a:avLst/>
          </a:prstGeom>
          <a:solidFill>
            <a:srgbClr val="B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65760"/>
            <a:ext cx="228600" cy="50292"/>
          </a:xfrm>
          <a:prstGeom prst="rect">
            <a:avLst/>
          </a:prstGeom>
          <a:solidFill>
            <a:srgbClr val="187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 y="365760"/>
            <a:ext cx="228600" cy="50292"/>
          </a:xfrm>
          <a:prstGeom prst="rect">
            <a:avLst/>
          </a:prstGeom>
          <a:solidFill>
            <a:srgbClr val="255E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80160" y="365760"/>
            <a:ext cx="228600" cy="50292"/>
          </a:xfrm>
          <a:prstGeom prst="rect">
            <a:avLst/>
          </a:prstGeom>
          <a:solidFill>
            <a:srgbClr val="8A63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566928"/>
            <a:ext cx="10881360" cy="256032"/>
          </a:xfrm>
          <a:prstGeom prst="rect">
            <a:avLst/>
          </a:prstGeom>
          <a:noFill/>
        </p:spPr>
        <p:txBody>
          <a:bodyPr wrap="square" lIns="9144" rIns="9144" tIns="0" bIns="0">
            <a:spAutoFit/>
          </a:bodyPr>
          <a:lstStyle/>
          <a:p>
            <a:pPr>
              <a:spcAft>
                <a:spcPts val="0"/>
              </a:spcAft>
              <a:defRPr sz="1100" b="1">
                <a:solidFill>
                  <a:srgbClr val="255EC9"/>
                </a:solidFill>
                <a:latin typeface="Aptos"/>
              </a:defRPr>
            </a:pPr>
            <a:r>
              <a:t>13 · DEMO + DISCUSSION</a:t>
            </a:r>
          </a:p>
        </p:txBody>
      </p:sp>
      <p:sp>
        <p:nvSpPr>
          <p:cNvPr id="7" name="TextBox 6"/>
          <p:cNvSpPr txBox="1"/>
          <p:nvPr/>
        </p:nvSpPr>
        <p:spPr>
          <a:xfrm>
            <a:off x="594360" y="932688"/>
            <a:ext cx="10972800" cy="685800"/>
          </a:xfrm>
          <a:prstGeom prst="rect">
            <a:avLst/>
          </a:prstGeom>
          <a:noFill/>
        </p:spPr>
        <p:txBody>
          <a:bodyPr wrap="square" lIns="9144" rIns="9144" tIns="0" bIns="0">
            <a:spAutoFit/>
          </a:bodyPr>
          <a:lstStyle/>
          <a:p>
            <a:pPr>
              <a:spcAft>
                <a:spcPts val="0"/>
              </a:spcAft>
              <a:defRPr sz="3400" b="1">
                <a:solidFill>
                  <a:srgbClr val="17243B"/>
                </a:solidFill>
                <a:latin typeface="Aptos"/>
              </a:defRPr>
            </a:pPr>
            <a:r>
              <a:t>Demo it, explain it, check it</a:t>
            </a:r>
          </a:p>
        </p:txBody>
      </p:sp>
      <p:sp>
        <p:nvSpPr>
          <p:cNvPr id="8" name="TextBox 7"/>
          <p:cNvSpPr txBox="1"/>
          <p:nvPr/>
        </p:nvSpPr>
        <p:spPr>
          <a:xfrm>
            <a:off x="594360" y="6455664"/>
            <a:ext cx="9875520" cy="182880"/>
          </a:xfrm>
          <a:prstGeom prst="rect">
            <a:avLst/>
          </a:prstGeom>
          <a:noFill/>
        </p:spPr>
        <p:txBody>
          <a:bodyPr wrap="square" lIns="9144" rIns="9144" tIns="0" bIns="0">
            <a:spAutoFit/>
          </a:bodyPr>
          <a:lstStyle/>
          <a:p>
            <a:pPr>
              <a:spcAft>
                <a:spcPts val="0"/>
              </a:spcAft>
              <a:defRPr sz="900" b="0">
                <a:solidFill>
                  <a:srgbClr val="526078"/>
                </a:solidFill>
                <a:latin typeface="Aptos"/>
              </a:defRPr>
            </a:pPr>
            <a:r>
              <a:t>JINNI · CODE WALKTHROUGH · FICTIONAL DEMO DATA</a:t>
            </a:r>
          </a:p>
        </p:txBody>
      </p:sp>
      <p:sp>
        <p:nvSpPr>
          <p:cNvPr id="9" name="TextBox 8"/>
          <p:cNvSpPr txBox="1"/>
          <p:nvPr/>
        </p:nvSpPr>
        <p:spPr>
          <a:xfrm>
            <a:off x="11064240" y="6419088"/>
            <a:ext cx="594360" cy="228600"/>
          </a:xfrm>
          <a:prstGeom prst="rect">
            <a:avLst/>
          </a:prstGeom>
          <a:noFill/>
        </p:spPr>
        <p:txBody>
          <a:bodyPr wrap="square" lIns="9144" rIns="9144" tIns="0" bIns="0">
            <a:spAutoFit/>
          </a:bodyPr>
          <a:lstStyle/>
          <a:p>
            <a:pPr>
              <a:spcAft>
                <a:spcPts val="0"/>
              </a:spcAft>
              <a:defRPr sz="1000" b="0">
                <a:solidFill>
                  <a:srgbClr val="526078"/>
                </a:solidFill>
                <a:latin typeface="Aptos"/>
              </a:defRPr>
            </a:pPr>
            <a:r>
              <a:t>14 / 14</a:t>
            </a:r>
          </a:p>
        </p:txBody>
      </p:sp>
      <p:sp>
        <p:nvSpPr>
          <p:cNvPr id="10" name="Rounded Rectangle 9"/>
          <p:cNvSpPr/>
          <p:nvPr/>
        </p:nvSpPr>
        <p:spPr>
          <a:xfrm>
            <a:off x="594360" y="1828800"/>
            <a:ext cx="411480" cy="41148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1883664"/>
            <a:ext cx="228600" cy="274320"/>
          </a:xfrm>
          <a:prstGeom prst="rect">
            <a:avLst/>
          </a:prstGeom>
          <a:noFill/>
        </p:spPr>
        <p:txBody>
          <a:bodyPr wrap="square" lIns="9144" rIns="9144" tIns="0" bIns="0">
            <a:spAutoFit/>
          </a:bodyPr>
          <a:lstStyle/>
          <a:p>
            <a:pPr>
              <a:spcAft>
                <a:spcPts val="0"/>
              </a:spcAft>
              <a:defRPr sz="1600" b="1">
                <a:solidFill>
                  <a:srgbClr val="BC3045"/>
                </a:solidFill>
                <a:latin typeface="Aptos"/>
              </a:defRPr>
            </a:pPr>
            <a:r>
              <a:t>1</a:t>
            </a:r>
          </a:p>
        </p:txBody>
      </p:sp>
      <p:sp>
        <p:nvSpPr>
          <p:cNvPr id="12" name="TextBox 11"/>
          <p:cNvSpPr txBox="1"/>
          <p:nvPr/>
        </p:nvSpPr>
        <p:spPr>
          <a:xfrm>
            <a:off x="1188720" y="1847088"/>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Compare the travel defaults: train, £18.00 and 70 minutes.</a:t>
            </a:r>
          </a:p>
        </p:txBody>
      </p:sp>
      <p:sp>
        <p:nvSpPr>
          <p:cNvPr id="13" name="Rounded Rectangle 12"/>
          <p:cNvSpPr/>
          <p:nvPr/>
        </p:nvSpPr>
        <p:spPr>
          <a:xfrm>
            <a:off x="594360" y="2468880"/>
            <a:ext cx="411480" cy="411480"/>
          </a:xfrm>
          <a:prstGeom prst="roundRect">
            <a:avLst>
              <a:gd name="adj" fmla="val 8000"/>
            </a:avLst>
          </a:prstGeom>
          <a:solidFill>
            <a:srgbClr val="EA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2523744"/>
            <a:ext cx="228600" cy="274320"/>
          </a:xfrm>
          <a:prstGeom prst="rect">
            <a:avLst/>
          </a:prstGeom>
          <a:noFill/>
        </p:spPr>
        <p:txBody>
          <a:bodyPr wrap="square" lIns="9144" rIns="9144" tIns="0" bIns="0">
            <a:spAutoFit/>
          </a:bodyPr>
          <a:lstStyle/>
          <a:p>
            <a:pPr>
              <a:spcAft>
                <a:spcPts val="0"/>
              </a:spcAft>
              <a:defRPr sz="1600" b="1">
                <a:solidFill>
                  <a:srgbClr val="18704C"/>
                </a:solidFill>
                <a:latin typeface="Aptos"/>
              </a:defRPr>
            </a:pPr>
            <a:r>
              <a:t>2</a:t>
            </a:r>
          </a:p>
        </p:txBody>
      </p:sp>
      <p:sp>
        <p:nvSpPr>
          <p:cNvPr id="15" name="TextBox 14"/>
          <p:cNvSpPr txBox="1"/>
          <p:nvPr/>
        </p:nvSpPr>
        <p:spPr>
          <a:xfrm>
            <a:off x="1188720" y="2487168"/>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Choose price-only importance and an £8 / 180-minute limit: coach.</a:t>
            </a:r>
          </a:p>
        </p:txBody>
      </p:sp>
      <p:sp>
        <p:nvSpPr>
          <p:cNvPr id="16" name="Rounded Rectangle 15"/>
          <p:cNvSpPr/>
          <p:nvPr/>
        </p:nvSpPr>
        <p:spPr>
          <a:xfrm>
            <a:off x="594360" y="3108960"/>
            <a:ext cx="411480" cy="411480"/>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3163824"/>
            <a:ext cx="228600" cy="274320"/>
          </a:xfrm>
          <a:prstGeom prst="rect">
            <a:avLst/>
          </a:prstGeom>
          <a:noFill/>
        </p:spPr>
        <p:txBody>
          <a:bodyPr wrap="square" lIns="9144" rIns="9144" tIns="0" bIns="0">
            <a:spAutoFit/>
          </a:bodyPr>
          <a:lstStyle/>
          <a:p>
            <a:pPr>
              <a:spcAft>
                <a:spcPts val="0"/>
              </a:spcAft>
              <a:defRPr sz="1600" b="1">
                <a:solidFill>
                  <a:srgbClr val="255EC9"/>
                </a:solidFill>
                <a:latin typeface="Aptos"/>
              </a:defRPr>
            </a:pPr>
            <a:r>
              <a:t>3</a:t>
            </a:r>
          </a:p>
        </p:txBody>
      </p:sp>
      <p:sp>
        <p:nvSpPr>
          <p:cNvPr id="18" name="TextBox 17"/>
          <p:cNvSpPr txBox="1"/>
          <p:nvPr/>
        </p:nvSpPr>
        <p:spPr>
          <a:xfrm>
            <a:off x="1188720" y="3127248"/>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Ask OpenAI to explain the result; inspect the returned quote.</a:t>
            </a:r>
          </a:p>
        </p:txBody>
      </p:sp>
      <p:sp>
        <p:nvSpPr>
          <p:cNvPr id="19" name="Rounded Rectangle 18"/>
          <p:cNvSpPr/>
          <p:nvPr/>
        </p:nvSpPr>
        <p:spPr>
          <a:xfrm>
            <a:off x="594360" y="3749039"/>
            <a:ext cx="411480" cy="411480"/>
          </a:xfrm>
          <a:prstGeom prst="roundRect">
            <a:avLst>
              <a:gd name="adj" fmla="val 8000"/>
            </a:avLst>
          </a:prstGeom>
          <a:solidFill>
            <a:srgbClr val="FFF7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3803903"/>
            <a:ext cx="228600" cy="274320"/>
          </a:xfrm>
          <a:prstGeom prst="rect">
            <a:avLst/>
          </a:prstGeom>
          <a:noFill/>
        </p:spPr>
        <p:txBody>
          <a:bodyPr wrap="square" lIns="9144" rIns="9144" tIns="0" bIns="0">
            <a:spAutoFit/>
          </a:bodyPr>
          <a:lstStyle/>
          <a:p>
            <a:pPr>
              <a:spcAft>
                <a:spcPts val="0"/>
              </a:spcAft>
              <a:defRPr sz="1600" b="1">
                <a:solidFill>
                  <a:srgbClr val="8A630A"/>
                </a:solidFill>
                <a:latin typeface="Aptos"/>
              </a:defRPr>
            </a:pPr>
            <a:r>
              <a:t>4</a:t>
            </a:r>
          </a:p>
        </p:txBody>
      </p:sp>
      <p:sp>
        <p:nvSpPr>
          <p:cNvPr id="21" name="TextBox 20"/>
          <p:cNvSpPr txBox="1"/>
          <p:nvPr/>
        </p:nvSpPr>
        <p:spPr>
          <a:xfrm>
            <a:off x="1188720" y="3767327"/>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Reduce the budget to £7.99: show no match.</a:t>
            </a:r>
          </a:p>
        </p:txBody>
      </p:sp>
      <p:sp>
        <p:nvSpPr>
          <p:cNvPr id="22" name="Rounded Rectangle 21"/>
          <p:cNvSpPr/>
          <p:nvPr/>
        </p:nvSpPr>
        <p:spPr>
          <a:xfrm>
            <a:off x="594360" y="4389120"/>
            <a:ext cx="411480" cy="411480"/>
          </a:xfrm>
          <a:prstGeom prst="roundRect">
            <a:avLst>
              <a:gd name="adj" fmla="val 8000"/>
            </a:avLst>
          </a:prstGeom>
          <a:solidFill>
            <a:srgbClr val="FF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4443983"/>
            <a:ext cx="228600" cy="274320"/>
          </a:xfrm>
          <a:prstGeom prst="rect">
            <a:avLst/>
          </a:prstGeom>
          <a:noFill/>
        </p:spPr>
        <p:txBody>
          <a:bodyPr wrap="square" lIns="9144" rIns="9144" tIns="0" bIns="0">
            <a:spAutoFit/>
          </a:bodyPr>
          <a:lstStyle/>
          <a:p>
            <a:pPr>
              <a:spcAft>
                <a:spcPts val="0"/>
              </a:spcAft>
              <a:defRPr sz="1600" b="1">
                <a:solidFill>
                  <a:srgbClr val="BC3045"/>
                </a:solidFill>
                <a:latin typeface="Aptos"/>
              </a:defRPr>
            </a:pPr>
            <a:r>
              <a:t>5</a:t>
            </a:r>
          </a:p>
        </p:txBody>
      </p:sp>
      <p:sp>
        <p:nvSpPr>
          <p:cNvPr id="24" name="TextBox 23"/>
          <p:cNvSpPr txBox="1"/>
          <p:nvPr/>
        </p:nvSpPr>
        <p:spPr>
          <a:xfrm>
            <a:off x="1188720" y="4407407"/>
            <a:ext cx="10149840" cy="548640"/>
          </a:xfrm>
          <a:prstGeom prst="rect">
            <a:avLst/>
          </a:prstGeom>
          <a:noFill/>
        </p:spPr>
        <p:txBody>
          <a:bodyPr wrap="square" lIns="9144" rIns="9144" tIns="0" bIns="0">
            <a:spAutoFit/>
          </a:bodyPr>
          <a:lstStyle/>
          <a:p>
            <a:pPr>
              <a:spcAft>
                <a:spcPts val="0"/>
              </a:spcAft>
              <a:defRPr sz="2000" b="0">
                <a:solidFill>
                  <a:srgbClr val="17243B"/>
                </a:solidFill>
                <a:latin typeface="Aptos"/>
              </a:defRPr>
            </a:pPr>
            <a:r>
              <a:t>Explain one code path from the UI to the engine and back.</a:t>
            </a:r>
          </a:p>
        </p:txBody>
      </p:sp>
      <p:sp>
        <p:nvSpPr>
          <p:cNvPr id="25" name="Rounded Rectangle 24"/>
          <p:cNvSpPr/>
          <p:nvPr/>
        </p:nvSpPr>
        <p:spPr>
          <a:xfrm>
            <a:off x="594360" y="5394960"/>
            <a:ext cx="11000232" cy="749808"/>
          </a:xfrm>
          <a:prstGeom prst="roundRect">
            <a:avLst>
              <a:gd name="adj" fmla="val 8000"/>
            </a:avLst>
          </a:prstGeom>
          <a:solidFill>
            <a:srgbClr val="ED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559552"/>
            <a:ext cx="10469880" cy="530352"/>
          </a:xfrm>
          <a:prstGeom prst="rect">
            <a:avLst/>
          </a:prstGeom>
          <a:noFill/>
        </p:spPr>
        <p:txBody>
          <a:bodyPr wrap="square" lIns="9144" rIns="9144" tIns="0" bIns="0">
            <a:spAutoFit/>
          </a:bodyPr>
          <a:lstStyle/>
          <a:p>
            <a:pPr>
              <a:spcAft>
                <a:spcPts val="0"/>
              </a:spcAft>
              <a:defRPr sz="1700" b="1">
                <a:solidFill>
                  <a:srgbClr val="255EC9"/>
                </a:solidFill>
                <a:latin typeface="Aptos"/>
              </a:defRPr>
            </a:pPr>
            <a:r>
              <a:t>Optional live check: uv run python -m scripts.verify_openai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Jinni — code walkthrough and OpenAI analysis</dc:title>
  <dc:subject>Code documentation, OpenAI setup and evidence boundaries</dc:subject>
  <dc:creator>Jinni project</dc:creator>
  <cp:keywords>Jinni, code walkthrough, OpenAI, fictional data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