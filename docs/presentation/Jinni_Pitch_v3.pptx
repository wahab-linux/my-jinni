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1875f4923542d6" /><Relationship Type="http://schemas.openxmlformats.org/officeDocument/2006/relationships/extended-properties" Target="/docProps/app.xml" Id="R84c4087b7149488c" /><Relationship Type="http://schemas.openxmlformats.org/officeDocument/2006/relationships/officeDocument" Target="/ppt/presentation.xml" Id="R00e3d75c73514e72" /></Relationships>
</file>

<file path=ppt/presentation.xml><?xml version="1.0" encoding="utf-8"?>
<p:presentation xmlns:p="http://schemas.openxmlformats.org/presentationml/2006/main">
  <p:sldMasterIdLst>
    <p:sldMasterId xmlns:r="http://schemas.openxmlformats.org/officeDocument/2006/relationships" id="2147483648" r:id="R96a7a216acbd4d76"/>
  </p:sldMasterIdLst>
  <p:notesMasterIdLst>
    <p:notesMasterId xmlns:r="http://schemas.openxmlformats.org/officeDocument/2006/relationships" r:id="Rf3f2e358232c462e"/>
  </p:notesMasterIdLst>
  <p:sldIdLst>
    <p:sldId xmlns:r="http://schemas.openxmlformats.org/officeDocument/2006/relationships" id="256" r:id="R530af0a748884e6d"/>
    <p:sldId xmlns:r="http://schemas.openxmlformats.org/officeDocument/2006/relationships" id="257" r:id="R35295567fb3f4d7d"/>
    <p:sldId xmlns:r="http://schemas.openxmlformats.org/officeDocument/2006/relationships" id="258" r:id="R2978615e4aa342c2"/>
    <p:sldId xmlns:r="http://schemas.openxmlformats.org/officeDocument/2006/relationships" id="259" r:id="R7daf2ceff1944d86"/>
    <p:sldId xmlns:r="http://schemas.openxmlformats.org/officeDocument/2006/relationships" id="260" r:id="R2f79d20ae1e74b53"/>
    <p:sldId xmlns:r="http://schemas.openxmlformats.org/officeDocument/2006/relationships" id="261" r:id="Rb086fc1149234734"/>
    <p:sldId xmlns:r="http://schemas.openxmlformats.org/officeDocument/2006/relationships" id="262" r:id="Rf94391ea20e94556"/>
    <p:sldId xmlns:r="http://schemas.openxmlformats.org/officeDocument/2006/relationships" id="263" r:id="Ra21a56dbda6048f1"/>
    <p:sldId xmlns:r="http://schemas.openxmlformats.org/officeDocument/2006/relationships" id="264" r:id="R94e0e963718146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3f10452b9d46ec" /><Relationship Type="http://schemas.openxmlformats.org/officeDocument/2006/relationships/slideMaster" Target="/ppt/slideMasters/slideMaster1.xml" Id="R96a7a216acbd4d76" /><Relationship Type="http://schemas.openxmlformats.org/officeDocument/2006/relationships/notesMaster" Target="/ppt/notesMasters/notesMaster1.xml" Id="Rf3f2e358232c462e" /><Relationship Type="http://schemas.openxmlformats.org/officeDocument/2006/relationships/presProps" Target="/ppt/presProps.xml" Id="R080539b340f3446b" /><Relationship Type="http://schemas.openxmlformats.org/officeDocument/2006/relationships/tableStyles" Target="/ppt/tableStyles.xml" Id="R0e0d752539f34e26" /><Relationship Type="http://schemas.openxmlformats.org/officeDocument/2006/relationships/slide" Target="/ppt/slides/slide1.xml" Id="R530af0a748884e6d" /><Relationship Type="http://schemas.openxmlformats.org/officeDocument/2006/relationships/slide" Target="/ppt/slides/slide2.xml" Id="R35295567fb3f4d7d" /><Relationship Type="http://schemas.openxmlformats.org/officeDocument/2006/relationships/slide" Target="/ppt/slides/slide3.xml" Id="R2978615e4aa342c2" /><Relationship Type="http://schemas.openxmlformats.org/officeDocument/2006/relationships/slide" Target="/ppt/slides/slide4.xml" Id="R7daf2ceff1944d86" /><Relationship Type="http://schemas.openxmlformats.org/officeDocument/2006/relationships/slide" Target="/ppt/slides/slide5.xml" Id="R2f79d20ae1e74b53" /><Relationship Type="http://schemas.openxmlformats.org/officeDocument/2006/relationships/slide" Target="/ppt/slides/slide6.xml" Id="Rb086fc1149234734" /><Relationship Type="http://schemas.openxmlformats.org/officeDocument/2006/relationships/slide" Target="/ppt/slides/slide7.xml" Id="Rf94391ea20e94556" /><Relationship Type="http://schemas.openxmlformats.org/officeDocument/2006/relationships/slide" Target="/ppt/slides/slide8.xml" Id="Ra21a56dbda6048f1" /><Relationship Type="http://schemas.openxmlformats.org/officeDocument/2006/relationships/slide" Target="/ppt/slides/slide9.xml" Id="R94e0e963718146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7bf0e7b37d4b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574fd0842d4500" /><Relationship Type="http://schemas.openxmlformats.org/officeDocument/2006/relationships/notesMaster" Target="/ppt/notesMasters/notesMaster1.xml" Id="Rb51cfeafa5d843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f77df960cc42fa" /><Relationship Type="http://schemas.openxmlformats.org/officeDocument/2006/relationships/notesMaster" Target="/ppt/notesMasters/notesMaster1.xml" Id="Rac69b190241048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c2b0c982d84766" /><Relationship Type="http://schemas.openxmlformats.org/officeDocument/2006/relationships/notesMaster" Target="/ppt/notesMasters/notesMaster1.xml" Id="Rf6d06adc93974e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059379770141e9" /><Relationship Type="http://schemas.openxmlformats.org/officeDocument/2006/relationships/notesMaster" Target="/ppt/notesMasters/notesMaster1.xml" Id="R5926843f636148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c0d6eb632f4d0e" /><Relationship Type="http://schemas.openxmlformats.org/officeDocument/2006/relationships/notesMaster" Target="/ppt/notesMasters/notesMaster1.xml" Id="R388c642313d04c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75e00cf5ca469e" /><Relationship Type="http://schemas.openxmlformats.org/officeDocument/2006/relationships/notesMaster" Target="/ppt/notesMasters/notesMaster1.xml" Id="Rc40ff660458342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6fed359da143fc" /><Relationship Type="http://schemas.openxmlformats.org/officeDocument/2006/relationships/notesMaster" Target="/ppt/notesMasters/notesMaster1.xml" Id="R824cac439a9a4a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9acae0b2764982" /><Relationship Type="http://schemas.openxmlformats.org/officeDocument/2006/relationships/notesMaster" Target="/ppt/notesMasters/notesMaster1.xml" Id="Rd70f743339ae4e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28087af422408f" /><Relationship Type="http://schemas.openxmlformats.org/officeDocument/2006/relationships/notesMaster" Target="/ppt/notesMasters/notesMaster1.xml" Id="R96cc4106ec3149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we are Theo and Wahab from Team 39. This is Jinni. It brings separate sources into one decision workspace. You set the conditions, compare the choices, and check the evidence. Our built-in examples use fictional data.</a:t>
            </a:r>
          </a:p>
          <a:p xmlns:a="http://schemas.openxmlformats.org/drawingml/2006/main">
            <a:r>
              <a:t/>
            </a:r>
          </a:p>
          <a:p xmlns:a="http://schemas.openxmlformats.org/drawingml/2006/main">
            <a:r>
              <a:t>Repository evidence:</a:t>
            </a:r>
          </a:p>
          <a:p xmlns:a="http://schemas.openxmlformats.org/drawingml/2006/main">
            <a:r>
              <a:t>- README.md</a:t>
            </a:r>
          </a:p>
          <a:p xmlns:a="http://schemas.openxmlformats.org/drawingml/2006/main">
            <a:r>
              <a:t>- docs/GENERAL_DECISIONS.md</a:t>
            </a:r>
          </a:p>
          <a:p xmlns:a="http://schemas.openxmlformats.org/drawingml/2006/main">
            <a:r>
              <a:t>- web/icon.svg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 Maya, our fictional user. She needs one journey within twenty-five pounds and three hours. The catalog names the choices. A separate feed adds their measurements. Neither feed alone gives a complete comparison. Jinni joins them and applies Maya's conditions.</a:t>
            </a:r>
          </a:p>
          <a:p xmlns:a="http://schemas.openxmlformats.org/drawingml/2006/main">
            <a:r>
              <a:t/>
            </a:r>
          </a:p>
          <a:p xmlns:a="http://schemas.openxmlformats.org/drawingml/2006/main">
            <a:r>
              <a:t>Repository evidence:</a:t>
            </a:r>
          </a:p>
          <a:p xmlns:a="http://schemas.openxmlformats.org/drawingml/2006/main">
            <a:r>
              <a:t>- data/decisions/travel-options.json</a:t>
            </a:r>
          </a:p>
          <a:p xmlns:a="http://schemas.openxmlformats.org/drawingml/2006/main">
            <a:r>
              <a:t>- data/decisions/travel-metrics.json</a:t>
            </a:r>
          </a:p>
          <a:p xmlns:a="http://schemas.openxmlformats.org/drawingml/2006/main">
            <a:r>
              <a:t>- app/comparison/adapters.py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shared workspace. Conditions and selected sources sit on the left. The comparison stays in the middle. Ask AI stays beside it in the desktop app. We keep the calculated result separate from AI suggestions.</a:t>
            </a:r>
          </a:p>
          <a:p xmlns:a="http://schemas.openxmlformats.org/drawingml/2006/main">
            <a:r>
              <a:t/>
            </a:r>
          </a:p>
          <a:p xmlns:a="http://schemas.openxmlformats.org/drawingml/2006/main">
            <a:r>
              <a:t>Repository evidence:</a:t>
            </a:r>
          </a:p>
          <a:p xmlns:a="http://schemas.openxmlformats.org/drawingml/2006/main">
            <a:r>
              <a:t>- web/index.html</a:t>
            </a:r>
          </a:p>
          <a:p xmlns:a="http://schemas.openxmlformats.org/drawingml/2006/main">
            <a:r>
              <a:t>- web/decision-app.mjs</a:t>
            </a:r>
          </a:p>
          <a:p xmlns:a="http://schemas.openxmlformats.org/drawingml/2006/main">
            <a:r>
              <a:t>- web/desktop-ai.mjs</a:t>
            </a:r>
          </a:p>
          <a:p xmlns:a="http://schemas.openxmlformats.org/drawingml/2006/main">
            <a:r>
              <a:t>- docs/AI_OPTIONS.md</a:t>
            </a:r>
          </a:p>
          <a:p xmlns:a="http://schemas.openxmlformats.org/drawingml/2006/main">
            <a:r>
              <a:t>- docs/presentation/assets/pitch-comparison.png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Maya's budget is twenty-five pounds and her time limit is three hours. Train and coach fit. Flight and taxi cost too much. Cycling takes too long. We then score the feasible choices using Maya's priorities. No API key is needed.</a:t>
            </a:r>
          </a:p>
          <a:p xmlns:a="http://schemas.openxmlformats.org/drawingml/2006/main">
            <a:r>
              <a:t/>
            </a:r>
          </a:p>
          <a:p xmlns:a="http://schemas.openxmlformats.org/drawingml/2006/main">
            <a:r>
              <a:t>Repository evidence:</a:t>
            </a:r>
          </a:p>
          <a:p xmlns:a="http://schemas.openxmlformats.org/drawingml/2006/main">
            <a:r>
              <a:t>- data/decisions/travel-options.json</a:t>
            </a:r>
          </a:p>
          <a:p xmlns:a="http://schemas.openxmlformats.org/drawingml/2006/main">
            <a:r>
              <a:t>- data/decisions/travel-metrics.json</a:t>
            </a:r>
          </a:p>
          <a:p xmlns:a="http://schemas.openxmlformats.org/drawingml/2006/main">
            <a:r>
              <a:t>- app/comparison/engine.py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import notes or a text PDF and select the evidence. Then ask a question or request new options. Each supported result has source quotations you can open. We check the quote against the selected passage. This does not prove every AI claim is true.</a:t>
            </a:r>
          </a:p>
          <a:p xmlns:a="http://schemas.openxmlformats.org/drawingml/2006/main">
            <a:r>
              <a:t/>
            </a:r>
          </a:p>
          <a:p xmlns:a="http://schemas.openxmlformats.org/drawingml/2006/main">
            <a:r>
              <a:t>Repository evidence:</a:t>
            </a:r>
          </a:p>
          <a:p xmlns:a="http://schemas.openxmlformats.org/drawingml/2006/main">
            <a:r>
              <a:t>- docs/AI_EXTENSION.md</a:t>
            </a:r>
          </a:p>
          <a:p xmlns:a="http://schemas.openxmlformats.org/drawingml/2006/main">
            <a:r>
              <a:t>- docs/AI_OPTIONS.md</a:t>
            </a:r>
          </a:p>
          <a:p xmlns:a="http://schemas.openxmlformats.org/drawingml/2006/main">
            <a:r>
              <a:t>- tests/desktop/options-ui.cjs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and desktop use the same interface files. Desktop calls our local Python API. Browser uses matching JavaScript rules. AI names the selected provider. Keys are encrypted on this device, with an explicit delete control. Comparisons still work if AI fails. Theo handles the backend. Wahab handles the frontend and desktop interface.</a:t>
            </a:r>
          </a:p>
          <a:p xmlns:a="http://schemas.openxmlformats.org/drawingml/2006/main">
            <a:r>
              <a:t/>
            </a:r>
          </a:p>
          <a:p xmlns:a="http://schemas.openxmlformats.org/drawingml/2006/main">
            <a:r>
              <a:t>Repository evidence:</a:t>
            </a:r>
          </a:p>
          <a:p xmlns:a="http://schemas.openxmlformats.org/drawingml/2006/main">
            <a:r>
              <a:t>- docs/ARCHITECTURE.md</a:t>
            </a:r>
          </a:p>
          <a:p xmlns:a="http://schemas.openxmlformats.org/drawingml/2006/main">
            <a:r>
              <a:t>- docs/BROWSER.md</a:t>
            </a:r>
          </a:p>
          <a:p xmlns:a="http://schemas.openxmlformats.org/drawingml/2006/main">
            <a:r>
              <a:t>- web/platform.mjs</a:t>
            </a:r>
          </a:p>
          <a:p xmlns:a="http://schemas.openxmlformats.org/drawingml/2006/main">
            <a:r>
              <a:t>- docs/AI_PROVIDERS.md</a:t>
            </a:r>
          </a:p>
          <a:p xmlns:a="http://schemas.openxmlformats.org/drawingml/2006/main">
            <a:r>
              <a:t>- Team 39 role and encrypted-key storage confirmation, 2026-10-18</a:t>
            </a:r>
          </a:p>
          <a:p xmlns:a="http://schemas.openxmlformats.org/drawingml/2006/main">
            <a:br/>
            <a:br/>
            <a:r>
              <a:t>Judge detail: Development: Codex — GPT-6.1 Sol. Paid access used by at least one team member. AI usage: Level 5 (Vibe coded). Humans supplied requirements, product direction and code review. Codex generated implementation and tests. Runtime DeepSeek deepseek-flash verification is separate from the development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Maya can see the trade-off. The train is faster and has lower simulated emissions. The coach is cheaper. Her limits make both feasible, and her priorities decide the ranking. The same core also supports other scenarios and custom criteria. Next, we want verified live data adapters and user testing. Thank you.</a:t>
            </a:r>
          </a:p>
          <a:p xmlns:a="http://schemas.openxmlformats.org/drawingml/2006/main">
            <a:r>
              <a:t/>
            </a:r>
          </a:p>
          <a:p xmlns:a="http://schemas.openxmlformats.org/drawingml/2006/main">
            <a:r>
              <a:t>Repository evidence:</a:t>
            </a:r>
          </a:p>
          <a:p xmlns:a="http://schemas.openxmlformats.org/drawingml/2006/main">
            <a:r>
              <a:t>- docs/GENERAL_DECISIONS.md</a:t>
            </a:r>
          </a:p>
          <a:p xmlns:a="http://schemas.openxmlformats.org/drawingml/2006/main">
            <a:r>
              <a:t>- docs/AI_OPTIONS.md</a:t>
            </a:r>
          </a:p>
          <a:p xmlns:a="http://schemas.openxmlformats.org/drawingml/2006/main">
            <a:r>
              <a:t>- docs/REQUIREMENTS.md</a:t>
            </a:r>
          </a:p>
          <a:p xmlns:a="http://schemas.openxmlformats.org/drawingml/2006/main">
            <a:r>
              <a:t>- data/decisions/travel-metrics.json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layers are experience, pure decision logic and data integration. OpenAPI documents request and response models. Tests cover boundaries, ranking, both sources and failures. Hard limits come first. We normalize feasible options and apply weights. Unknown required data excludes a choice. AI proposals do not silently change measurements or scores.</a:t>
            </a:r>
          </a:p>
          <a:p xmlns:a="http://schemas.openxmlformats.org/drawingml/2006/main">
            <a:r>
              <a:t/>
            </a:r>
          </a:p>
          <a:p xmlns:a="http://schemas.openxmlformats.org/drawingml/2006/main">
            <a:r>
              <a:t>Repository evidence:</a:t>
            </a:r>
          </a:p>
          <a:p xmlns:a="http://schemas.openxmlformats.org/drawingml/2006/main">
            <a:r>
              <a:t>- app/comparison/engine.py</a:t>
            </a:r>
          </a:p>
          <a:p xmlns:a="http://schemas.openxmlformats.org/drawingml/2006/main">
            <a:r>
              <a:t>- docs/GENERAL_DECISIONS.md</a:t>
            </a:r>
          </a:p>
          <a:p xmlns:a="http://schemas.openxmlformats.org/drawingml/2006/main">
            <a:r>
              <a:t>- docs/AI_OPTIONS.md</a:t>
            </a:r>
          </a:p>
          <a:p xmlns:a="http://schemas.openxmlformats.org/drawingml/2006/main">
            <a:r>
              <a:t>- docs/openapi.json</a:t>
            </a:r>
          </a:p>
          <a:p xmlns:a="http://schemas.openxmlformats.org/drawingml/2006/main">
            <a:r>
              <a:t>-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Development: Codex — GPT-6.1 Sol. Paid access used by at least one team member. AI usage: Level 5 (Vibe coded). Theo owned backend work. Wahab owned the frontend and desktop interface. Humans supplied requirements, product direction and code review. Codex generated implementation and tests. Separately, two actual DeepSeek deepseek-flash API requests verified a cited answer and two cited option proposals. Desktop UI AI demonstrations used mocked providers. The preset data is fictional.</a:t>
            </a:r>
          </a:p>
          <a:p xmlns:a="http://schemas.openxmlformats.org/drawingml/2006/main">
            <a:r>
              <a:t/>
            </a:r>
          </a:p>
          <a:p xmlns:a="http://schemas.openxmlformats.org/drawingml/2006/main">
            <a:r>
              <a:t>Repository evidence:</a:t>
            </a:r>
          </a:p>
          <a:p xmlns:a="http://schemas.openxmlformats.org/drawingml/2006/main">
            <a:r>
              <a:t>- AGENTS.md</a:t>
            </a:r>
          </a:p>
          <a:p xmlns:a="http://schemas.openxmlformats.org/drawingml/2006/main">
            <a:r>
              <a:t>- docs/AI_EXTENSION.md</a:t>
            </a:r>
          </a:p>
          <a:p xmlns:a="http://schemas.openxmlformats.org/drawingml/2006/main">
            <a:r>
              <a:t>- docs/AI_OPTIONS.md</a:t>
            </a:r>
          </a:p>
          <a:p xmlns:a="http://schemas.openxmlformats.org/drawingml/2006/main">
            <a:r>
              <a:t>- docs/AI_USAGE.md</a:t>
            </a:r>
          </a:p>
          <a:p xmlns:a="http://schemas.openxmlformats.org/drawingml/2006/main">
            <a:r>
              <a:t>- Team 39 confirmed development model, paid access, roles and review; live DeepSeek API verification, 2026-10-18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b0b0d7980d43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a879b851e94f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3a72aacee040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6e5087aca94c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6c6ad2791e4a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21bef8887146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9718D3-762F-4C35-B489-BFB87F7A42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983FC0-A5A4-4EB2-859D-39CFCD48408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D1D547-8508-46FB-8A93-AAEC4484D8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DF0F02-7269-489F-98BF-C79E6307E8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CB5E3A-00E1-4D84-8FB8-04F285500F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1F16EA-61E3-4EA9-BC4F-57FE6076A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D9B7D5-C071-4C14-8E4F-6F4AC5FDF6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46865B-856F-4A89-986F-1AD91257BB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4BA187-24CE-40B7-98DB-E62DBAACB2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45CCAD-C484-41BD-8F9A-027F3A027D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57c9bc6d354e47" /><Relationship Type="http://schemas.openxmlformats.org/officeDocument/2006/relationships/slideLayout" Target="/ppt/slideLayouts/slideLayout1.xml" Id="R4a0641a5235c40a4" /><Relationship Type="http://schemas.openxmlformats.org/officeDocument/2006/relationships/slideLayout" Target="/ppt/slideLayouts/slideLayout2.xml" Id="Rc1457687ccae48f7" /><Relationship Type="http://schemas.openxmlformats.org/officeDocument/2006/relationships/slideLayout" Target="/ppt/slideLayouts/slideLayout3.xml" Id="R0611902e110b47e1" /><Relationship Type="http://schemas.openxmlformats.org/officeDocument/2006/relationships/slideLayout" Target="/ppt/slideLayouts/slideLayout4.xml" Id="Rb096d7b9ef014a1c" /><Relationship Type="http://schemas.openxmlformats.org/officeDocument/2006/relationships/slideLayout" Target="/ppt/slideLayouts/slideLayout5.xml" Id="Ra43f9619cc53468a" /><Relationship Type="http://schemas.openxmlformats.org/officeDocument/2006/relationships/slideLayout" Target="/ppt/slideLayouts/slideLayout6.xml" Id="R85191eecee8746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0641a5235c40a4"/>
    <p:sldLayoutId xmlns:r="http://schemas.openxmlformats.org/officeDocument/2006/relationships" id="2147483650" r:id="Rc1457687ccae48f7"/>
    <p:sldLayoutId xmlns:r="http://schemas.openxmlformats.org/officeDocument/2006/relationships" id="2147483651" r:id="R0611902e110b47e1"/>
    <p:sldLayoutId xmlns:r="http://schemas.openxmlformats.org/officeDocument/2006/relationships" id="2147483652" r:id="Rb096d7b9ef014a1c"/>
    <p:sldLayoutId xmlns:r="http://schemas.openxmlformats.org/officeDocument/2006/relationships" id="2147483653" r:id="Ra43f9619cc53468a"/>
    <p:sldLayoutId xmlns:r="http://schemas.openxmlformats.org/officeDocument/2006/relationships" id="2147483654" r:id="R85191eecee8746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b59419898d44d1" /><Relationship Type="http://schemas.openxmlformats.org/officeDocument/2006/relationships/image" Target="/ppt/media/image.png" Id="Rdc8081836c424c9c" /><Relationship Type="http://schemas.openxmlformats.org/officeDocument/2006/relationships/image" Target="/ppt/media/image.svg" Id="R1e8ee20c2aeb4a1f" /><Relationship Type="http://schemas.openxmlformats.org/officeDocument/2006/relationships/notesSlide" Target="/ppt/notesSlides/notesSlide1.xml" Id="R13edf0e5591b4c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5b9e78cb3648d5" /><Relationship Type="http://schemas.openxmlformats.org/officeDocument/2006/relationships/notesSlide" Target="/ppt/notesSlides/notesSlide2.xml" Id="R26260b5c6f3a4c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0a06ed4f0c4b3a" /><Relationship Type="http://schemas.openxmlformats.org/officeDocument/2006/relationships/image" Target="/ppt/media/image2.png" Id="R10b65d2089334a60" /><Relationship Type="http://schemas.openxmlformats.org/officeDocument/2006/relationships/notesSlide" Target="/ppt/notesSlides/notesSlide3.xml" Id="R82487bb62e164d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27e2f4f11b401c" /><Relationship Type="http://schemas.openxmlformats.org/officeDocument/2006/relationships/notesSlide" Target="/ppt/notesSlides/notesSlide4.xml" Id="R1672e7651f244e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8b316f27044a7b" /><Relationship Type="http://schemas.openxmlformats.org/officeDocument/2006/relationships/notesSlide" Target="/ppt/notesSlides/notesSlide5.xml" Id="R6ead1957faeb47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53cfcbc35d4181" /><Relationship Type="http://schemas.openxmlformats.org/officeDocument/2006/relationships/notesSlide" Target="/ppt/notesSlides/notesSlide6.xml" Id="R92758b796d9e4e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fde3e2ff574261" /><Relationship Type="http://schemas.openxmlformats.org/officeDocument/2006/relationships/notesSlide" Target="/ppt/notesSlides/notesSlide7.xml" Id="R0e5b5f531bb641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df4d71e10b478b" /><Relationship Type="http://schemas.openxmlformats.org/officeDocument/2006/relationships/notesSlide" Target="/ppt/notesSlides/notesSlide8.xml" Id="R9a3093d898424d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e6191c547d406a" /><Relationship Type="http://schemas.openxmlformats.org/officeDocument/2006/relationships/notesSlide" Target="/ppt/notesSlides/notesSlide9.xml" Id="R4e7bb019d886400d" /></Relationships>
</file>

<file path=ppt/slides/slide1.xml><?xml version="1.0" encoding="utf-8"?>
<p:sld xmlns:p="http://schemas.openxmlformats.org/presentationml/2006/main">
  <p:cSld>
    <p:bg>
      <p:bgPr>
        <a:solidFill xmlns:a="http://schemas.openxmlformats.org/drawingml/2006/main">
          <a:srgbClr val="24203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434037-02ED-4EB4-BE4F-AD5D073D52DA}"/>
              </a:ext>
            </a:extLst>
          </p:cNvPr>
          <p:cNvSpPr>
            <a:spLocks xmlns:a="http://schemas.openxmlformats.org/drawingml/2006/main" noGrp="1"/>
          </p:cNvSpPr>
          <p:nvPr/>
        </p:nvSpPr>
        <p:spPr>
          <a:xfrm xmlns:a="http://schemas.openxmlformats.org/drawingml/2006/main">
            <a:off x="762000" y="1504950"/>
            <a:ext cx="6953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400" b="1">
                <a:solidFill>
                  <a:srgbClr val="FFFFFF"/>
                </a:solidFill>
                <a:latin typeface="Arial"/>
                <a:ea typeface="Arial"/>
                <a:cs typeface="Arial"/>
              </a:defRPr>
            </a:defPPr>
            <a:lvl1pPr>
              <a:defRPr sz="8400" b="1">
                <a:solidFill>
                  <a:srgbClr val="FFFFFF"/>
                </a:solidFill>
                <a:latin typeface="Arial"/>
                <a:ea typeface="Arial"/>
                <a:cs typeface="Arial"/>
              </a:defRPr>
            </a:lvl1pPr>
            <a:lvl2pPr>
              <a:defRPr sz="8400" b="1">
                <a:solidFill>
                  <a:srgbClr val="FFFFFF"/>
                </a:solidFill>
                <a:latin typeface="Arial"/>
                <a:ea typeface="Arial"/>
                <a:cs typeface="Arial"/>
              </a:defRPr>
            </a:lvl2pPr>
            <a:lvl3pPr>
              <a:defRPr sz="8400" b="1">
                <a:solidFill>
                  <a:srgbClr val="FFFFFF"/>
                </a:solidFill>
                <a:latin typeface="Arial"/>
                <a:ea typeface="Arial"/>
                <a:cs typeface="Arial"/>
              </a:defRPr>
            </a:lvl3pPr>
            <a:lvl4pPr>
              <a:defRPr sz="8400" b="1">
                <a:solidFill>
                  <a:srgbClr val="FFFFFF"/>
                </a:solidFill>
                <a:latin typeface="Arial"/>
                <a:ea typeface="Arial"/>
                <a:cs typeface="Arial"/>
              </a:defRPr>
            </a:lvl4pPr>
            <a:lvl5pPr>
              <a:defRPr sz="8400" b="1">
                <a:solidFill>
                  <a:srgbClr val="FFFFFF"/>
                </a:solidFill>
                <a:latin typeface="Arial"/>
                <a:ea typeface="Arial"/>
                <a:cs typeface="Arial"/>
              </a:defRPr>
            </a:lvl5pPr>
            <a:lvl6pPr>
              <a:defRPr sz="8400" b="1">
                <a:solidFill>
                  <a:srgbClr val="FFFFFF"/>
                </a:solidFill>
                <a:latin typeface="Arial"/>
                <a:ea typeface="Arial"/>
                <a:cs typeface="Arial"/>
              </a:defRPr>
            </a:lvl6pPr>
            <a:lvl7pPr>
              <a:defRPr sz="8400" b="1">
                <a:solidFill>
                  <a:srgbClr val="FFFFFF"/>
                </a:solidFill>
                <a:latin typeface="Arial"/>
                <a:ea typeface="Arial"/>
                <a:cs typeface="Arial"/>
              </a:defRPr>
            </a:lvl7pPr>
            <a:lvl8pPr>
              <a:defRPr sz="8400" b="1">
                <a:solidFill>
                  <a:srgbClr val="FFFFFF"/>
                </a:solidFill>
                <a:latin typeface="Arial"/>
                <a:ea typeface="Arial"/>
                <a:cs typeface="Arial"/>
              </a:defRPr>
            </a:lvl8pPr>
            <a:lvl9pPr>
              <a:defRPr sz="8400" b="1">
                <a:solidFill>
                  <a:srgbClr val="FFFFFF"/>
                </a:solidFill>
                <a:latin typeface="Arial"/>
                <a:ea typeface="Arial"/>
                <a:cs typeface="Arial"/>
              </a:defRPr>
            </a:lvl9pPr>
          </a:lstStyle>
          <a:p xmlns:a="http://schemas.openxmlformats.org/drawingml/2006/main">
            <a:pPr>
              <a:defRPr sz="8400" b="1">
                <a:solidFill>
                  <a:srgbClr val="FFFFFF"/>
                </a:solidFill>
                <a:latin typeface="Arial"/>
                <a:ea typeface="Arial"/>
                <a:cs typeface="Arial"/>
              </a:defRPr>
            </a:pPr>
            <a:r>
              <a:rPr sz="8400" b="1">
                <a:solidFill>
                  <a:srgbClr val="FFFFFF"/>
                </a:solidFill>
                <a:latin typeface="Arial"/>
                <a:ea typeface="Arial"/>
                <a:cs typeface="Arial"/>
              </a:rPr>
              <a:t>Jinni</a:t>
            </a:r>
          </a:p>
        </p:txBody>
      </p:sp>
      <p:sp>
        <p:nvSpPr>
          <p:cNvPr id="2" name="">
            <a:extLst xmlns:a="http://schemas.openxmlformats.org/drawingml/2006/main">
              <a:ext uri="{FF2B5EF4-FFF2-40B4-BE49-F238E27FC236}">
                <a16:creationId xmlns:a16="http://schemas.microsoft.com/office/drawing/2014/main" id="{E78A0A9A-F8E2-432F-B93F-F35F7240D2DF}"/>
              </a:ext>
            </a:extLst>
          </p:cNvPr>
          <p:cNvSpPr>
            <a:spLocks xmlns:a="http://schemas.openxmlformats.org/drawingml/2006/main" noGrp="1"/>
          </p:cNvSpPr>
          <p:nvPr/>
        </p:nvSpPr>
        <p:spPr>
          <a:xfrm xmlns:a="http://schemas.openxmlformats.org/drawingml/2006/main">
            <a:off x="809625" y="3190875"/>
            <a:ext cx="690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FFFFFF"/>
                </a:solidFill>
                <a:latin typeface="Arial"/>
                <a:ea typeface="Arial"/>
                <a:cs typeface="Arial"/>
              </a:defRPr>
            </a:defPPr>
            <a:lvl1pPr>
              <a:defRPr sz="2700" b="0">
                <a:solidFill>
                  <a:srgbClr val="FFFFFF"/>
                </a:solidFill>
                <a:latin typeface="Arial"/>
                <a:ea typeface="Arial"/>
                <a:cs typeface="Arial"/>
              </a:defRPr>
            </a:lvl1pPr>
            <a:lvl2pPr>
              <a:defRPr sz="2700" b="0">
                <a:solidFill>
                  <a:srgbClr val="FFFFFF"/>
                </a:solidFill>
                <a:latin typeface="Arial"/>
                <a:ea typeface="Arial"/>
                <a:cs typeface="Arial"/>
              </a:defRPr>
            </a:lvl2pPr>
            <a:lvl3pPr>
              <a:defRPr sz="2700" b="0">
                <a:solidFill>
                  <a:srgbClr val="FFFFFF"/>
                </a:solidFill>
                <a:latin typeface="Arial"/>
                <a:ea typeface="Arial"/>
                <a:cs typeface="Arial"/>
              </a:defRPr>
            </a:lvl3pPr>
            <a:lvl4pPr>
              <a:defRPr sz="2700" b="0">
                <a:solidFill>
                  <a:srgbClr val="FFFFFF"/>
                </a:solidFill>
                <a:latin typeface="Arial"/>
                <a:ea typeface="Arial"/>
                <a:cs typeface="Arial"/>
              </a:defRPr>
            </a:lvl4pPr>
            <a:lvl5pPr>
              <a:defRPr sz="2700" b="0">
                <a:solidFill>
                  <a:srgbClr val="FFFFFF"/>
                </a:solidFill>
                <a:latin typeface="Arial"/>
                <a:ea typeface="Arial"/>
                <a:cs typeface="Arial"/>
              </a:defRPr>
            </a:lvl5pPr>
            <a:lvl6pPr>
              <a:defRPr sz="2700" b="0">
                <a:solidFill>
                  <a:srgbClr val="FFFFFF"/>
                </a:solidFill>
                <a:latin typeface="Arial"/>
                <a:ea typeface="Arial"/>
                <a:cs typeface="Arial"/>
              </a:defRPr>
            </a:lvl6pPr>
            <a:lvl7pPr>
              <a:defRPr sz="2700" b="0">
                <a:solidFill>
                  <a:srgbClr val="FFFFFF"/>
                </a:solidFill>
                <a:latin typeface="Arial"/>
                <a:ea typeface="Arial"/>
                <a:cs typeface="Arial"/>
              </a:defRPr>
            </a:lvl7pPr>
            <a:lvl8pPr>
              <a:defRPr sz="2700" b="0">
                <a:solidFill>
                  <a:srgbClr val="FFFFFF"/>
                </a:solidFill>
                <a:latin typeface="Arial"/>
                <a:ea typeface="Arial"/>
                <a:cs typeface="Arial"/>
              </a:defRPr>
            </a:lvl8pPr>
            <a:lvl9pPr>
              <a:defRPr sz="2700" b="0">
                <a:solidFill>
                  <a:srgbClr val="FFFFFF"/>
                </a:solidFill>
                <a:latin typeface="Arial"/>
                <a:ea typeface="Arial"/>
                <a:cs typeface="Arial"/>
              </a:defRPr>
            </a:lvl9pPr>
          </a:lstStyle>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Compare choices using separate sources</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and your priorities</a:t>
            </a:r>
          </a:p>
        </p:txBody>
      </p:sp>
      <p:sp>
        <p:nvSpPr>
          <p:cNvPr id="3" name="">
            <a:extLst xmlns:a="http://schemas.openxmlformats.org/drawingml/2006/main">
              <a:ext uri="{FF2B5EF4-FFF2-40B4-BE49-F238E27FC236}">
                <a16:creationId xmlns:a16="http://schemas.microsoft.com/office/drawing/2014/main" id="{2CA98020-8DC9-4BD1-9DD5-5337AB92669F}"/>
              </a:ext>
            </a:extLst>
          </p:cNvPr>
          <p:cNvSpPr>
            <a:spLocks xmlns:a="http://schemas.openxmlformats.org/drawingml/2006/main" noGrp="1"/>
          </p:cNvSpPr>
          <p:nvPr/>
        </p:nvSpPr>
        <p:spPr>
          <a:xfrm xmlns:a="http://schemas.openxmlformats.org/drawingml/2006/main">
            <a:off x="809625" y="5238750"/>
            <a:ext cx="685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9C779"/>
                </a:solidFill>
                <a:latin typeface="Arial"/>
                <a:ea typeface="Arial"/>
                <a:cs typeface="Arial"/>
              </a:defRPr>
            </a:defPPr>
            <a:lvl1pPr>
              <a:defRPr sz="1725" b="0">
                <a:solidFill>
                  <a:srgbClr val="E9C779"/>
                </a:solidFill>
                <a:latin typeface="Arial"/>
                <a:ea typeface="Arial"/>
                <a:cs typeface="Arial"/>
              </a:defRPr>
            </a:lvl1pPr>
            <a:lvl2pPr>
              <a:defRPr sz="1725" b="0">
                <a:solidFill>
                  <a:srgbClr val="E9C779"/>
                </a:solidFill>
                <a:latin typeface="Arial"/>
                <a:ea typeface="Arial"/>
                <a:cs typeface="Arial"/>
              </a:defRPr>
            </a:lvl2pPr>
            <a:lvl3pPr>
              <a:defRPr sz="1725" b="0">
                <a:solidFill>
                  <a:srgbClr val="E9C779"/>
                </a:solidFill>
                <a:latin typeface="Arial"/>
                <a:ea typeface="Arial"/>
                <a:cs typeface="Arial"/>
              </a:defRPr>
            </a:lvl3pPr>
            <a:lvl4pPr>
              <a:defRPr sz="1725" b="0">
                <a:solidFill>
                  <a:srgbClr val="E9C779"/>
                </a:solidFill>
                <a:latin typeface="Arial"/>
                <a:ea typeface="Arial"/>
                <a:cs typeface="Arial"/>
              </a:defRPr>
            </a:lvl4pPr>
            <a:lvl5pPr>
              <a:defRPr sz="1725" b="0">
                <a:solidFill>
                  <a:srgbClr val="E9C779"/>
                </a:solidFill>
                <a:latin typeface="Arial"/>
                <a:ea typeface="Arial"/>
                <a:cs typeface="Arial"/>
              </a:defRPr>
            </a:lvl5pPr>
            <a:lvl6pPr>
              <a:defRPr sz="1725" b="0">
                <a:solidFill>
                  <a:srgbClr val="E9C779"/>
                </a:solidFill>
                <a:latin typeface="Arial"/>
                <a:ea typeface="Arial"/>
                <a:cs typeface="Arial"/>
              </a:defRPr>
            </a:lvl6pPr>
            <a:lvl7pPr>
              <a:defRPr sz="1725" b="0">
                <a:solidFill>
                  <a:srgbClr val="E9C779"/>
                </a:solidFill>
                <a:latin typeface="Arial"/>
                <a:ea typeface="Arial"/>
                <a:cs typeface="Arial"/>
              </a:defRPr>
            </a:lvl7pPr>
            <a:lvl8pPr>
              <a:defRPr sz="1725" b="0">
                <a:solidFill>
                  <a:srgbClr val="E9C779"/>
                </a:solidFill>
                <a:latin typeface="Arial"/>
                <a:ea typeface="Arial"/>
                <a:cs typeface="Arial"/>
              </a:defRPr>
            </a:lvl8pPr>
            <a:lvl9pPr>
              <a:defRPr sz="1725" b="0">
                <a:solidFill>
                  <a:srgbClr val="E9C779"/>
                </a:solidFill>
                <a:latin typeface="Arial"/>
                <a:ea typeface="Arial"/>
                <a:cs typeface="Arial"/>
              </a:defRPr>
            </a:lvl9pPr>
          </a:lstStyle>
          <a:p xmlns:a="http://schemas.openxmlformats.org/drawingml/2006/main">
            <a:pPr>
              <a:defRPr sz="1725" b="0">
                <a:solidFill>
                  <a:srgbClr val="E9C779"/>
                </a:solidFill>
                <a:latin typeface="Arial"/>
                <a:ea typeface="Arial"/>
                <a:cs typeface="Arial"/>
              </a:defRPr>
            </a:pPr>
            <a:r>
              <a:rPr sz="1725" b="0">
                <a:solidFill>
                  <a:srgbClr val="E9C779"/>
                </a:solidFill>
                <a:latin typeface="Arial"/>
                <a:ea typeface="Arial"/>
                <a:cs typeface="Arial"/>
              </a:rPr>
              <a:t>Team 39: Theo and Wahab</a:t>
            </a:r>
          </a:p>
          <a:p xmlns:a="http://schemas.openxmlformats.org/drawingml/2006/main">
            <a:pPr>
              <a:defRPr sz="1725" b="0">
                <a:solidFill>
                  <a:srgbClr val="E9C779"/>
                </a:solidFill>
                <a:latin typeface="Arial"/>
                <a:ea typeface="Arial"/>
                <a:cs typeface="Arial"/>
              </a:defRPr>
            </a:pPr>
            <a:r>
              <a:rPr sz="1725" b="0">
                <a:solidFill>
                  <a:srgbClr val="E9C779"/>
                </a:solidFill>
                <a:latin typeface="Arial"/>
                <a:ea typeface="Arial"/>
                <a:cs typeface="Arial"/>
              </a:rPr>
              <a:t>Do You Have the GUTS? 2026</a:t>
            </a:r>
          </a:p>
          <a:p xmlns:a="http://schemas.openxmlformats.org/drawingml/2006/main">
            <a:pPr>
              <a:defRPr sz="1725" b="0">
                <a:solidFill>
                  <a:srgbClr val="E9C779"/>
                </a:solidFill>
                <a:latin typeface="Arial"/>
                <a:ea typeface="Arial"/>
                <a:cs typeface="Arial"/>
              </a:defRPr>
            </a:pPr>
            <a:r>
              <a:rPr sz="1725" b="0">
                <a:solidFill>
                  <a:srgbClr val="E9C779"/>
                </a:solidFill>
                <a:latin typeface="Arial"/>
                <a:ea typeface="Arial"/>
                <a:cs typeface="Arial"/>
              </a:rPr>
              <a:t>BlackRock challenge</a:t>
            </a:r>
          </a:p>
        </p:txBody>
      </p:sp>
      <p:pic>
        <p:nvPicPr>
          <p:cNvPr id="4" name="">
            <a:extLst xmlns:a="http://schemas.openxmlformats.org/drawingml/2006/main">
              <a:ext uri="{FF2B5EF4-FFF2-40B4-BE49-F238E27FC236}">
                <a16:creationId xmlns:a16="http://schemas.microsoft.com/office/drawing/2014/main" id="{18528D3B-68C3-43D2-8391-C920BD1A87CA}"/>
              </a:ext>
            </a:extLst>
          </p:cNvPr>
          <p:cNvPicPr>
            <a:picLocks xmlns:a="http://schemas.openxmlformats.org/drawingml/2006/main" noChangeAspect="1"/>
          </p:cNvPicPr>
          <p:nvPr/>
        </p:nvPicPr>
        <p:blipFill>
          <a:blip xmlns:r="http://schemas.openxmlformats.org/officeDocument/2006/relationships" xmlns:a="http://schemas.openxmlformats.org/drawingml/2006/main" r:embed="Rdc8081836c424c9c">
            <a:extLst>
              <a:ext uri="{96DAC541-7B7A-43D3-8B79-37D633B846F1}">
                <asvg:svgBlip xmlns:asvg="http://schemas.microsoft.com/office/drawing/2016/SVG/main" r:embed="R1e8ee20c2aeb4a1f"/>
              </a:ext>
            </a:extLst>
          </a:blip>
          <a:stretch xmlns:a="http://schemas.openxmlformats.org/drawingml/2006/main"/>
        </p:blipFill>
        <p:spPr>
          <a:xfrm xmlns:a="http://schemas.openxmlformats.org/drawingml/2006/main">
            <a:off x="8429625" y="1952625"/>
            <a:ext cx="2333625" cy="2333625"/>
          </a:xfrm>
          <a:prstGeom xmlns:a="http://schemas.openxmlformats.org/drawingml/2006/main" prst="rect">
            <a:avLst/>
          </a:prstGeom>
        </p:spPr>
      </p:pic>
    </p:spTree>
    <p:extLst>
      <p:ext uri="{BB962C8B-B14F-4D97-AF65-F5344CB8AC3E}">
        <p14:creationId xmlns:p14="http://schemas.microsoft.com/office/powerpoint/2010/main" val="2105945682"/>
      </p:ext>
    </p:extLst>
  </p:cSld>
</p:sld>
</file>

<file path=ppt/slides/slide2.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60A9D42-858B-4D1B-B574-AD465B90530B}"/>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Maya's journey choice</a:t>
            </a:r>
          </a:p>
        </p:txBody>
      </p:sp>
      <p:sp>
        <p:nvSpPr>
          <p:cNvPr id="2" name="">
            <a:extLst xmlns:a="http://schemas.openxmlformats.org/drawingml/2006/main">
              <a:ext uri="{FF2B5EF4-FFF2-40B4-BE49-F238E27FC236}">
                <a16:creationId xmlns:a16="http://schemas.microsoft.com/office/drawing/2014/main" id="{5FB0A53E-0AD9-4AE3-AB92-DFD79D12EA49}"/>
              </a:ext>
            </a:extLst>
          </p:cNvPr>
          <p:cNvSpPr>
            <a:spLocks xmlns:a="http://schemas.openxmlformats.org/drawingml/2006/main" noGrp="1"/>
          </p:cNvSpPr>
          <p:nvPr/>
        </p:nvSpPr>
        <p:spPr>
          <a:xfrm xmlns:a="http://schemas.openxmlformats.org/drawingml/2006/main">
            <a:off x="762000" y="15335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58458D"/>
                </a:solidFill>
                <a:latin typeface="Arial"/>
                <a:ea typeface="Arial"/>
                <a:cs typeface="Arial"/>
              </a:defRPr>
            </a:defPPr>
            <a:lvl1pPr>
              <a:defRPr sz="2700" b="1">
                <a:solidFill>
                  <a:srgbClr val="58458D"/>
                </a:solidFill>
                <a:latin typeface="Arial"/>
                <a:ea typeface="Arial"/>
                <a:cs typeface="Arial"/>
              </a:defRPr>
            </a:lvl1pPr>
            <a:lvl2pPr>
              <a:defRPr sz="2700" b="1">
                <a:solidFill>
                  <a:srgbClr val="58458D"/>
                </a:solidFill>
                <a:latin typeface="Arial"/>
                <a:ea typeface="Arial"/>
                <a:cs typeface="Arial"/>
              </a:defRPr>
            </a:lvl2pPr>
            <a:lvl3pPr>
              <a:defRPr sz="2700" b="1">
                <a:solidFill>
                  <a:srgbClr val="58458D"/>
                </a:solidFill>
                <a:latin typeface="Arial"/>
                <a:ea typeface="Arial"/>
                <a:cs typeface="Arial"/>
              </a:defRPr>
            </a:lvl3pPr>
            <a:lvl4pPr>
              <a:defRPr sz="2700" b="1">
                <a:solidFill>
                  <a:srgbClr val="58458D"/>
                </a:solidFill>
                <a:latin typeface="Arial"/>
                <a:ea typeface="Arial"/>
                <a:cs typeface="Arial"/>
              </a:defRPr>
            </a:lvl4pPr>
            <a:lvl5pPr>
              <a:defRPr sz="2700" b="1">
                <a:solidFill>
                  <a:srgbClr val="58458D"/>
                </a:solidFill>
                <a:latin typeface="Arial"/>
                <a:ea typeface="Arial"/>
                <a:cs typeface="Arial"/>
              </a:defRPr>
            </a:lvl5pPr>
            <a:lvl6pPr>
              <a:defRPr sz="2700" b="1">
                <a:solidFill>
                  <a:srgbClr val="58458D"/>
                </a:solidFill>
                <a:latin typeface="Arial"/>
                <a:ea typeface="Arial"/>
                <a:cs typeface="Arial"/>
              </a:defRPr>
            </a:lvl6pPr>
            <a:lvl7pPr>
              <a:defRPr sz="2700" b="1">
                <a:solidFill>
                  <a:srgbClr val="58458D"/>
                </a:solidFill>
                <a:latin typeface="Arial"/>
                <a:ea typeface="Arial"/>
                <a:cs typeface="Arial"/>
              </a:defRPr>
            </a:lvl7pPr>
            <a:lvl8pPr>
              <a:defRPr sz="2700" b="1">
                <a:solidFill>
                  <a:srgbClr val="58458D"/>
                </a:solidFill>
                <a:latin typeface="Arial"/>
                <a:ea typeface="Arial"/>
                <a:cs typeface="Arial"/>
              </a:defRPr>
            </a:lvl8pPr>
            <a:lvl9pPr>
              <a:defRPr sz="2700" b="1">
                <a:solidFill>
                  <a:srgbClr val="58458D"/>
                </a:solidFill>
                <a:latin typeface="Arial"/>
                <a:ea typeface="Arial"/>
                <a:cs typeface="Arial"/>
              </a:defRPr>
            </a:lvl9pPr>
          </a:lstStyle>
          <a:p xmlns:a="http://schemas.openxmlformats.org/drawingml/2006/main">
            <a:pPr>
              <a:defRPr sz="2700" b="1">
                <a:solidFill>
                  <a:srgbClr val="58458D"/>
                </a:solidFill>
                <a:latin typeface="Arial"/>
                <a:ea typeface="Arial"/>
                <a:cs typeface="Arial"/>
              </a:defRPr>
            </a:pPr>
            <a:r>
              <a:rPr sz="2700" b="1">
                <a:solidFill>
                  <a:srgbClr val="58458D"/>
                </a:solidFill>
                <a:latin typeface="Arial"/>
                <a:ea typeface="Arial"/>
                <a:cs typeface="Arial"/>
              </a:rPr>
              <a:t>One journey within £25 and three hours</a:t>
            </a:r>
          </a:p>
        </p:txBody>
      </p:sp>
      <p:graphicFrame>
        <p:nvGraphicFramePr>
          <p:cNvPr id="3" name="">
            <a:extLst xmlns:a="http://schemas.openxmlformats.org/drawingml/2006/main">
              <a:ext uri="{FF2B5EF4-FFF2-40B4-BE49-F238E27FC236}">
                <a16:creationId xmlns:a16="http://schemas.microsoft.com/office/drawing/2014/main" id="{979F8309-4B24-430A-8FEA-36EF3B5337E9}"/>
              </a:ext>
            </a:extLst>
          </p:cNvPr>
          <p:cNvGraphicFramePr/>
          <p:nvPr/>
        </p:nvGraphicFramePr>
        <p:xfrm>
          <a:off xmlns:a="http://schemas.openxmlformats.org/drawingml/2006/main" x="762000" y="2466975"/>
          <a:ext xmlns:a="http://schemas.openxmlformats.org/drawingml/2006/main" cx="10668000" cy="2524125"/>
        </p:xfrm>
        <a:graphic xmlns:a="http://schemas.openxmlformats.org/drawingml/2006/main">
          <a:graphicData uri="http://schemas.openxmlformats.org/drawingml/2006/table">
            <a:tbl>
              <a:tblPr/>
              <a:tblGrid>
                <a:gridCol w="2952750"/>
                <a:gridCol w="7715250"/>
              </a:tblGrid>
              <a:tr h="631031">
                <a:tc>
                  <a:txBody>
                    <a:bodyPr lIns="133350" tIns="133350" rIns="133350" bIns="133350"/>
                    <a:lstStyle/>
                    <a:p>
                      <a:r>
                        <a:rPr sz="1950" b="1">
                          <a:solidFill>
                            <a:srgbClr val="FFFFFF"/>
                          </a:solidFill>
                          <a:latin typeface="Arial"/>
                          <a:ea typeface="Arial"/>
                          <a:cs typeface="Arial"/>
                        </a:rPr>
                        <a:t>Input</a:t>
                      </a:r>
                    </a:p>
                  </a:txBody>
                  <a:tcPr marL="91440" marR="91440" marT="45720" marB="45720" anchor="ctr">
                    <a:lnL w="6668">
                      <a:solidFill>
                        <a:srgbClr val="D8D2E5"/>
                      </a:solidFill>
                      <a:prstDash val="solid"/>
                    </a:lnL>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950" b="1">
                          <a:solidFill>
                            <a:srgbClr val="FFFFFF"/>
                          </a:solidFill>
                          <a:latin typeface="Arial"/>
                          <a:ea typeface="Arial"/>
                          <a:cs typeface="Arial"/>
                        </a:rPr>
                        <a:t>What it contributes</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r>
              <a:tr h="631031">
                <a:tc>
                  <a:txBody>
                    <a:bodyPr lIns="133350" tIns="133350" rIns="133350" bIns="133350"/>
                    <a:lstStyle/>
                    <a:p>
                      <a:r>
                        <a:rPr sz="2025" b="0">
                          <a:solidFill>
                            <a:srgbClr val="242039"/>
                          </a:solidFill>
                          <a:latin typeface="Arial"/>
                          <a:ea typeface="Arial"/>
                          <a:cs typeface="Arial"/>
                        </a:rPr>
                        <a:t>Option catalog</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2025" b="0">
                          <a:solidFill>
                            <a:srgbClr val="242039"/>
                          </a:solidFill>
                          <a:latin typeface="Arial"/>
                          <a:ea typeface="Arial"/>
                          <a:cs typeface="Arial"/>
                        </a:rPr>
                        <a:t>The choices and their identities</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631031">
                <a:tc>
                  <a:txBody>
                    <a:bodyPr lIns="133350" tIns="133350" rIns="133350" bIns="133350"/>
                    <a:lstStyle/>
                    <a:p>
                      <a:r>
                        <a:rPr sz="2025" b="0">
                          <a:solidFill>
                            <a:srgbClr val="242039"/>
                          </a:solidFill>
                          <a:latin typeface="Arial"/>
                          <a:ea typeface="Arial"/>
                          <a:cs typeface="Arial"/>
                        </a:rPr>
                        <a:t>Measurement feed</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2025" b="0">
                          <a:solidFill>
                            <a:srgbClr val="242039"/>
                          </a:solidFill>
                          <a:latin typeface="Arial"/>
                          <a:ea typeface="Arial"/>
                          <a:cs typeface="Arial"/>
                        </a:rPr>
                        <a:t>Cost, journey time and emissions</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631031">
                <a:tc>
                  <a:txBody>
                    <a:bodyPr lIns="133350" tIns="133350" rIns="133350" bIns="133350"/>
                    <a:lstStyle/>
                    <a:p>
                      <a:r>
                        <a:rPr sz="2025" b="0">
                          <a:solidFill>
                            <a:srgbClr val="242039"/>
                          </a:solidFill>
                          <a:latin typeface="Arial"/>
                          <a:ea typeface="Arial"/>
                          <a:cs typeface="Arial"/>
                        </a:rPr>
                        <a:t>Your conditions</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2025" b="0">
                          <a:solidFill>
                            <a:srgbClr val="242039"/>
                          </a:solidFill>
                          <a:latin typeface="Arial"/>
                          <a:ea typeface="Arial"/>
                          <a:cs typeface="Arial"/>
                        </a:rPr>
                        <a:t>Budget, hard limits and priorities</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07219B7-0A0E-44C0-9C50-8BE851D1C627}"/>
              </a:ext>
            </a:extLst>
          </p:cNvPr>
          <p:cNvSpPr>
            <a:spLocks xmlns:a="http://schemas.openxmlformats.org/drawingml/2006/main" noGrp="1"/>
          </p:cNvSpPr>
          <p:nvPr/>
        </p:nvSpPr>
        <p:spPr>
          <a:xfrm xmlns:a="http://schemas.openxmlformats.org/drawingml/2006/main">
            <a:off x="762000" y="56007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2039"/>
                </a:solidFill>
                <a:latin typeface="Arial"/>
                <a:ea typeface="Arial"/>
                <a:cs typeface="Arial"/>
              </a:defRPr>
            </a:defPPr>
            <a:lvl1pPr>
              <a:defRPr sz="2400" b="1">
                <a:solidFill>
                  <a:srgbClr val="242039"/>
                </a:solidFill>
                <a:latin typeface="Arial"/>
                <a:ea typeface="Arial"/>
                <a:cs typeface="Arial"/>
              </a:defRPr>
            </a:lvl1pPr>
            <a:lvl2pPr>
              <a:defRPr sz="2400" b="1">
                <a:solidFill>
                  <a:srgbClr val="242039"/>
                </a:solidFill>
                <a:latin typeface="Arial"/>
                <a:ea typeface="Arial"/>
                <a:cs typeface="Arial"/>
              </a:defRPr>
            </a:lvl2pPr>
            <a:lvl3pPr>
              <a:defRPr sz="2400" b="1">
                <a:solidFill>
                  <a:srgbClr val="242039"/>
                </a:solidFill>
                <a:latin typeface="Arial"/>
                <a:ea typeface="Arial"/>
                <a:cs typeface="Arial"/>
              </a:defRPr>
            </a:lvl3pPr>
            <a:lvl4pPr>
              <a:defRPr sz="2400" b="1">
                <a:solidFill>
                  <a:srgbClr val="242039"/>
                </a:solidFill>
                <a:latin typeface="Arial"/>
                <a:ea typeface="Arial"/>
                <a:cs typeface="Arial"/>
              </a:defRPr>
            </a:lvl4pPr>
            <a:lvl5pPr>
              <a:defRPr sz="2400" b="1">
                <a:solidFill>
                  <a:srgbClr val="242039"/>
                </a:solidFill>
                <a:latin typeface="Arial"/>
                <a:ea typeface="Arial"/>
                <a:cs typeface="Arial"/>
              </a:defRPr>
            </a:lvl5pPr>
            <a:lvl6pPr>
              <a:defRPr sz="2400" b="1">
                <a:solidFill>
                  <a:srgbClr val="242039"/>
                </a:solidFill>
                <a:latin typeface="Arial"/>
                <a:ea typeface="Arial"/>
                <a:cs typeface="Arial"/>
              </a:defRPr>
            </a:lvl6pPr>
            <a:lvl7pPr>
              <a:defRPr sz="2400" b="1">
                <a:solidFill>
                  <a:srgbClr val="242039"/>
                </a:solidFill>
                <a:latin typeface="Arial"/>
                <a:ea typeface="Arial"/>
                <a:cs typeface="Arial"/>
              </a:defRPr>
            </a:lvl7pPr>
            <a:lvl8pPr>
              <a:defRPr sz="2400" b="1">
                <a:solidFill>
                  <a:srgbClr val="242039"/>
                </a:solidFill>
                <a:latin typeface="Arial"/>
                <a:ea typeface="Arial"/>
                <a:cs typeface="Arial"/>
              </a:defRPr>
            </a:lvl8pPr>
            <a:lvl9pPr>
              <a:defRPr sz="2400" b="1">
                <a:solidFill>
                  <a:srgbClr val="242039"/>
                </a:solidFill>
                <a:latin typeface="Arial"/>
                <a:ea typeface="Arial"/>
                <a:cs typeface="Arial"/>
              </a:defRPr>
            </a:lvl9pPr>
          </a:lstStyle>
          <a:p xmlns:a="http://schemas.openxmlformats.org/drawingml/2006/main">
            <a:pPr>
              <a:defRPr sz="2400" b="1">
                <a:solidFill>
                  <a:srgbClr val="242039"/>
                </a:solidFill>
                <a:latin typeface="Arial"/>
                <a:ea typeface="Arial"/>
                <a:cs typeface="Arial"/>
              </a:defRPr>
            </a:pPr>
            <a:r>
              <a:rPr sz="2400" b="1">
                <a:solidFill>
                  <a:srgbClr val="242039"/>
                </a:solidFill>
                <a:latin typeface="Arial"/>
                <a:ea typeface="Arial"/>
                <a:cs typeface="Arial"/>
              </a:rPr>
              <a:t>Jinni joins the sources and explains what fits</a:t>
            </a:r>
          </a:p>
        </p:txBody>
      </p:sp>
    </p:spTree>
    <p:extLst>
      <p:ext uri="{BB962C8B-B14F-4D97-AF65-F5344CB8AC3E}">
        <p14:creationId xmlns:p14="http://schemas.microsoft.com/office/powerpoint/2010/main" val="946294675"/>
      </p:ext>
    </p:extLst>
  </p:cSld>
</p:sld>
</file>

<file path=ppt/slides/slide3.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4806CE-4C63-4C7E-8641-1C508A5136DD}"/>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A workspace for the whole decision</a:t>
            </a:r>
          </a:p>
        </p:txBody>
      </p:sp>
      <p:sp>
        <p:nvSpPr>
          <p:cNvPr id="2" name="">
            <a:extLst xmlns:a="http://schemas.openxmlformats.org/drawingml/2006/main">
              <a:ext uri="{FF2B5EF4-FFF2-40B4-BE49-F238E27FC236}">
                <a16:creationId xmlns:a16="http://schemas.microsoft.com/office/drawing/2014/main" id="{D24835FE-61B1-4AD0-8FCB-FC8A429CA55D}"/>
              </a:ext>
            </a:extLst>
          </p:cNvPr>
          <p:cNvSpPr>
            <a:spLocks xmlns:a="http://schemas.openxmlformats.org/drawingml/2006/main" noGrp="1"/>
          </p:cNvSpPr>
          <p:nvPr/>
        </p:nvSpPr>
        <p:spPr>
          <a:xfrm xmlns:a="http://schemas.openxmlformats.org/drawingml/2006/main">
            <a:off x="685800" y="17621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1</a:t>
            </a:r>
          </a:p>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Set conditions</a:t>
            </a:r>
          </a:p>
        </p:txBody>
      </p:sp>
      <p:sp>
        <p:nvSpPr>
          <p:cNvPr id="3" name="">
            <a:extLst xmlns:a="http://schemas.openxmlformats.org/drawingml/2006/main">
              <a:ext uri="{FF2B5EF4-FFF2-40B4-BE49-F238E27FC236}">
                <a16:creationId xmlns:a16="http://schemas.microsoft.com/office/drawing/2014/main" id="{0C13AAFC-CBF7-4424-92CE-31A541B15B8E}"/>
              </a:ext>
            </a:extLst>
          </p:cNvPr>
          <p:cNvSpPr>
            <a:spLocks xmlns:a="http://schemas.openxmlformats.org/drawingml/2006/main" noGrp="1"/>
          </p:cNvSpPr>
          <p:nvPr/>
        </p:nvSpPr>
        <p:spPr>
          <a:xfrm xmlns:a="http://schemas.openxmlformats.org/drawingml/2006/main">
            <a:off x="685800" y="32861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2</a:t>
            </a:r>
          </a:p>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Compare choices</a:t>
            </a:r>
          </a:p>
        </p:txBody>
      </p:sp>
      <p:sp>
        <p:nvSpPr>
          <p:cNvPr id="4" name="">
            <a:extLst xmlns:a="http://schemas.openxmlformats.org/drawingml/2006/main">
              <a:ext uri="{FF2B5EF4-FFF2-40B4-BE49-F238E27FC236}">
                <a16:creationId xmlns:a16="http://schemas.microsoft.com/office/drawing/2014/main" id="{8D086C09-DA8E-4548-81D5-CC2D662A5475}"/>
              </a:ext>
            </a:extLst>
          </p:cNvPr>
          <p:cNvSpPr>
            <a:spLocks xmlns:a="http://schemas.openxmlformats.org/drawingml/2006/main" noGrp="1"/>
          </p:cNvSpPr>
          <p:nvPr/>
        </p:nvSpPr>
        <p:spPr>
          <a:xfrm xmlns:a="http://schemas.openxmlformats.org/drawingml/2006/main">
            <a:off x="685800" y="48101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3</a:t>
            </a:r>
          </a:p>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Check evidence</a:t>
            </a:r>
          </a:p>
        </p:txBody>
      </p:sp>
      <p:pic>
        <p:nvPicPr>
          <p:cNvPr id="5" name="">
            <a:extLst xmlns:a="http://schemas.openxmlformats.org/drawingml/2006/main">
              <a:ext uri="{FF2B5EF4-FFF2-40B4-BE49-F238E27FC236}">
                <a16:creationId xmlns:a16="http://schemas.microsoft.com/office/drawing/2014/main" id="{A2DC85C6-8419-47C0-B5CE-C7F605F10725}"/>
              </a:ext>
            </a:extLst>
          </p:cNvPr>
          <p:cNvPicPr>
            <a:picLocks xmlns:a="http://schemas.openxmlformats.org/drawingml/2006/main" noChangeAspect="1"/>
          </p:cNvPicPr>
          <p:nvPr/>
        </p:nvPicPr>
        <p:blipFill>
          <a:blip xmlns:r="http://schemas.openxmlformats.org/officeDocument/2006/relationships" xmlns:a="http://schemas.openxmlformats.org/drawingml/2006/main" r:embed="R10b65d2089334a60"/>
          <a:stretch xmlns:a="http://schemas.openxmlformats.org/drawingml/2006/main"/>
        </p:blipFill>
        <p:spPr>
          <a:xfrm xmlns:a="http://schemas.openxmlformats.org/drawingml/2006/main">
            <a:off x="3486979" y="1438275"/>
            <a:ext cx="7408792" cy="5010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EC7101E-6990-4364-9706-51D36DAE9F74}"/>
              </a:ext>
            </a:extLst>
          </p:cNvPr>
          <p:cNvSpPr>
            <a:spLocks xmlns:a="http://schemas.openxmlformats.org/drawingml/2006/main" noGrp="1"/>
          </p:cNvSpPr>
          <p:nvPr/>
        </p:nvSpPr>
        <p:spPr>
          <a:xfrm xmlns:a="http://schemas.openxmlformats.org/drawingml/2006/main">
            <a:off x="2857500" y="6486525"/>
            <a:ext cx="866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25B74"/>
                </a:solidFill>
                <a:latin typeface="Arial"/>
                <a:ea typeface="Arial"/>
                <a:cs typeface="Arial"/>
              </a:defRPr>
            </a:defPPr>
            <a:lvl1pPr>
              <a:defRPr sz="1350" b="0">
                <a:solidFill>
                  <a:srgbClr val="625B74"/>
                </a:solidFill>
                <a:latin typeface="Arial"/>
                <a:ea typeface="Arial"/>
                <a:cs typeface="Arial"/>
              </a:defRPr>
            </a:lvl1pPr>
            <a:lvl2pPr>
              <a:defRPr sz="1350" b="0">
                <a:solidFill>
                  <a:srgbClr val="625B74"/>
                </a:solidFill>
                <a:latin typeface="Arial"/>
                <a:ea typeface="Arial"/>
                <a:cs typeface="Arial"/>
              </a:defRPr>
            </a:lvl2pPr>
            <a:lvl3pPr>
              <a:defRPr sz="1350" b="0">
                <a:solidFill>
                  <a:srgbClr val="625B74"/>
                </a:solidFill>
                <a:latin typeface="Arial"/>
                <a:ea typeface="Arial"/>
                <a:cs typeface="Arial"/>
              </a:defRPr>
            </a:lvl3pPr>
            <a:lvl4pPr>
              <a:defRPr sz="1350" b="0">
                <a:solidFill>
                  <a:srgbClr val="625B74"/>
                </a:solidFill>
                <a:latin typeface="Arial"/>
                <a:ea typeface="Arial"/>
                <a:cs typeface="Arial"/>
              </a:defRPr>
            </a:lvl4pPr>
            <a:lvl5pPr>
              <a:defRPr sz="1350" b="0">
                <a:solidFill>
                  <a:srgbClr val="625B74"/>
                </a:solidFill>
                <a:latin typeface="Arial"/>
                <a:ea typeface="Arial"/>
                <a:cs typeface="Arial"/>
              </a:defRPr>
            </a:lvl5pPr>
            <a:lvl6pPr>
              <a:defRPr sz="1350" b="0">
                <a:solidFill>
                  <a:srgbClr val="625B74"/>
                </a:solidFill>
                <a:latin typeface="Arial"/>
                <a:ea typeface="Arial"/>
                <a:cs typeface="Arial"/>
              </a:defRPr>
            </a:lvl6pPr>
            <a:lvl7pPr>
              <a:defRPr sz="1350" b="0">
                <a:solidFill>
                  <a:srgbClr val="625B74"/>
                </a:solidFill>
                <a:latin typeface="Arial"/>
                <a:ea typeface="Arial"/>
                <a:cs typeface="Arial"/>
              </a:defRPr>
            </a:lvl7pPr>
            <a:lvl8pPr>
              <a:defRPr sz="1350" b="0">
                <a:solidFill>
                  <a:srgbClr val="625B74"/>
                </a:solidFill>
                <a:latin typeface="Arial"/>
                <a:ea typeface="Arial"/>
                <a:cs typeface="Arial"/>
              </a:defRPr>
            </a:lvl8pPr>
            <a:lvl9pPr>
              <a:defRPr sz="1350" b="0">
                <a:solidFill>
                  <a:srgbClr val="625B74"/>
                </a:solidFill>
                <a:latin typeface="Arial"/>
                <a:ea typeface="Arial"/>
                <a:cs typeface="Arial"/>
              </a:defRPr>
            </a:lvl9pPr>
          </a:lstStyle>
          <a:p xmlns:a="http://schemas.openxmlformats.org/drawingml/2006/main">
            <a:pPr>
              <a:defRPr sz="1350" b="0">
                <a:solidFill>
                  <a:srgbClr val="625B74"/>
                </a:solidFill>
                <a:latin typeface="Arial"/>
                <a:ea typeface="Arial"/>
                <a:cs typeface="Arial"/>
              </a:defRPr>
            </a:pPr>
            <a:r>
              <a:rPr sz="1350" b="0">
                <a:solidFill>
                  <a:srgbClr val="625B74"/>
                </a:solidFill>
                <a:latin typeface="Arial"/>
                <a:ea typeface="Arial"/>
                <a:cs typeface="Arial"/>
              </a:rPr>
              <a:t>Fictional preset data. This screenshot makes no live AI request claim.</a:t>
            </a:r>
          </a:p>
        </p:txBody>
      </p:sp>
    </p:spTree>
    <p:extLst>
      <p:ext uri="{BB962C8B-B14F-4D97-AF65-F5344CB8AC3E}">
        <p14:creationId xmlns:p14="http://schemas.microsoft.com/office/powerpoint/2010/main" val="922563557"/>
      </p:ext>
    </p:extLst>
  </p:cSld>
</p:sld>
</file>

<file path=ppt/slides/slide4.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1A9119-FE1A-4E33-A95C-17FF89FCED37}"/>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Maya's feasible journeys</a:t>
            </a:r>
          </a:p>
        </p:txBody>
      </p:sp>
      <p:sp>
        <p:nvSpPr>
          <p:cNvPr id="2" name="">
            <a:extLst xmlns:a="http://schemas.openxmlformats.org/drawingml/2006/main">
              <a:ext uri="{FF2B5EF4-FFF2-40B4-BE49-F238E27FC236}">
                <a16:creationId xmlns:a16="http://schemas.microsoft.com/office/drawing/2014/main" id="{6F2CDC55-4D5C-4CC9-908C-F1E4447C0593}"/>
              </a:ext>
            </a:extLst>
          </p:cNvPr>
          <p:cNvSpPr>
            <a:spLocks xmlns:a="http://schemas.openxmlformats.org/drawingml/2006/main" noGrp="1"/>
          </p:cNvSpPr>
          <p:nvPr/>
        </p:nvSpPr>
        <p:spPr>
          <a:xfrm xmlns:a="http://schemas.openxmlformats.org/drawingml/2006/main">
            <a:off x="762000" y="14382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Budget £25     Journey limit 180 minutes</a:t>
            </a:r>
          </a:p>
        </p:txBody>
      </p:sp>
      <p:graphicFrame>
        <p:nvGraphicFramePr>
          <p:cNvPr id="3" name="">
            <a:extLst xmlns:a="http://schemas.openxmlformats.org/drawingml/2006/main">
              <a:ext uri="{FF2B5EF4-FFF2-40B4-BE49-F238E27FC236}">
                <a16:creationId xmlns:a16="http://schemas.microsoft.com/office/drawing/2014/main" id="{3CE78B10-B1D8-44CC-A17F-409291D38E81}"/>
              </a:ext>
            </a:extLst>
          </p:cNvPr>
          <p:cNvGraphicFramePr/>
          <p:nvPr/>
        </p:nvGraphicFramePr>
        <p:xfrm>
          <a:off xmlns:a="http://schemas.openxmlformats.org/drawingml/2006/main" x="762000" y="2190750"/>
          <a:ext xmlns:a="http://schemas.openxmlformats.org/drawingml/2006/main" cx="10668000" cy="3238500"/>
        </p:xfrm>
        <a:graphic xmlns:a="http://schemas.openxmlformats.org/drawingml/2006/main">
          <a:graphicData uri="http://schemas.openxmlformats.org/drawingml/2006/table">
            <a:tbl>
              <a:tblPr/>
              <a:tblGrid>
                <a:gridCol w="1952625"/>
                <a:gridCol w="1238250"/>
                <a:gridCol w="1619250"/>
                <a:gridCol w="2428875"/>
                <a:gridCol w="3429000"/>
              </a:tblGrid>
              <a:tr h="539750">
                <a:tc>
                  <a:txBody>
                    <a:bodyPr lIns="133350" tIns="133350" rIns="133350" bIns="133350"/>
                    <a:lstStyle/>
                    <a:p>
                      <a:r>
                        <a:rPr sz="1800" b="1">
                          <a:solidFill>
                            <a:srgbClr val="FFFFFF"/>
                          </a:solidFill>
                          <a:latin typeface="Arial"/>
                          <a:ea typeface="Arial"/>
                          <a:cs typeface="Arial"/>
                        </a:rPr>
                        <a:t>Choice</a:t>
                      </a:r>
                    </a:p>
                  </a:txBody>
                  <a:tcPr marL="91440" marR="91440" marT="45720" marB="45720" anchor="ctr">
                    <a:lnL w="6668">
                      <a:solidFill>
                        <a:srgbClr val="D8D2E5"/>
                      </a:solidFill>
                      <a:prstDash val="solid"/>
                    </a:lnL>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Cost</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Time</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Emissions</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00" b="1">
                          <a:solidFill>
                            <a:srgbClr val="FFFFFF"/>
                          </a:solidFill>
                          <a:latin typeface="Arial"/>
                          <a:ea typeface="Arial"/>
                          <a:cs typeface="Arial"/>
                        </a:rPr>
                        <a:t>Hard limits</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r>
              <a:tr h="539750">
                <a:tc>
                  <a:txBody>
                    <a:bodyPr lIns="133350" tIns="133350" rIns="133350" bIns="133350"/>
                    <a:lstStyle/>
                    <a:p>
                      <a:r>
                        <a:rPr sz="1875" b="0">
                          <a:solidFill>
                            <a:srgbClr val="242039"/>
                          </a:solidFill>
                          <a:latin typeface="Arial"/>
                          <a:ea typeface="Arial"/>
                          <a:cs typeface="Arial"/>
                        </a:rPr>
                        <a:t>Train</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£18</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70 min</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2.2 kg CO2e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Fits</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539750">
                <a:tc>
                  <a:txBody>
                    <a:bodyPr lIns="133350" tIns="133350" rIns="133350" bIns="133350"/>
                    <a:lstStyle/>
                    <a:p>
                      <a:r>
                        <a:rPr sz="1875" b="0">
                          <a:solidFill>
                            <a:srgbClr val="242039"/>
                          </a:solidFill>
                          <a:latin typeface="Arial"/>
                          <a:ea typeface="Arial"/>
                          <a:cs typeface="Arial"/>
                        </a:rPr>
                        <a:t>Coach</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£8</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120 min</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5 kg CO2e</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Fits</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539750">
                <a:tc>
                  <a:txBody>
                    <a:bodyPr lIns="133350" tIns="133350" rIns="133350" bIns="133350"/>
                    <a:lstStyle/>
                    <a:p>
                      <a:r>
                        <a:rPr sz="1875" b="0">
                          <a:solidFill>
                            <a:srgbClr val="242039"/>
                          </a:solidFill>
                          <a:latin typeface="Arial"/>
                          <a:ea typeface="Arial"/>
                          <a:cs typeface="Arial"/>
                        </a:rPr>
                        <a:t>Flight</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£70</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45 min</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60 kg CO2e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Over budget</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539750">
                <a:tc>
                  <a:txBody>
                    <a:bodyPr lIns="133350" tIns="133350" rIns="133350" bIns="133350"/>
                    <a:lstStyle/>
                    <a:p>
                      <a:r>
                        <a:rPr sz="1875" b="0">
                          <a:solidFill>
                            <a:srgbClr val="242039"/>
                          </a:solidFill>
                          <a:latin typeface="Arial"/>
                          <a:ea typeface="Arial"/>
                          <a:cs typeface="Arial"/>
                        </a:rPr>
                        <a:t>Taxi</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£45</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60 min</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18 kg CO2e</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875" b="0">
                          <a:solidFill>
                            <a:srgbClr val="242039"/>
                          </a:solidFill>
                          <a:latin typeface="Arial"/>
                          <a:ea typeface="Arial"/>
                          <a:cs typeface="Arial"/>
                        </a:rPr>
                        <a:t>Over budget</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539750">
                <a:tc>
                  <a:txBody>
                    <a:bodyPr lIns="133350" tIns="133350" rIns="133350" bIns="133350"/>
                    <a:lstStyle/>
                    <a:p>
                      <a:r>
                        <a:rPr sz="1875" b="0">
                          <a:solidFill>
                            <a:srgbClr val="242039"/>
                          </a:solidFill>
                          <a:latin typeface="Arial"/>
                          <a:ea typeface="Arial"/>
                          <a:cs typeface="Arial"/>
                        </a:rPr>
                        <a:t>Cycle</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£0</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240 min</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0.3 kg CO2e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875" b="0">
                          <a:solidFill>
                            <a:srgbClr val="242039"/>
                          </a:solidFill>
                          <a:latin typeface="Arial"/>
                          <a:ea typeface="Arial"/>
                          <a:cs typeface="Arial"/>
                        </a:rPr>
                        <a:t>Over time</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3789F26-9D8D-4E3E-95FF-44412BF29A34}"/>
              </a:ext>
            </a:extLst>
          </p:cNvPr>
          <p:cNvSpPr>
            <a:spLocks xmlns:a="http://schemas.openxmlformats.org/drawingml/2006/main" noGrp="1"/>
          </p:cNvSpPr>
          <p:nvPr/>
        </p:nvSpPr>
        <p:spPr>
          <a:xfrm xmlns:a="http://schemas.openxmlformats.org/drawingml/2006/main">
            <a:off x="762000" y="5743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42039"/>
                </a:solidFill>
                <a:latin typeface="Arial"/>
                <a:ea typeface="Arial"/>
                <a:cs typeface="Arial"/>
              </a:defRPr>
            </a:defPPr>
            <a:lvl1pPr>
              <a:defRPr sz="2100" b="1">
                <a:solidFill>
                  <a:srgbClr val="242039"/>
                </a:solidFill>
                <a:latin typeface="Arial"/>
                <a:ea typeface="Arial"/>
                <a:cs typeface="Arial"/>
              </a:defRPr>
            </a:lvl1pPr>
            <a:lvl2pPr>
              <a:defRPr sz="2100" b="1">
                <a:solidFill>
                  <a:srgbClr val="242039"/>
                </a:solidFill>
                <a:latin typeface="Arial"/>
                <a:ea typeface="Arial"/>
                <a:cs typeface="Arial"/>
              </a:defRPr>
            </a:lvl2pPr>
            <a:lvl3pPr>
              <a:defRPr sz="2100" b="1">
                <a:solidFill>
                  <a:srgbClr val="242039"/>
                </a:solidFill>
                <a:latin typeface="Arial"/>
                <a:ea typeface="Arial"/>
                <a:cs typeface="Arial"/>
              </a:defRPr>
            </a:lvl3pPr>
            <a:lvl4pPr>
              <a:defRPr sz="2100" b="1">
                <a:solidFill>
                  <a:srgbClr val="242039"/>
                </a:solidFill>
                <a:latin typeface="Arial"/>
                <a:ea typeface="Arial"/>
                <a:cs typeface="Arial"/>
              </a:defRPr>
            </a:lvl4pPr>
            <a:lvl5pPr>
              <a:defRPr sz="2100" b="1">
                <a:solidFill>
                  <a:srgbClr val="242039"/>
                </a:solidFill>
                <a:latin typeface="Arial"/>
                <a:ea typeface="Arial"/>
                <a:cs typeface="Arial"/>
              </a:defRPr>
            </a:lvl5pPr>
            <a:lvl6pPr>
              <a:defRPr sz="2100" b="1">
                <a:solidFill>
                  <a:srgbClr val="242039"/>
                </a:solidFill>
                <a:latin typeface="Arial"/>
                <a:ea typeface="Arial"/>
                <a:cs typeface="Arial"/>
              </a:defRPr>
            </a:lvl6pPr>
            <a:lvl7pPr>
              <a:defRPr sz="2100" b="1">
                <a:solidFill>
                  <a:srgbClr val="242039"/>
                </a:solidFill>
                <a:latin typeface="Arial"/>
                <a:ea typeface="Arial"/>
                <a:cs typeface="Arial"/>
              </a:defRPr>
            </a:lvl7pPr>
            <a:lvl8pPr>
              <a:defRPr sz="2100" b="1">
                <a:solidFill>
                  <a:srgbClr val="242039"/>
                </a:solidFill>
                <a:latin typeface="Arial"/>
                <a:ea typeface="Arial"/>
                <a:cs typeface="Arial"/>
              </a:defRPr>
            </a:lvl8pPr>
            <a:lvl9pPr>
              <a:defRPr sz="2100" b="1">
                <a:solidFill>
                  <a:srgbClr val="242039"/>
                </a:solidFill>
                <a:latin typeface="Arial"/>
                <a:ea typeface="Arial"/>
                <a:cs typeface="Arial"/>
              </a:defRPr>
            </a:lvl9pPr>
          </a:lstStyle>
          <a:p xmlns:a="http://schemas.openxmlformats.org/drawingml/2006/main">
            <a:pPr>
              <a:defRPr sz="2100" b="1">
                <a:solidFill>
                  <a:srgbClr val="242039"/>
                </a:solidFill>
                <a:latin typeface="Arial"/>
                <a:ea typeface="Arial"/>
                <a:cs typeface="Arial"/>
              </a:defRPr>
            </a:pPr>
            <a:r>
              <a:rPr sz="2100" b="1">
                <a:solidFill>
                  <a:srgbClr val="242039"/>
                </a:solidFill>
                <a:latin typeface="Arial"/>
                <a:ea typeface="Arial"/>
                <a:cs typeface="Arial"/>
              </a:rPr>
              <a:t>Hard limits filter first. Your priorities rank what remains.</a:t>
            </a:r>
          </a:p>
        </p:txBody>
      </p:sp>
      <p:sp>
        <p:nvSpPr>
          <p:cNvPr id="5" name="">
            <a:extLst xmlns:a="http://schemas.openxmlformats.org/drawingml/2006/main">
              <a:ext uri="{FF2B5EF4-FFF2-40B4-BE49-F238E27FC236}">
                <a16:creationId xmlns:a16="http://schemas.microsoft.com/office/drawing/2014/main" id="{5E73FF48-F2E9-40CB-9B9F-D75F7F79F109}"/>
              </a:ext>
            </a:extLst>
          </p:cNvPr>
          <p:cNvSpPr>
            <a:spLocks xmlns:a="http://schemas.openxmlformats.org/drawingml/2006/main" noGrp="1"/>
          </p:cNvSpPr>
          <p:nvPr/>
        </p:nvSpPr>
        <p:spPr>
          <a:xfrm xmlns:a="http://schemas.openxmlformats.org/drawingml/2006/main">
            <a:off x="762000" y="634365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625B74"/>
                </a:solidFill>
                <a:latin typeface="Arial"/>
                <a:ea typeface="Arial"/>
                <a:cs typeface="Arial"/>
              </a:defRPr>
            </a:defPPr>
            <a:lvl1pPr>
              <a:defRPr sz="1575" b="0">
                <a:solidFill>
                  <a:srgbClr val="625B74"/>
                </a:solidFill>
                <a:latin typeface="Arial"/>
                <a:ea typeface="Arial"/>
                <a:cs typeface="Arial"/>
              </a:defRPr>
            </a:lvl1pPr>
            <a:lvl2pPr>
              <a:defRPr sz="1575" b="0">
                <a:solidFill>
                  <a:srgbClr val="625B74"/>
                </a:solidFill>
                <a:latin typeface="Arial"/>
                <a:ea typeface="Arial"/>
                <a:cs typeface="Arial"/>
              </a:defRPr>
            </a:lvl2pPr>
            <a:lvl3pPr>
              <a:defRPr sz="1575" b="0">
                <a:solidFill>
                  <a:srgbClr val="625B74"/>
                </a:solidFill>
                <a:latin typeface="Arial"/>
                <a:ea typeface="Arial"/>
                <a:cs typeface="Arial"/>
              </a:defRPr>
            </a:lvl3pPr>
            <a:lvl4pPr>
              <a:defRPr sz="1575" b="0">
                <a:solidFill>
                  <a:srgbClr val="625B74"/>
                </a:solidFill>
                <a:latin typeface="Arial"/>
                <a:ea typeface="Arial"/>
                <a:cs typeface="Arial"/>
              </a:defRPr>
            </a:lvl4pPr>
            <a:lvl5pPr>
              <a:defRPr sz="1575" b="0">
                <a:solidFill>
                  <a:srgbClr val="625B74"/>
                </a:solidFill>
                <a:latin typeface="Arial"/>
                <a:ea typeface="Arial"/>
                <a:cs typeface="Arial"/>
              </a:defRPr>
            </a:lvl5pPr>
            <a:lvl6pPr>
              <a:defRPr sz="1575" b="0">
                <a:solidFill>
                  <a:srgbClr val="625B74"/>
                </a:solidFill>
                <a:latin typeface="Arial"/>
                <a:ea typeface="Arial"/>
                <a:cs typeface="Arial"/>
              </a:defRPr>
            </a:lvl6pPr>
            <a:lvl7pPr>
              <a:defRPr sz="1575" b="0">
                <a:solidFill>
                  <a:srgbClr val="625B74"/>
                </a:solidFill>
                <a:latin typeface="Arial"/>
                <a:ea typeface="Arial"/>
                <a:cs typeface="Arial"/>
              </a:defRPr>
            </a:lvl7pPr>
            <a:lvl8pPr>
              <a:defRPr sz="1575" b="0">
                <a:solidFill>
                  <a:srgbClr val="625B74"/>
                </a:solidFill>
                <a:latin typeface="Arial"/>
                <a:ea typeface="Arial"/>
                <a:cs typeface="Arial"/>
              </a:defRPr>
            </a:lvl8pPr>
            <a:lvl9pPr>
              <a:defRPr sz="1575" b="0">
                <a:solidFill>
                  <a:srgbClr val="625B74"/>
                </a:solidFill>
                <a:latin typeface="Arial"/>
                <a:ea typeface="Arial"/>
                <a:cs typeface="Arial"/>
              </a:defRPr>
            </a:lvl9pPr>
          </a:lstStyle>
          <a:p xmlns:a="http://schemas.openxmlformats.org/drawingml/2006/main">
            <a:pPr>
              <a:defRPr sz="1575" b="0">
                <a:solidFill>
                  <a:srgbClr val="625B74"/>
                </a:solidFill>
                <a:latin typeface="Arial"/>
                <a:ea typeface="Arial"/>
                <a:cs typeface="Arial"/>
              </a:defRPr>
            </a:pPr>
            <a:r>
              <a:rPr sz="1575" b="0">
                <a:solidFill>
                  <a:srgbClr val="625B74"/>
                </a:solidFill>
                <a:latin typeface="Arial"/>
                <a:ea typeface="Arial"/>
                <a:cs typeface="Arial"/>
              </a:rPr>
              <a:t>Simulated journeys and emissions. Scores measure relative preference fit.</a:t>
            </a:r>
          </a:p>
        </p:txBody>
      </p:sp>
    </p:spTree>
    <p:extLst>
      <p:ext uri="{BB962C8B-B14F-4D97-AF65-F5344CB8AC3E}">
        <p14:creationId xmlns:p14="http://schemas.microsoft.com/office/powerpoint/2010/main" val="1731711186"/>
      </p:ext>
    </p:extLst>
  </p:cSld>
</p:sld>
</file>

<file path=ppt/slides/slide5.xml><?xml version="1.0" encoding="utf-8"?>
<p:sld xmlns:p="http://schemas.openxmlformats.org/presentationml/2006/main">
  <p:cSld>
    <p:bg>
      <p:bgPr>
        <a:solidFill xmlns:a="http://schemas.openxmlformats.org/drawingml/2006/main">
          <a:srgbClr val="24203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CB657F-F98B-405E-AA1A-42DFD784F3BF}"/>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AI with a source you can open</a:t>
            </a:r>
          </a:p>
        </p:txBody>
      </p:sp>
      <p:sp>
        <p:nvSpPr>
          <p:cNvPr id="2" name="">
            <a:extLst xmlns:a="http://schemas.openxmlformats.org/drawingml/2006/main">
              <a:ext uri="{FF2B5EF4-FFF2-40B4-BE49-F238E27FC236}">
                <a16:creationId xmlns:a16="http://schemas.microsoft.com/office/drawing/2014/main" id="{49ED63B4-8B4C-499B-9E0C-3569B59FA217}"/>
              </a:ext>
            </a:extLst>
          </p:cNvPr>
          <p:cNvSpPr>
            <a:spLocks xmlns:a="http://schemas.openxmlformats.org/drawingml/2006/main" noGrp="1"/>
          </p:cNvSpPr>
          <p:nvPr/>
        </p:nvSpPr>
        <p:spPr>
          <a:xfrm xmlns:a="http://schemas.openxmlformats.org/drawingml/2006/main">
            <a:off x="762000" y="1962150"/>
            <a:ext cx="63341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Arial"/>
                <a:ea typeface="Arial"/>
                <a:cs typeface="Arial"/>
              </a:defRPr>
            </a:defPPr>
            <a:lvl1pPr>
              <a:defRPr sz="3225" b="1">
                <a:solidFill>
                  <a:srgbClr val="FFFFFF"/>
                </a:solidFill>
                <a:latin typeface="Arial"/>
                <a:ea typeface="Arial"/>
                <a:cs typeface="Arial"/>
              </a:defRPr>
            </a:lvl1pPr>
            <a:lvl2pPr>
              <a:defRPr sz="3225" b="1">
                <a:solidFill>
                  <a:srgbClr val="FFFFFF"/>
                </a:solidFill>
                <a:latin typeface="Arial"/>
                <a:ea typeface="Arial"/>
                <a:cs typeface="Arial"/>
              </a:defRPr>
            </a:lvl2pPr>
            <a:lvl3pPr>
              <a:defRPr sz="3225" b="1">
                <a:solidFill>
                  <a:srgbClr val="FFFFFF"/>
                </a:solidFill>
                <a:latin typeface="Arial"/>
                <a:ea typeface="Arial"/>
                <a:cs typeface="Arial"/>
              </a:defRPr>
            </a:lvl3pPr>
            <a:lvl4pPr>
              <a:defRPr sz="3225" b="1">
                <a:solidFill>
                  <a:srgbClr val="FFFFFF"/>
                </a:solidFill>
                <a:latin typeface="Arial"/>
                <a:ea typeface="Arial"/>
                <a:cs typeface="Arial"/>
              </a:defRPr>
            </a:lvl4pPr>
            <a:lvl5pPr>
              <a:defRPr sz="3225" b="1">
                <a:solidFill>
                  <a:srgbClr val="FFFFFF"/>
                </a:solidFill>
                <a:latin typeface="Arial"/>
                <a:ea typeface="Arial"/>
                <a:cs typeface="Arial"/>
              </a:defRPr>
            </a:lvl5pPr>
            <a:lvl6pPr>
              <a:defRPr sz="3225" b="1">
                <a:solidFill>
                  <a:srgbClr val="FFFFFF"/>
                </a:solidFill>
                <a:latin typeface="Arial"/>
                <a:ea typeface="Arial"/>
                <a:cs typeface="Arial"/>
              </a:defRPr>
            </a:lvl6pPr>
            <a:lvl7pPr>
              <a:defRPr sz="3225" b="1">
                <a:solidFill>
                  <a:srgbClr val="FFFFFF"/>
                </a:solidFill>
                <a:latin typeface="Arial"/>
                <a:ea typeface="Arial"/>
                <a:cs typeface="Arial"/>
              </a:defRPr>
            </a:lvl7pPr>
            <a:lvl8pPr>
              <a:defRPr sz="3225" b="1">
                <a:solidFill>
                  <a:srgbClr val="FFFFFF"/>
                </a:solidFill>
                <a:latin typeface="Arial"/>
                <a:ea typeface="Arial"/>
                <a:cs typeface="Arial"/>
              </a:defRPr>
            </a:lvl8pPr>
            <a:lvl9pPr>
              <a:defRPr sz="3225" b="1">
                <a:solidFill>
                  <a:srgbClr val="FFFFFF"/>
                </a:solidFill>
                <a:latin typeface="Arial"/>
                <a:ea typeface="Arial"/>
                <a:cs typeface="Arial"/>
              </a:defRPr>
            </a:lvl9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“The fictional museum opens at 11:00. The entrance has a ramp.”</a:t>
            </a:r>
          </a:p>
        </p:txBody>
      </p:sp>
      <p:sp>
        <p:nvSpPr>
          <p:cNvPr id="3" name="">
            <a:extLst xmlns:a="http://schemas.openxmlformats.org/drawingml/2006/main">
              <a:ext uri="{FF2B5EF4-FFF2-40B4-BE49-F238E27FC236}">
                <a16:creationId xmlns:a16="http://schemas.microsoft.com/office/drawing/2014/main" id="{00946A59-A055-4455-BD94-4E4A5204D733}"/>
              </a:ext>
            </a:extLst>
          </p:cNvPr>
          <p:cNvSpPr>
            <a:spLocks xmlns:a="http://schemas.openxmlformats.org/drawingml/2006/main" noGrp="1"/>
          </p:cNvSpPr>
          <p:nvPr/>
        </p:nvSpPr>
        <p:spPr>
          <a:xfrm xmlns:a="http://schemas.openxmlformats.org/drawingml/2006/main">
            <a:off x="762000" y="47148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9C779"/>
                </a:solidFill>
                <a:latin typeface="Arial"/>
                <a:ea typeface="Arial"/>
                <a:cs typeface="Arial"/>
              </a:defRPr>
            </a:defPPr>
            <a:lvl1pPr>
              <a:defRPr sz="1800" b="0">
                <a:solidFill>
                  <a:srgbClr val="E9C779"/>
                </a:solidFill>
                <a:latin typeface="Arial"/>
                <a:ea typeface="Arial"/>
                <a:cs typeface="Arial"/>
              </a:defRPr>
            </a:lvl1pPr>
            <a:lvl2pPr>
              <a:defRPr sz="1800" b="0">
                <a:solidFill>
                  <a:srgbClr val="E9C779"/>
                </a:solidFill>
                <a:latin typeface="Arial"/>
                <a:ea typeface="Arial"/>
                <a:cs typeface="Arial"/>
              </a:defRPr>
            </a:lvl2pPr>
            <a:lvl3pPr>
              <a:defRPr sz="1800" b="0">
                <a:solidFill>
                  <a:srgbClr val="E9C779"/>
                </a:solidFill>
                <a:latin typeface="Arial"/>
                <a:ea typeface="Arial"/>
                <a:cs typeface="Arial"/>
              </a:defRPr>
            </a:lvl3pPr>
            <a:lvl4pPr>
              <a:defRPr sz="1800" b="0">
                <a:solidFill>
                  <a:srgbClr val="E9C779"/>
                </a:solidFill>
                <a:latin typeface="Arial"/>
                <a:ea typeface="Arial"/>
                <a:cs typeface="Arial"/>
              </a:defRPr>
            </a:lvl4pPr>
            <a:lvl5pPr>
              <a:defRPr sz="1800" b="0">
                <a:solidFill>
                  <a:srgbClr val="E9C779"/>
                </a:solidFill>
                <a:latin typeface="Arial"/>
                <a:ea typeface="Arial"/>
                <a:cs typeface="Arial"/>
              </a:defRPr>
            </a:lvl5pPr>
            <a:lvl6pPr>
              <a:defRPr sz="1800" b="0">
                <a:solidFill>
                  <a:srgbClr val="E9C779"/>
                </a:solidFill>
                <a:latin typeface="Arial"/>
                <a:ea typeface="Arial"/>
                <a:cs typeface="Arial"/>
              </a:defRPr>
            </a:lvl6pPr>
            <a:lvl7pPr>
              <a:defRPr sz="1800" b="0">
                <a:solidFill>
                  <a:srgbClr val="E9C779"/>
                </a:solidFill>
                <a:latin typeface="Arial"/>
                <a:ea typeface="Arial"/>
                <a:cs typeface="Arial"/>
              </a:defRPr>
            </a:lvl7pPr>
            <a:lvl8pPr>
              <a:defRPr sz="1800" b="0">
                <a:solidFill>
                  <a:srgbClr val="E9C779"/>
                </a:solidFill>
                <a:latin typeface="Arial"/>
                <a:ea typeface="Arial"/>
                <a:cs typeface="Arial"/>
              </a:defRPr>
            </a:lvl8pPr>
            <a:lvl9pPr>
              <a:defRPr sz="1800" b="0">
                <a:solidFill>
                  <a:srgbClr val="E9C779"/>
                </a:solidFill>
                <a:latin typeface="Arial"/>
                <a:ea typeface="Arial"/>
                <a:cs typeface="Arial"/>
              </a:defRPr>
            </a:lvl9pPr>
          </a:lstStyle>
          <a:p xmlns:a="http://schemas.openxmlformats.org/drawingml/2006/main">
            <a:pPr>
              <a:defRPr sz="1800" b="0">
                <a:solidFill>
                  <a:srgbClr val="E9C779"/>
                </a:solidFill>
                <a:latin typeface="Arial"/>
                <a:ea typeface="Arial"/>
                <a:cs typeface="Arial"/>
              </a:defRPr>
            </a:pPr>
            <a:r>
              <a:rPr sz="1800" b="0">
                <a:solidFill>
                  <a:srgbClr val="E9C779"/>
                </a:solidFill>
                <a:latin typeface="Arial"/>
                <a:ea typeface="Arial"/>
                <a:cs typeface="Arial"/>
              </a:rPr>
              <a:t>Fictional museum guide</a:t>
            </a:r>
          </a:p>
          <a:p xmlns:a="http://schemas.openxmlformats.org/drawingml/2006/main">
            <a:pPr>
              <a:defRPr sz="1800" b="0">
                <a:solidFill>
                  <a:srgbClr val="E9C779"/>
                </a:solidFill>
                <a:latin typeface="Arial"/>
                <a:ea typeface="Arial"/>
                <a:cs typeface="Arial"/>
              </a:defRPr>
            </a:pPr>
            <a:r>
              <a:rPr sz="1800" b="0">
                <a:solidFill>
                  <a:srgbClr val="E9C779"/>
                </a:solidFill>
                <a:latin typeface="Arial"/>
                <a:ea typeface="Arial"/>
                <a:cs typeface="Arial"/>
              </a:rPr>
              <a:t>Mocked-provider example</a:t>
            </a:r>
          </a:p>
        </p:txBody>
      </p:sp>
      <p:sp>
        <p:nvSpPr>
          <p:cNvPr id="4" name="">
            <a:extLst xmlns:a="http://schemas.openxmlformats.org/drawingml/2006/main">
              <a:ext uri="{FF2B5EF4-FFF2-40B4-BE49-F238E27FC236}">
                <a16:creationId xmlns:a16="http://schemas.microsoft.com/office/drawing/2014/main" id="{25D71A8B-C990-4F76-A01A-DC2D6F8BAA95}"/>
              </a:ext>
            </a:extLst>
          </p:cNvPr>
          <p:cNvSpPr>
            <a:spLocks xmlns:a="http://schemas.openxmlformats.org/drawingml/2006/main" noGrp="1"/>
          </p:cNvSpPr>
          <p:nvPr/>
        </p:nvSpPr>
        <p:spPr>
          <a:xfrm xmlns:a="http://schemas.openxmlformats.org/drawingml/2006/main">
            <a:off x="7810500" y="1876425"/>
            <a:ext cx="342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E9C779"/>
                </a:solidFill>
                <a:latin typeface="Arial"/>
                <a:ea typeface="Arial"/>
                <a:cs typeface="Arial"/>
              </a:defRPr>
            </a:defPPr>
            <a:lvl1pPr>
              <a:defRPr sz="2400" b="1">
                <a:solidFill>
                  <a:srgbClr val="E9C779"/>
                </a:solidFill>
                <a:latin typeface="Arial"/>
                <a:ea typeface="Arial"/>
                <a:cs typeface="Arial"/>
              </a:defRPr>
            </a:lvl1pPr>
            <a:lvl2pPr>
              <a:defRPr sz="2400" b="1">
                <a:solidFill>
                  <a:srgbClr val="E9C779"/>
                </a:solidFill>
                <a:latin typeface="Arial"/>
                <a:ea typeface="Arial"/>
                <a:cs typeface="Arial"/>
              </a:defRPr>
            </a:lvl2pPr>
            <a:lvl3pPr>
              <a:defRPr sz="2400" b="1">
                <a:solidFill>
                  <a:srgbClr val="E9C779"/>
                </a:solidFill>
                <a:latin typeface="Arial"/>
                <a:ea typeface="Arial"/>
                <a:cs typeface="Arial"/>
              </a:defRPr>
            </a:lvl3pPr>
            <a:lvl4pPr>
              <a:defRPr sz="2400" b="1">
                <a:solidFill>
                  <a:srgbClr val="E9C779"/>
                </a:solidFill>
                <a:latin typeface="Arial"/>
                <a:ea typeface="Arial"/>
                <a:cs typeface="Arial"/>
              </a:defRPr>
            </a:lvl4pPr>
            <a:lvl5pPr>
              <a:defRPr sz="2400" b="1">
                <a:solidFill>
                  <a:srgbClr val="E9C779"/>
                </a:solidFill>
                <a:latin typeface="Arial"/>
                <a:ea typeface="Arial"/>
                <a:cs typeface="Arial"/>
              </a:defRPr>
            </a:lvl5pPr>
            <a:lvl6pPr>
              <a:defRPr sz="2400" b="1">
                <a:solidFill>
                  <a:srgbClr val="E9C779"/>
                </a:solidFill>
                <a:latin typeface="Arial"/>
                <a:ea typeface="Arial"/>
                <a:cs typeface="Arial"/>
              </a:defRPr>
            </a:lvl6pPr>
            <a:lvl7pPr>
              <a:defRPr sz="2400" b="1">
                <a:solidFill>
                  <a:srgbClr val="E9C779"/>
                </a:solidFill>
                <a:latin typeface="Arial"/>
                <a:ea typeface="Arial"/>
                <a:cs typeface="Arial"/>
              </a:defRPr>
            </a:lvl7pPr>
            <a:lvl8pPr>
              <a:defRPr sz="2400" b="1">
                <a:solidFill>
                  <a:srgbClr val="E9C779"/>
                </a:solidFill>
                <a:latin typeface="Arial"/>
                <a:ea typeface="Arial"/>
                <a:cs typeface="Arial"/>
              </a:defRPr>
            </a:lvl8pPr>
            <a:lvl9pPr>
              <a:defRPr sz="2400" b="1">
                <a:solidFill>
                  <a:srgbClr val="E9C779"/>
                </a:solidFill>
                <a:latin typeface="Arial"/>
                <a:ea typeface="Arial"/>
                <a:cs typeface="Arial"/>
              </a:defRPr>
            </a:lvl9pPr>
          </a:lstStyle>
          <a:p xmlns:a="http://schemas.openxmlformats.org/drawingml/2006/main">
            <a:pPr>
              <a:defRPr sz="2400" b="1">
                <a:solidFill>
                  <a:srgbClr val="E9C779"/>
                </a:solidFill>
                <a:latin typeface="Arial"/>
                <a:ea typeface="Arial"/>
                <a:cs typeface="Arial"/>
              </a:defRPr>
            </a:pPr>
            <a:r>
              <a:rPr sz="2400" b="1">
                <a:solidFill>
                  <a:srgbClr val="E9C779"/>
                </a:solidFill>
                <a:latin typeface="Arial"/>
                <a:ea typeface="Arial"/>
                <a:cs typeface="Arial"/>
              </a:rPr>
              <a:t>Your selected evidence</a:t>
            </a:r>
          </a:p>
        </p:txBody>
      </p:sp>
      <p:sp>
        <p:nvSpPr>
          <p:cNvPr id="5" name="">
            <a:extLst xmlns:a="http://schemas.openxmlformats.org/drawingml/2006/main">
              <a:ext uri="{FF2B5EF4-FFF2-40B4-BE49-F238E27FC236}">
                <a16:creationId xmlns:a16="http://schemas.microsoft.com/office/drawing/2014/main" id="{0E038A8F-BF7C-404E-A3F0-34AAA95B31C2}"/>
              </a:ext>
            </a:extLst>
          </p:cNvPr>
          <p:cNvSpPr>
            <a:spLocks xmlns:a="http://schemas.openxmlformats.org/drawingml/2006/main" noGrp="1"/>
          </p:cNvSpPr>
          <p:nvPr/>
        </p:nvSpPr>
        <p:spPr>
          <a:xfrm xmlns:a="http://schemas.openxmlformats.org/drawingml/2006/main">
            <a:off x="7810500" y="2962275"/>
            <a:ext cx="3429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Ask a question or request options.</a:t>
            </a:r>
          </a:p>
          <a:p xmlns:a="http://schemas.openxmlformats.org/drawingml/2006/main">
            <a:r>
              <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Open the exact quote in its original context.</a:t>
            </a:r>
          </a:p>
        </p:txBody>
      </p:sp>
      <p:sp>
        <p:nvSpPr>
          <p:cNvPr id="6" name="">
            <a:extLst xmlns:a="http://schemas.openxmlformats.org/drawingml/2006/main">
              <a:ext uri="{FF2B5EF4-FFF2-40B4-BE49-F238E27FC236}">
                <a16:creationId xmlns:a16="http://schemas.microsoft.com/office/drawing/2014/main" id="{BA859B69-CF4B-4105-9E24-3DC5317F0FA8}"/>
              </a:ext>
            </a:extLst>
          </p:cNvPr>
          <p:cNvSpPr>
            <a:spLocks xmlns:a="http://schemas.openxmlformats.org/drawingml/2006/main" noGrp="1"/>
          </p:cNvSpPr>
          <p:nvPr/>
        </p:nvSpPr>
        <p:spPr>
          <a:xfrm xmlns:a="http://schemas.openxmlformats.org/drawingml/2006/main">
            <a:off x="762000" y="599122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Quote validation checks source membership. People still judge the answer.</a:t>
            </a:r>
          </a:p>
        </p:txBody>
      </p:sp>
    </p:spTree>
    <p:extLst>
      <p:ext uri="{BB962C8B-B14F-4D97-AF65-F5344CB8AC3E}">
        <p14:creationId xmlns:p14="http://schemas.microsoft.com/office/powerpoint/2010/main" val="507525278"/>
      </p:ext>
    </p:extLst>
  </p:cSld>
</p:sld>
</file>

<file path=ppt/slides/slide6.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891A1E-30EA-42E7-B79B-84440B7E41E9}"/>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One interface, two editions</a:t>
            </a:r>
          </a:p>
        </p:txBody>
      </p:sp>
      <p:graphicFrame>
        <p:nvGraphicFramePr>
          <p:cNvPr id="2" name="">
            <a:extLst xmlns:a="http://schemas.openxmlformats.org/drawingml/2006/main">
              <a:ext uri="{FF2B5EF4-FFF2-40B4-BE49-F238E27FC236}">
                <a16:creationId xmlns:a16="http://schemas.microsoft.com/office/drawing/2014/main" id="{BBC8E03B-0C03-4E41-B94C-A5841CA63977}"/>
              </a:ext>
            </a:extLst>
          </p:cNvPr>
          <p:cNvGraphicFramePr/>
          <p:nvPr/>
        </p:nvGraphicFramePr>
        <p:xfrm>
          <a:off xmlns:a="http://schemas.openxmlformats.org/drawingml/2006/main" x="762000" y="1676400"/>
          <a:ext xmlns:a="http://schemas.openxmlformats.org/drawingml/2006/main" cx="10668000" cy="3333750"/>
        </p:xfrm>
        <a:graphic xmlns:a="http://schemas.openxmlformats.org/drawingml/2006/main">
          <a:graphicData uri="http://schemas.openxmlformats.org/drawingml/2006/table">
            <a:tbl>
              <a:tblPr/>
              <a:tblGrid>
                <a:gridCol w="2286000"/>
                <a:gridCol w="4191000"/>
                <a:gridCol w="4191000"/>
              </a:tblGrid>
              <a:tr h="666750">
                <a:tc>
                  <a:txBody>
                    <a:bodyPr lIns="133350" tIns="133350" rIns="133350" bIns="133350"/>
                    <a:lstStyle/>
                    <a:p>
                      <a:r>
                        <a:rPr sz="1875" b="1">
                          <a:solidFill>
                            <a:srgbClr val="FFFFFF"/>
                          </a:solidFill>
                          <a:latin typeface="Arial"/>
                          <a:ea typeface="Arial"/>
                          <a:cs typeface="Arial"/>
                        </a:rPr>
                        <a:t/>
                      </a:r>
                    </a:p>
                  </a:txBody>
                  <a:tcPr marL="91440" marR="91440" marT="45720" marB="45720" anchor="ctr">
                    <a:lnL w="6668">
                      <a:solidFill>
                        <a:srgbClr val="D8D2E5"/>
                      </a:solidFill>
                      <a:prstDash val="solid"/>
                    </a:lnL>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75" b="1">
                          <a:solidFill>
                            <a:srgbClr val="FFFFFF"/>
                          </a:solidFill>
                          <a:latin typeface="Arial"/>
                          <a:ea typeface="Arial"/>
                          <a:cs typeface="Arial"/>
                        </a:rPr>
                        <a:t>Browser</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c>
                  <a:txBody>
                    <a:bodyPr lIns="133350" tIns="133350" rIns="133350" bIns="133350"/>
                    <a:lstStyle/>
                    <a:p>
                      <a:r>
                        <a:rPr sz="1875" b="1">
                          <a:solidFill>
                            <a:srgbClr val="FFFFFF"/>
                          </a:solidFill>
                          <a:latin typeface="Arial"/>
                          <a:ea typeface="Arial"/>
                          <a:cs typeface="Arial"/>
                        </a:rPr>
                        <a:t>Electron desktop</a:t>
                      </a:r>
                    </a:p>
                  </a:txBody>
                  <a:tcPr marL="91440" marR="91440" marT="45720" marB="45720" anchor="ctr">
                    <a:lnR w="6668">
                      <a:solidFill>
                        <a:srgbClr val="D8D2E5"/>
                      </a:solidFill>
                      <a:prstDash val="solid"/>
                    </a:lnR>
                    <a:lnT w="6668">
                      <a:solidFill>
                        <a:srgbClr val="D8D2E5"/>
                      </a:solidFill>
                      <a:prstDash val="solid"/>
                    </a:lnT>
                    <a:lnB w="6668">
                      <a:solidFill>
                        <a:srgbClr val="D8D2E5"/>
                      </a:solidFill>
                      <a:prstDash val="solid"/>
                    </a:lnB>
                    <a:solidFill>
                      <a:srgbClr val="58458D"/>
                    </a:solidFill>
                  </a:tcPr>
                </a:tc>
              </a:tr>
              <a:tr h="666750">
                <a:tc>
                  <a:txBody>
                    <a:bodyPr lIns="133350" tIns="133350" rIns="133350" bIns="133350"/>
                    <a:lstStyle/>
                    <a:p>
                      <a:r>
                        <a:rPr sz="1950" b="0">
                          <a:solidFill>
                            <a:srgbClr val="242039"/>
                          </a:solidFill>
                          <a:latin typeface="Arial"/>
                          <a:ea typeface="Arial"/>
                          <a:cs typeface="Arial"/>
                        </a:rPr>
                        <a:t>Interface</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Shared web interface</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Shared web interface</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666750">
                <a:tc>
                  <a:txBody>
                    <a:bodyPr lIns="133350" tIns="133350" rIns="133350" bIns="133350"/>
                    <a:lstStyle/>
                    <a:p>
                      <a:r>
                        <a:rPr sz="1950" b="0">
                          <a:solidFill>
                            <a:srgbClr val="242039"/>
                          </a:solidFill>
                          <a:latin typeface="Arial"/>
                          <a:ea typeface="Arial"/>
                          <a:cs typeface="Arial"/>
                        </a:rPr>
                        <a:t>Calculation</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Equivalent JavaScript</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Local Python API</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r h="666750">
                <a:tc>
                  <a:txBody>
                    <a:bodyPr lIns="133350" tIns="133350" rIns="133350" bIns="133350"/>
                    <a:lstStyle/>
                    <a:p>
                      <a:r>
                        <a:rPr sz="1950" b="0">
                          <a:solidFill>
                            <a:srgbClr val="242039"/>
                          </a:solidFill>
                          <a:latin typeface="Arial"/>
                          <a:ea typeface="Arial"/>
                          <a:cs typeface="Arial"/>
                        </a:rPr>
                        <a:t>Source library</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Local IndexedDB</a:t>
                      </a:r>
                    </a:p>
                  </a:txBody>
                  <a:tcPr marL="91440" marR="91440" marT="45720" marB="45720" anchor="ctr">
                    <a:lnR w="6668">
                      <a:solidFill>
                        <a:srgbClr val="D8D2E5"/>
                      </a:solidFill>
                      <a:prstDash val="solid"/>
                    </a:lnR>
                    <a:lnB w="6668">
                      <a:solidFill>
                        <a:srgbClr val="D8D2E5"/>
                      </a:solidFill>
                      <a:prstDash val="solid"/>
                    </a:lnB>
                    <a:solidFill>
                      <a:srgbClr val="FFFFFF"/>
                    </a:solidFill>
                  </a:tcPr>
                </a:tc>
                <a:tc>
                  <a:txBody>
                    <a:bodyPr lIns="133350" tIns="133350" rIns="133350" bIns="133350"/>
                    <a:lstStyle/>
                    <a:p>
                      <a:r>
                        <a:rPr sz="1950" b="0">
                          <a:solidFill>
                            <a:srgbClr val="242039"/>
                          </a:solidFill>
                          <a:latin typeface="Arial"/>
                          <a:ea typeface="Arial"/>
                          <a:cs typeface="Arial"/>
                        </a:rPr>
                        <a:t>Local SQLite</a:t>
                      </a:r>
                    </a:p>
                  </a:txBody>
                  <a:tcPr marL="91440" marR="91440" marT="45720" marB="45720" anchor="ctr">
                    <a:lnR w="6668">
                      <a:solidFill>
                        <a:srgbClr val="D8D2E5"/>
                      </a:solidFill>
                      <a:prstDash val="solid"/>
                    </a:lnR>
                    <a:lnB w="6668">
                      <a:solidFill>
                        <a:srgbClr val="D8D2E5"/>
                      </a:solidFill>
                      <a:prstDash val="solid"/>
                    </a:lnB>
                    <a:solidFill>
                      <a:srgbClr val="FFFFFF"/>
                    </a:solidFill>
                  </a:tcPr>
                </a:tc>
              </a:tr>
              <a:tr h="666750">
                <a:tc>
                  <a:txBody>
                    <a:bodyPr lIns="133350" tIns="133350" rIns="133350" bIns="133350"/>
                    <a:lstStyle/>
                    <a:p>
                      <a:r>
                        <a:rPr sz="1950" b="0">
                          <a:solidFill>
                            <a:srgbClr val="242039"/>
                          </a:solidFill>
                          <a:latin typeface="Arial"/>
                          <a:ea typeface="Arial"/>
                          <a:cs typeface="Arial"/>
                        </a:rPr>
                        <a:t>Evidence help</a:t>
                      </a:r>
                    </a:p>
                  </a:txBody>
                  <a:tcPr marL="91440" marR="91440" marT="45720" marB="45720" anchor="ctr">
                    <a:lnL w="6668">
                      <a:solidFill>
                        <a:srgbClr val="D8D2E5"/>
                      </a:solidFill>
                      <a:prstDash val="solid"/>
                    </a:lnL>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Original passage search</a:t>
                      </a:r>
                    </a:p>
                  </a:txBody>
                  <a:tcPr marL="91440" marR="91440" marT="45720" marB="45720" anchor="ctr">
                    <a:lnR w="6668">
                      <a:solidFill>
                        <a:srgbClr val="D8D2E5"/>
                      </a:solidFill>
                      <a:prstDash val="solid"/>
                    </a:lnR>
                    <a:lnB w="6668">
                      <a:solidFill>
                        <a:srgbClr val="D8D2E5"/>
                      </a:solidFill>
                      <a:prstDash val="solid"/>
                    </a:lnB>
                    <a:solidFill>
                      <a:srgbClr val="ECE7F8"/>
                    </a:solidFill>
                  </a:tcPr>
                </a:tc>
                <a:tc>
                  <a:txBody>
                    <a:bodyPr lIns="133350" tIns="133350" rIns="133350" bIns="133350"/>
                    <a:lstStyle/>
                    <a:p>
                      <a:r>
                        <a:rPr sz="1950" b="0">
                          <a:solidFill>
                            <a:srgbClr val="242039"/>
                          </a:solidFill>
                          <a:latin typeface="Arial"/>
                          <a:ea typeface="Arial"/>
                          <a:cs typeface="Arial"/>
                        </a:rPr>
                        <a:t>Optional cited cloud AI</a:t>
                      </a:r>
                    </a:p>
                  </a:txBody>
                  <a:tcPr marL="91440" marR="91440" marT="45720" marB="45720" anchor="ctr">
                    <a:lnR w="6668">
                      <a:solidFill>
                        <a:srgbClr val="D8D2E5"/>
                      </a:solidFill>
                      <a:prstDash val="solid"/>
                    </a:lnR>
                    <a:lnB w="6668">
                      <a:solidFill>
                        <a:srgbClr val="D8D2E5"/>
                      </a:solidFill>
                      <a:prstDash val="solid"/>
                    </a:lnB>
                    <a:solidFill>
                      <a:srgbClr val="ECE7F8"/>
                    </a:solidFill>
                  </a:tcPr>
                </a:tc>
              </a:tr>
            </a:tbl>
          </a:graphicData>
        </a:graphic>
      </p:graphicFrame>
      <p:sp>
        <p:nvSpPr>
          <p:cNvPr id="3" name="">
            <a:extLst xmlns:a="http://schemas.openxmlformats.org/drawingml/2006/main">
              <a:ext uri="{FF2B5EF4-FFF2-40B4-BE49-F238E27FC236}">
                <a16:creationId xmlns:a16="http://schemas.microsoft.com/office/drawing/2014/main" id="{44367F1E-63FA-448D-BCF3-31AF9678565D}"/>
              </a:ext>
            </a:extLst>
          </p:cNvPr>
          <p:cNvSpPr>
            <a:spLocks xmlns:a="http://schemas.openxmlformats.org/drawingml/2006/main" noGrp="1"/>
          </p:cNvSpPr>
          <p:nvPr/>
        </p:nvSpPr>
        <p:spPr>
          <a:xfrm xmlns:a="http://schemas.openxmlformats.org/drawingml/2006/main">
            <a:off x="762000" y="53625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58458D"/>
                </a:solidFill>
                <a:latin typeface="Arial"/>
                <a:ea typeface="Arial"/>
                <a:cs typeface="Arial"/>
              </a:defRPr>
            </a:defPPr>
            <a:lvl1pPr>
              <a:defRPr sz="1950" b="1">
                <a:solidFill>
                  <a:srgbClr val="58458D"/>
                </a:solidFill>
                <a:latin typeface="Arial"/>
                <a:ea typeface="Arial"/>
                <a:cs typeface="Arial"/>
              </a:defRPr>
            </a:lvl1pPr>
            <a:lvl2pPr>
              <a:defRPr sz="1950" b="1">
                <a:solidFill>
                  <a:srgbClr val="58458D"/>
                </a:solidFill>
                <a:latin typeface="Arial"/>
                <a:ea typeface="Arial"/>
                <a:cs typeface="Arial"/>
              </a:defRPr>
            </a:lvl2pPr>
            <a:lvl3pPr>
              <a:defRPr sz="1950" b="1">
                <a:solidFill>
                  <a:srgbClr val="58458D"/>
                </a:solidFill>
                <a:latin typeface="Arial"/>
                <a:ea typeface="Arial"/>
                <a:cs typeface="Arial"/>
              </a:defRPr>
            </a:lvl3pPr>
            <a:lvl4pPr>
              <a:defRPr sz="1950" b="1">
                <a:solidFill>
                  <a:srgbClr val="58458D"/>
                </a:solidFill>
                <a:latin typeface="Arial"/>
                <a:ea typeface="Arial"/>
                <a:cs typeface="Arial"/>
              </a:defRPr>
            </a:lvl4pPr>
            <a:lvl5pPr>
              <a:defRPr sz="1950" b="1">
                <a:solidFill>
                  <a:srgbClr val="58458D"/>
                </a:solidFill>
                <a:latin typeface="Arial"/>
                <a:ea typeface="Arial"/>
                <a:cs typeface="Arial"/>
              </a:defRPr>
            </a:lvl5pPr>
            <a:lvl6pPr>
              <a:defRPr sz="1950" b="1">
                <a:solidFill>
                  <a:srgbClr val="58458D"/>
                </a:solidFill>
                <a:latin typeface="Arial"/>
                <a:ea typeface="Arial"/>
                <a:cs typeface="Arial"/>
              </a:defRPr>
            </a:lvl6pPr>
            <a:lvl7pPr>
              <a:defRPr sz="1950" b="1">
                <a:solidFill>
                  <a:srgbClr val="58458D"/>
                </a:solidFill>
                <a:latin typeface="Arial"/>
                <a:ea typeface="Arial"/>
                <a:cs typeface="Arial"/>
              </a:defRPr>
            </a:lvl7pPr>
            <a:lvl8pPr>
              <a:defRPr sz="1950" b="1">
                <a:solidFill>
                  <a:srgbClr val="58458D"/>
                </a:solidFill>
                <a:latin typeface="Arial"/>
                <a:ea typeface="Arial"/>
                <a:cs typeface="Arial"/>
              </a:defRPr>
            </a:lvl8pPr>
            <a:lvl9pPr>
              <a:defRPr sz="1950" b="1">
                <a:solidFill>
                  <a:srgbClr val="58458D"/>
                </a:solidFill>
                <a:latin typeface="Arial"/>
                <a:ea typeface="Arial"/>
                <a:cs typeface="Arial"/>
              </a:defRPr>
            </a:lvl9pPr>
          </a:lstStyle>
          <a:p xmlns:a="http://schemas.openxmlformats.org/drawingml/2006/main">
            <a:pPr>
              <a:defRPr sz="1950" b="1">
                <a:solidFill>
                  <a:srgbClr val="58458D"/>
                </a:solidFill>
                <a:latin typeface="Arial"/>
                <a:ea typeface="Arial"/>
                <a:cs typeface="Arial"/>
              </a:defRPr>
            </a:pPr>
            <a:r>
              <a:rPr sz="1950" b="1">
                <a:solidFill>
                  <a:srgbClr val="58458D"/>
                </a:solidFill>
                <a:latin typeface="Arial"/>
                <a:ea typeface="Arial"/>
                <a:cs typeface="Arial"/>
              </a:rPr>
              <a:t>The desktop identifies the selected AI recipient. Keys are encrypted on this device.</a:t>
            </a:r>
          </a:p>
          <a:p xmlns:a="http://schemas.openxmlformats.org/drawingml/2006/main">
            <a:pPr>
              <a:defRPr sz="1950" b="1">
                <a:solidFill>
                  <a:srgbClr val="58458D"/>
                </a:solidFill>
                <a:latin typeface="Arial"/>
                <a:ea typeface="Arial"/>
                <a:cs typeface="Arial"/>
              </a:defRPr>
            </a:pPr>
            <a:r>
              <a:rPr sz="1950" b="1">
                <a:solidFill>
                  <a:srgbClr val="58458D"/>
                </a:solidFill>
                <a:latin typeface="Arial"/>
                <a:ea typeface="Arial"/>
                <a:cs typeface="Arial"/>
              </a:rPr>
              <a:t>Calculated comparisons stay available when AI fails.</a:t>
            </a:r>
          </a:p>
        </p:txBody>
      </p:sp>
      <p:sp>
        <p:nvSpPr>
          <p:cNvPr id="4" name="">
            <a:extLst xmlns:a="http://schemas.openxmlformats.org/drawingml/2006/main">
              <a:ext uri="{FF2B5EF4-FFF2-40B4-BE49-F238E27FC236}">
                <a16:creationId xmlns:a16="http://schemas.microsoft.com/office/drawing/2014/main" id="{C8283F0D-1FB4-4633-B626-D02B8DA281EE}"/>
              </a:ext>
            </a:extLst>
          </p:cNvPr>
          <p:cNvSpPr>
            <a:spLocks xmlns:a="http://schemas.openxmlformats.org/drawingml/2006/main" noGrp="1"/>
          </p:cNvSpPr>
          <p:nvPr/>
        </p:nvSpPr>
        <p:spPr>
          <a:xfrm xmlns:a="http://schemas.openxmlformats.org/drawingml/2006/main">
            <a:off x="762000" y="6334125"/>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25B74"/>
                </a:solidFill>
                <a:latin typeface="Arial"/>
                <a:ea typeface="Arial"/>
                <a:cs typeface="Arial"/>
              </a:defRPr>
            </a:defPPr>
            <a:lvl1pPr>
              <a:defRPr sz="1725" b="0">
                <a:solidFill>
                  <a:srgbClr val="625B74"/>
                </a:solidFill>
                <a:latin typeface="Arial"/>
                <a:ea typeface="Arial"/>
                <a:cs typeface="Arial"/>
              </a:defRPr>
            </a:lvl1pPr>
            <a:lvl2pPr>
              <a:defRPr sz="1725" b="0">
                <a:solidFill>
                  <a:srgbClr val="625B74"/>
                </a:solidFill>
                <a:latin typeface="Arial"/>
                <a:ea typeface="Arial"/>
                <a:cs typeface="Arial"/>
              </a:defRPr>
            </a:lvl2pPr>
            <a:lvl3pPr>
              <a:defRPr sz="1725" b="0">
                <a:solidFill>
                  <a:srgbClr val="625B74"/>
                </a:solidFill>
                <a:latin typeface="Arial"/>
                <a:ea typeface="Arial"/>
                <a:cs typeface="Arial"/>
              </a:defRPr>
            </a:lvl3pPr>
            <a:lvl4pPr>
              <a:defRPr sz="1725" b="0">
                <a:solidFill>
                  <a:srgbClr val="625B74"/>
                </a:solidFill>
                <a:latin typeface="Arial"/>
                <a:ea typeface="Arial"/>
                <a:cs typeface="Arial"/>
              </a:defRPr>
            </a:lvl4pPr>
            <a:lvl5pPr>
              <a:defRPr sz="1725" b="0">
                <a:solidFill>
                  <a:srgbClr val="625B74"/>
                </a:solidFill>
                <a:latin typeface="Arial"/>
                <a:ea typeface="Arial"/>
                <a:cs typeface="Arial"/>
              </a:defRPr>
            </a:lvl5pPr>
            <a:lvl6pPr>
              <a:defRPr sz="1725" b="0">
                <a:solidFill>
                  <a:srgbClr val="625B74"/>
                </a:solidFill>
                <a:latin typeface="Arial"/>
                <a:ea typeface="Arial"/>
                <a:cs typeface="Arial"/>
              </a:defRPr>
            </a:lvl6pPr>
            <a:lvl7pPr>
              <a:defRPr sz="1725" b="0">
                <a:solidFill>
                  <a:srgbClr val="625B74"/>
                </a:solidFill>
                <a:latin typeface="Arial"/>
                <a:ea typeface="Arial"/>
                <a:cs typeface="Arial"/>
              </a:defRPr>
            </a:lvl7pPr>
            <a:lvl8pPr>
              <a:defRPr sz="1725" b="0">
                <a:solidFill>
                  <a:srgbClr val="625B74"/>
                </a:solidFill>
                <a:latin typeface="Arial"/>
                <a:ea typeface="Arial"/>
                <a:cs typeface="Arial"/>
              </a:defRPr>
            </a:lvl8pPr>
            <a:lvl9pPr>
              <a:defRPr sz="1725" b="0">
                <a:solidFill>
                  <a:srgbClr val="625B74"/>
                </a:solidFill>
                <a:latin typeface="Arial"/>
                <a:ea typeface="Arial"/>
                <a:cs typeface="Arial"/>
              </a:defRPr>
            </a:lvl9pPr>
          </a:lstStyle>
          <a:p xmlns:a="http://schemas.openxmlformats.org/drawingml/2006/main">
            <a:pPr>
              <a:defRPr sz="1725" b="0">
                <a:solidFill>
                  <a:srgbClr val="625B74"/>
                </a:solidFill>
                <a:latin typeface="Arial"/>
                <a:ea typeface="Arial"/>
                <a:cs typeface="Arial"/>
              </a:defRPr>
            </a:pPr>
            <a:r>
              <a:rPr sz="1725" b="0">
                <a:solidFill>
                  <a:srgbClr val="625B74"/>
                </a:solidFill>
                <a:latin typeface="Arial"/>
                <a:ea typeface="Arial"/>
                <a:cs typeface="Arial"/>
              </a:rPr>
              <a:t>Theo: backend     Wahab: frontend and desktop interface</a:t>
            </a:r>
          </a:p>
        </p:txBody>
      </p:sp>
    </p:spTree>
    <p:extLst>
      <p:ext uri="{BB962C8B-B14F-4D97-AF65-F5344CB8AC3E}">
        <p14:creationId xmlns:p14="http://schemas.microsoft.com/office/powerpoint/2010/main" val="1447892829"/>
      </p:ext>
    </p:extLst>
  </p:cSld>
</p:sld>
</file>

<file path=ppt/slides/slide7.xml><?xml version="1.0" encoding="utf-8"?>
<p:sld xmlns:p="http://schemas.openxmlformats.org/presentationml/2006/main">
  <p:cSld>
    <p:bg>
      <p:bgPr>
        <a:solidFill xmlns:a="http://schemas.openxmlformats.org/drawingml/2006/main">
          <a:srgbClr val="24203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F265A7-94B5-4750-A277-438CA1F2FE14}"/>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Maya's choice and its trade-offs</a:t>
            </a:r>
          </a:p>
        </p:txBody>
      </p:sp>
      <p:sp>
        <p:nvSpPr>
          <p:cNvPr id="2" name="">
            <a:extLst xmlns:a="http://schemas.openxmlformats.org/drawingml/2006/main">
              <a:ext uri="{FF2B5EF4-FFF2-40B4-BE49-F238E27FC236}">
                <a16:creationId xmlns:a16="http://schemas.microsoft.com/office/drawing/2014/main" id="{E146BDB9-A01E-47EE-A9F8-9F4178C58505}"/>
              </a:ext>
            </a:extLst>
          </p:cNvPr>
          <p:cNvSpPr>
            <a:spLocks xmlns:a="http://schemas.openxmlformats.org/drawingml/2006/main" noGrp="1"/>
          </p:cNvSpPr>
          <p:nvPr/>
        </p:nvSpPr>
        <p:spPr>
          <a:xfrm xmlns:a="http://schemas.openxmlformats.org/drawingml/2006/main">
            <a:off x="762000" y="16668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E9C779"/>
                </a:solidFill>
                <a:latin typeface="Arial"/>
                <a:ea typeface="Arial"/>
                <a:cs typeface="Arial"/>
              </a:defRPr>
            </a:defPPr>
            <a:lvl1pPr>
              <a:defRPr sz="2700" b="1">
                <a:solidFill>
                  <a:srgbClr val="E9C779"/>
                </a:solidFill>
                <a:latin typeface="Arial"/>
                <a:ea typeface="Arial"/>
                <a:cs typeface="Arial"/>
              </a:defRPr>
            </a:lvl1pPr>
            <a:lvl2pPr>
              <a:defRPr sz="2700" b="1">
                <a:solidFill>
                  <a:srgbClr val="E9C779"/>
                </a:solidFill>
                <a:latin typeface="Arial"/>
                <a:ea typeface="Arial"/>
                <a:cs typeface="Arial"/>
              </a:defRPr>
            </a:lvl2pPr>
            <a:lvl3pPr>
              <a:defRPr sz="2700" b="1">
                <a:solidFill>
                  <a:srgbClr val="E9C779"/>
                </a:solidFill>
                <a:latin typeface="Arial"/>
                <a:ea typeface="Arial"/>
                <a:cs typeface="Arial"/>
              </a:defRPr>
            </a:lvl3pPr>
            <a:lvl4pPr>
              <a:defRPr sz="2700" b="1">
                <a:solidFill>
                  <a:srgbClr val="E9C779"/>
                </a:solidFill>
                <a:latin typeface="Arial"/>
                <a:ea typeface="Arial"/>
                <a:cs typeface="Arial"/>
              </a:defRPr>
            </a:lvl4pPr>
            <a:lvl5pPr>
              <a:defRPr sz="2700" b="1">
                <a:solidFill>
                  <a:srgbClr val="E9C779"/>
                </a:solidFill>
                <a:latin typeface="Arial"/>
                <a:ea typeface="Arial"/>
                <a:cs typeface="Arial"/>
              </a:defRPr>
            </a:lvl5pPr>
            <a:lvl6pPr>
              <a:defRPr sz="2700" b="1">
                <a:solidFill>
                  <a:srgbClr val="E9C779"/>
                </a:solidFill>
                <a:latin typeface="Arial"/>
                <a:ea typeface="Arial"/>
                <a:cs typeface="Arial"/>
              </a:defRPr>
            </a:lvl6pPr>
            <a:lvl7pPr>
              <a:defRPr sz="2700" b="1">
                <a:solidFill>
                  <a:srgbClr val="E9C779"/>
                </a:solidFill>
                <a:latin typeface="Arial"/>
                <a:ea typeface="Arial"/>
                <a:cs typeface="Arial"/>
              </a:defRPr>
            </a:lvl7pPr>
            <a:lvl8pPr>
              <a:defRPr sz="2700" b="1">
                <a:solidFill>
                  <a:srgbClr val="E9C779"/>
                </a:solidFill>
                <a:latin typeface="Arial"/>
                <a:ea typeface="Arial"/>
                <a:cs typeface="Arial"/>
              </a:defRPr>
            </a:lvl8pPr>
            <a:lvl9pPr>
              <a:defRPr sz="2700" b="1">
                <a:solidFill>
                  <a:srgbClr val="E9C779"/>
                </a:solidFill>
                <a:latin typeface="Arial"/>
                <a:ea typeface="Arial"/>
                <a:cs typeface="Arial"/>
              </a:defRPr>
            </a:lvl9pPr>
          </a:lstStyle>
          <a:p xmlns:a="http://schemas.openxmlformats.org/drawingml/2006/main">
            <a:pPr>
              <a:defRPr sz="2700" b="1">
                <a:solidFill>
                  <a:srgbClr val="E9C779"/>
                </a:solidFill>
                <a:latin typeface="Arial"/>
                <a:ea typeface="Arial"/>
                <a:cs typeface="Arial"/>
              </a:defRPr>
            </a:pPr>
            <a:r>
              <a:rPr sz="2700" b="1">
                <a:solidFill>
                  <a:srgbClr val="E9C779"/>
                </a:solidFill>
                <a:latin typeface="Arial"/>
                <a:ea typeface="Arial"/>
                <a:cs typeface="Arial"/>
              </a:rPr>
              <a:t>Train: £18, 70 minutes, 2.2 kg CO2e</a:t>
            </a:r>
          </a:p>
          <a:p xmlns:a="http://schemas.openxmlformats.org/drawingml/2006/main">
            <a:pPr>
              <a:defRPr sz="2700" b="1">
                <a:solidFill>
                  <a:srgbClr val="E9C779"/>
                </a:solidFill>
                <a:latin typeface="Arial"/>
                <a:ea typeface="Arial"/>
                <a:cs typeface="Arial"/>
              </a:defRPr>
            </a:pPr>
            <a:r>
              <a:rPr sz="2700" b="1">
                <a:solidFill>
                  <a:srgbClr val="E9C779"/>
                </a:solidFill>
                <a:latin typeface="Arial"/>
                <a:ea typeface="Arial"/>
                <a:cs typeface="Arial"/>
              </a:rPr>
              <a:t>Coach: £8, 120 minutes, 5 kg CO2e</a:t>
            </a:r>
          </a:p>
        </p:txBody>
      </p:sp>
      <p:sp>
        <p:nvSpPr>
          <p:cNvPr id="3" name="">
            <a:extLst xmlns:a="http://schemas.openxmlformats.org/drawingml/2006/main">
              <a:ext uri="{FF2B5EF4-FFF2-40B4-BE49-F238E27FC236}">
                <a16:creationId xmlns:a16="http://schemas.microsoft.com/office/drawing/2014/main" id="{F871B07C-0B7C-49E1-8017-7B77F2A05CAB}"/>
              </a:ext>
            </a:extLst>
          </p:cNvPr>
          <p:cNvSpPr>
            <a:spLocks xmlns:a="http://schemas.openxmlformats.org/drawingml/2006/main" noGrp="1"/>
          </p:cNvSpPr>
          <p:nvPr/>
        </p:nvSpPr>
        <p:spPr>
          <a:xfrm xmlns:a="http://schemas.openxmlformats.org/drawingml/2006/main">
            <a:off x="7620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Her hard limits make both feasible.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Her priorities decide the ranking.</a:t>
            </a:r>
          </a:p>
        </p:txBody>
      </p:sp>
      <p:sp>
        <p:nvSpPr>
          <p:cNvPr id="4" name="">
            <a:extLst xmlns:a="http://schemas.openxmlformats.org/drawingml/2006/main">
              <a:ext uri="{FF2B5EF4-FFF2-40B4-BE49-F238E27FC236}">
                <a16:creationId xmlns:a16="http://schemas.microsoft.com/office/drawing/2014/main" id="{A95EFC74-76F8-483D-AFD4-386E7C251110}"/>
              </a:ext>
            </a:extLst>
          </p:cNvPr>
          <p:cNvSpPr>
            <a:spLocks xmlns:a="http://schemas.openxmlformats.org/drawingml/2006/main" noGrp="1"/>
          </p:cNvSpPr>
          <p:nvPr/>
        </p:nvSpPr>
        <p:spPr>
          <a:xfrm xmlns:a="http://schemas.openxmlformats.org/drawingml/2006/main">
            <a:off x="762000" y="441960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The same core supports market, student, sustainability</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and custom examples.</a:t>
            </a:r>
          </a:p>
        </p:txBody>
      </p:sp>
      <p:sp>
        <p:nvSpPr>
          <p:cNvPr id="5" name="">
            <a:extLst xmlns:a="http://schemas.openxmlformats.org/drawingml/2006/main">
              <a:ext uri="{FF2B5EF4-FFF2-40B4-BE49-F238E27FC236}">
                <a16:creationId xmlns:a16="http://schemas.microsoft.com/office/drawing/2014/main" id="{D3625496-D58B-4038-974C-7AA127D8ACC8}"/>
              </a:ext>
            </a:extLst>
          </p:cNvPr>
          <p:cNvSpPr>
            <a:spLocks xmlns:a="http://schemas.openxmlformats.org/drawingml/2006/main" noGrp="1"/>
          </p:cNvSpPr>
          <p:nvPr/>
        </p:nvSpPr>
        <p:spPr>
          <a:xfrm xmlns:a="http://schemas.openxmlformats.org/drawingml/2006/main">
            <a:off x="762000" y="52482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9C779"/>
                </a:solidFill>
                <a:latin typeface="Arial"/>
                <a:ea typeface="Arial"/>
                <a:cs typeface="Arial"/>
              </a:defRPr>
            </a:defPPr>
            <a:lvl1pPr>
              <a:defRPr sz="1875" b="0">
                <a:solidFill>
                  <a:srgbClr val="E9C779"/>
                </a:solidFill>
                <a:latin typeface="Arial"/>
                <a:ea typeface="Arial"/>
                <a:cs typeface="Arial"/>
              </a:defRPr>
            </a:lvl1pPr>
            <a:lvl2pPr>
              <a:defRPr sz="1875" b="0">
                <a:solidFill>
                  <a:srgbClr val="E9C779"/>
                </a:solidFill>
                <a:latin typeface="Arial"/>
                <a:ea typeface="Arial"/>
                <a:cs typeface="Arial"/>
              </a:defRPr>
            </a:lvl2pPr>
            <a:lvl3pPr>
              <a:defRPr sz="1875" b="0">
                <a:solidFill>
                  <a:srgbClr val="E9C779"/>
                </a:solidFill>
                <a:latin typeface="Arial"/>
                <a:ea typeface="Arial"/>
                <a:cs typeface="Arial"/>
              </a:defRPr>
            </a:lvl3pPr>
            <a:lvl4pPr>
              <a:defRPr sz="1875" b="0">
                <a:solidFill>
                  <a:srgbClr val="E9C779"/>
                </a:solidFill>
                <a:latin typeface="Arial"/>
                <a:ea typeface="Arial"/>
                <a:cs typeface="Arial"/>
              </a:defRPr>
            </a:lvl4pPr>
            <a:lvl5pPr>
              <a:defRPr sz="1875" b="0">
                <a:solidFill>
                  <a:srgbClr val="E9C779"/>
                </a:solidFill>
                <a:latin typeface="Arial"/>
                <a:ea typeface="Arial"/>
                <a:cs typeface="Arial"/>
              </a:defRPr>
            </a:lvl5pPr>
            <a:lvl6pPr>
              <a:defRPr sz="1875" b="0">
                <a:solidFill>
                  <a:srgbClr val="E9C779"/>
                </a:solidFill>
                <a:latin typeface="Arial"/>
                <a:ea typeface="Arial"/>
                <a:cs typeface="Arial"/>
              </a:defRPr>
            </a:lvl6pPr>
            <a:lvl7pPr>
              <a:defRPr sz="1875" b="0">
                <a:solidFill>
                  <a:srgbClr val="E9C779"/>
                </a:solidFill>
                <a:latin typeface="Arial"/>
                <a:ea typeface="Arial"/>
                <a:cs typeface="Arial"/>
              </a:defRPr>
            </a:lvl7pPr>
            <a:lvl8pPr>
              <a:defRPr sz="1875" b="0">
                <a:solidFill>
                  <a:srgbClr val="E9C779"/>
                </a:solidFill>
                <a:latin typeface="Arial"/>
                <a:ea typeface="Arial"/>
                <a:cs typeface="Arial"/>
              </a:defRPr>
            </a:lvl8pPr>
            <a:lvl9pPr>
              <a:defRPr sz="1875" b="0">
                <a:solidFill>
                  <a:srgbClr val="E9C779"/>
                </a:solidFill>
                <a:latin typeface="Arial"/>
                <a:ea typeface="Arial"/>
                <a:cs typeface="Arial"/>
              </a:defRPr>
            </a:lvl9pPr>
          </a:lstStyle>
          <a:p xmlns:a="http://schemas.openxmlformats.org/drawingml/2006/main">
            <a:pPr>
              <a:defRPr sz="1875" b="0">
                <a:solidFill>
                  <a:srgbClr val="E9C779"/>
                </a:solidFill>
                <a:latin typeface="Arial"/>
                <a:ea typeface="Arial"/>
                <a:cs typeface="Arial"/>
              </a:defRPr>
            </a:pPr>
            <a:r>
              <a:rPr sz="1875" b="0">
                <a:solidFill>
                  <a:srgbClr val="E9C779"/>
                </a:solidFill>
                <a:latin typeface="Arial"/>
                <a:ea typeface="Arial"/>
                <a:cs typeface="Arial"/>
              </a:rPr>
              <a:t>Next: verified live data adapters and user testing</a:t>
            </a:r>
          </a:p>
        </p:txBody>
      </p:sp>
      <p:sp>
        <p:nvSpPr>
          <p:cNvPr id="6" name="">
            <a:extLst xmlns:a="http://schemas.openxmlformats.org/drawingml/2006/main">
              <a:ext uri="{FF2B5EF4-FFF2-40B4-BE49-F238E27FC236}">
                <a16:creationId xmlns:a16="http://schemas.microsoft.com/office/drawing/2014/main" id="{FDE90BDE-13A4-4A34-A563-D873E309CB86}"/>
              </a:ext>
            </a:extLst>
          </p:cNvPr>
          <p:cNvSpPr>
            <a:spLocks xmlns:a="http://schemas.openxmlformats.org/drawingml/2006/main" noGrp="1"/>
          </p:cNvSpPr>
          <p:nvPr/>
        </p:nvSpPr>
        <p:spPr>
          <a:xfrm xmlns:a="http://schemas.openxmlformats.org/drawingml/2006/main">
            <a:off x="762000" y="59531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github.com/wahab-linux/my-jinni</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Prototype with fictional presets</a:t>
            </a:r>
          </a:p>
        </p:txBody>
      </p:sp>
    </p:spTree>
    <p:extLst>
      <p:ext uri="{BB962C8B-B14F-4D97-AF65-F5344CB8AC3E}">
        <p14:creationId xmlns:p14="http://schemas.microsoft.com/office/powerpoint/2010/main" val="1715932507"/>
      </p:ext>
    </p:extLst>
  </p:cSld>
</p:sld>
</file>

<file path=ppt/slides/slide8.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D55B5C-97E5-4B4E-8940-C54FD7B7AF09}"/>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Implementation and scoring</a:t>
            </a:r>
          </a:p>
        </p:txBody>
      </p:sp>
      <p:sp>
        <p:nvSpPr>
          <p:cNvPr id="2" name="">
            <a:extLst xmlns:a="http://schemas.openxmlformats.org/drawingml/2006/main">
              <a:ext uri="{FF2B5EF4-FFF2-40B4-BE49-F238E27FC236}">
                <a16:creationId xmlns:a16="http://schemas.microsoft.com/office/drawing/2014/main" id="{BD5A2DA8-335E-427C-9C5D-2FDE52EEC886}"/>
              </a:ext>
            </a:extLst>
          </p:cNvPr>
          <p:cNvSpPr>
            <a:spLocks xmlns:a="http://schemas.openxmlformats.org/drawingml/2006/main" noGrp="1"/>
          </p:cNvSpPr>
          <p:nvPr/>
        </p:nvSpPr>
        <p:spPr>
          <a:xfrm xmlns:a="http://schemas.openxmlformats.org/drawingml/2006/main">
            <a:off x="10477500" y="6296025"/>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25B74"/>
                </a:solidFill>
                <a:latin typeface="Arial"/>
                <a:ea typeface="Arial"/>
                <a:cs typeface="Arial"/>
              </a:defRPr>
            </a:defPPr>
            <a:lvl1pPr>
              <a:defRPr sz="1425" b="0">
                <a:solidFill>
                  <a:srgbClr val="625B74"/>
                </a:solidFill>
                <a:latin typeface="Arial"/>
                <a:ea typeface="Arial"/>
                <a:cs typeface="Arial"/>
              </a:defRPr>
            </a:lvl1pPr>
            <a:lvl2pPr>
              <a:defRPr sz="1425" b="0">
                <a:solidFill>
                  <a:srgbClr val="625B74"/>
                </a:solidFill>
                <a:latin typeface="Arial"/>
                <a:ea typeface="Arial"/>
                <a:cs typeface="Arial"/>
              </a:defRPr>
            </a:lvl2pPr>
            <a:lvl3pPr>
              <a:defRPr sz="1425" b="0">
                <a:solidFill>
                  <a:srgbClr val="625B74"/>
                </a:solidFill>
                <a:latin typeface="Arial"/>
                <a:ea typeface="Arial"/>
                <a:cs typeface="Arial"/>
              </a:defRPr>
            </a:lvl3pPr>
            <a:lvl4pPr>
              <a:defRPr sz="1425" b="0">
                <a:solidFill>
                  <a:srgbClr val="625B74"/>
                </a:solidFill>
                <a:latin typeface="Arial"/>
                <a:ea typeface="Arial"/>
                <a:cs typeface="Arial"/>
              </a:defRPr>
            </a:lvl4pPr>
            <a:lvl5pPr>
              <a:defRPr sz="1425" b="0">
                <a:solidFill>
                  <a:srgbClr val="625B74"/>
                </a:solidFill>
                <a:latin typeface="Arial"/>
                <a:ea typeface="Arial"/>
                <a:cs typeface="Arial"/>
              </a:defRPr>
            </a:lvl5pPr>
            <a:lvl6pPr>
              <a:defRPr sz="1425" b="0">
                <a:solidFill>
                  <a:srgbClr val="625B74"/>
                </a:solidFill>
                <a:latin typeface="Arial"/>
                <a:ea typeface="Arial"/>
                <a:cs typeface="Arial"/>
              </a:defRPr>
            </a:lvl6pPr>
            <a:lvl7pPr>
              <a:defRPr sz="1425" b="0">
                <a:solidFill>
                  <a:srgbClr val="625B74"/>
                </a:solidFill>
                <a:latin typeface="Arial"/>
                <a:ea typeface="Arial"/>
                <a:cs typeface="Arial"/>
              </a:defRPr>
            </a:lvl7pPr>
            <a:lvl8pPr>
              <a:defRPr sz="1425" b="0">
                <a:solidFill>
                  <a:srgbClr val="625B74"/>
                </a:solidFill>
                <a:latin typeface="Arial"/>
                <a:ea typeface="Arial"/>
                <a:cs typeface="Arial"/>
              </a:defRPr>
            </a:lvl8pPr>
            <a:lvl9pPr>
              <a:defRPr sz="1425" b="0">
                <a:solidFill>
                  <a:srgbClr val="625B74"/>
                </a:solidFill>
                <a:latin typeface="Arial"/>
                <a:ea typeface="Arial"/>
                <a:cs typeface="Arial"/>
              </a:defRPr>
            </a:lvl9pPr>
          </a:lstStyle>
          <a:p xmlns:a="http://schemas.openxmlformats.org/drawingml/2006/main">
            <a:pPr>
              <a:defRPr sz="1425" b="0">
                <a:solidFill>
                  <a:srgbClr val="625B74"/>
                </a:solidFill>
                <a:latin typeface="Arial"/>
                <a:ea typeface="Arial"/>
                <a:cs typeface="Arial"/>
              </a:defRPr>
            </a:pPr>
            <a:r>
              <a:rPr sz="1425" b="0">
                <a:solidFill>
                  <a:srgbClr val="625B74"/>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30216686-C040-4858-A405-8F9CBE504DF4}"/>
              </a:ext>
            </a:extLst>
          </p:cNvPr>
          <p:cNvSpPr>
            <a:spLocks xmlns:a="http://schemas.openxmlformats.org/drawingml/2006/main" noGrp="1"/>
          </p:cNvSpPr>
          <p:nvPr/>
        </p:nvSpPr>
        <p:spPr>
          <a:xfrm xmlns:a="http://schemas.openxmlformats.org/drawingml/2006/main">
            <a:off x="762000" y="15430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8458D"/>
                </a:solidFill>
                <a:latin typeface="Arial"/>
                <a:ea typeface="Arial"/>
                <a:cs typeface="Arial"/>
              </a:defRPr>
            </a:defPPr>
            <a:lvl1pPr>
              <a:defRPr sz="2100" b="1">
                <a:solidFill>
                  <a:srgbClr val="58458D"/>
                </a:solidFill>
                <a:latin typeface="Arial"/>
                <a:ea typeface="Arial"/>
                <a:cs typeface="Arial"/>
              </a:defRPr>
            </a:lvl1pPr>
            <a:lvl2pPr>
              <a:defRPr sz="2100" b="1">
                <a:solidFill>
                  <a:srgbClr val="58458D"/>
                </a:solidFill>
                <a:latin typeface="Arial"/>
                <a:ea typeface="Arial"/>
                <a:cs typeface="Arial"/>
              </a:defRPr>
            </a:lvl2pPr>
            <a:lvl3pPr>
              <a:defRPr sz="2100" b="1">
                <a:solidFill>
                  <a:srgbClr val="58458D"/>
                </a:solidFill>
                <a:latin typeface="Arial"/>
                <a:ea typeface="Arial"/>
                <a:cs typeface="Arial"/>
              </a:defRPr>
            </a:lvl3pPr>
            <a:lvl4pPr>
              <a:defRPr sz="2100" b="1">
                <a:solidFill>
                  <a:srgbClr val="58458D"/>
                </a:solidFill>
                <a:latin typeface="Arial"/>
                <a:ea typeface="Arial"/>
                <a:cs typeface="Arial"/>
              </a:defRPr>
            </a:lvl4pPr>
            <a:lvl5pPr>
              <a:defRPr sz="2100" b="1">
                <a:solidFill>
                  <a:srgbClr val="58458D"/>
                </a:solidFill>
                <a:latin typeface="Arial"/>
                <a:ea typeface="Arial"/>
                <a:cs typeface="Arial"/>
              </a:defRPr>
            </a:lvl5pPr>
            <a:lvl6pPr>
              <a:defRPr sz="2100" b="1">
                <a:solidFill>
                  <a:srgbClr val="58458D"/>
                </a:solidFill>
                <a:latin typeface="Arial"/>
                <a:ea typeface="Arial"/>
                <a:cs typeface="Arial"/>
              </a:defRPr>
            </a:lvl6pPr>
            <a:lvl7pPr>
              <a:defRPr sz="2100" b="1">
                <a:solidFill>
                  <a:srgbClr val="58458D"/>
                </a:solidFill>
                <a:latin typeface="Arial"/>
                <a:ea typeface="Arial"/>
                <a:cs typeface="Arial"/>
              </a:defRPr>
            </a:lvl7pPr>
            <a:lvl8pPr>
              <a:defRPr sz="2100" b="1">
                <a:solidFill>
                  <a:srgbClr val="58458D"/>
                </a:solidFill>
                <a:latin typeface="Arial"/>
                <a:ea typeface="Arial"/>
                <a:cs typeface="Arial"/>
              </a:defRPr>
            </a:lvl8pPr>
            <a:lvl9pPr>
              <a:defRPr sz="2100" b="1">
                <a:solidFill>
                  <a:srgbClr val="58458D"/>
                </a:solidFill>
                <a:latin typeface="Arial"/>
                <a:ea typeface="Arial"/>
                <a:cs typeface="Arial"/>
              </a:defRPr>
            </a:lvl9pPr>
          </a:lstStyle>
          <a:p xmlns:a="http://schemas.openxmlformats.org/drawingml/2006/main">
            <a:pPr>
              <a:defRPr sz="2100" b="1">
                <a:solidFill>
                  <a:srgbClr val="58458D"/>
                </a:solidFill>
                <a:latin typeface="Arial"/>
                <a:ea typeface="Arial"/>
                <a:cs typeface="Arial"/>
              </a:defRPr>
            </a:pPr>
            <a:r>
              <a:rPr sz="2100" b="1">
                <a:solidFill>
                  <a:srgbClr val="58458D"/>
                </a:solidFill>
                <a:latin typeface="Arial"/>
                <a:ea typeface="Arial"/>
                <a:cs typeface="Arial"/>
              </a:rPr>
              <a:t>Shared interface     Pure decision core     Source adapters</a:t>
            </a:r>
          </a:p>
        </p:txBody>
      </p:sp>
      <p:sp>
        <p:nvSpPr>
          <p:cNvPr id="4" name="">
            <a:extLst xmlns:a="http://schemas.openxmlformats.org/drawingml/2006/main">
              <a:ext uri="{FF2B5EF4-FFF2-40B4-BE49-F238E27FC236}">
                <a16:creationId xmlns:a16="http://schemas.microsoft.com/office/drawing/2014/main" id="{5900C728-ABB2-4295-986E-430DD30ABED7}"/>
              </a:ext>
            </a:extLst>
          </p:cNvPr>
          <p:cNvSpPr>
            <a:spLocks xmlns:a="http://schemas.openxmlformats.org/drawingml/2006/main" noGrp="1"/>
          </p:cNvSpPr>
          <p:nvPr/>
        </p:nvSpPr>
        <p:spPr>
          <a:xfrm xmlns:a="http://schemas.openxmlformats.org/drawingml/2006/main">
            <a:off x="762000" y="23907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039"/>
                </a:solidFill>
                <a:latin typeface="Arial"/>
                <a:ea typeface="Arial"/>
                <a:cs typeface="Arial"/>
              </a:defRPr>
            </a:defPPr>
            <a:lvl1pPr>
              <a:defRPr sz="2325" b="1">
                <a:solidFill>
                  <a:srgbClr val="242039"/>
                </a:solidFill>
                <a:latin typeface="Arial"/>
                <a:ea typeface="Arial"/>
                <a:cs typeface="Arial"/>
              </a:defRPr>
            </a:lvl1pPr>
            <a:lvl2pPr>
              <a:defRPr sz="2325" b="1">
                <a:solidFill>
                  <a:srgbClr val="242039"/>
                </a:solidFill>
                <a:latin typeface="Arial"/>
                <a:ea typeface="Arial"/>
                <a:cs typeface="Arial"/>
              </a:defRPr>
            </a:lvl2pPr>
            <a:lvl3pPr>
              <a:defRPr sz="2325" b="1">
                <a:solidFill>
                  <a:srgbClr val="242039"/>
                </a:solidFill>
                <a:latin typeface="Arial"/>
                <a:ea typeface="Arial"/>
                <a:cs typeface="Arial"/>
              </a:defRPr>
            </a:lvl3pPr>
            <a:lvl4pPr>
              <a:defRPr sz="2325" b="1">
                <a:solidFill>
                  <a:srgbClr val="242039"/>
                </a:solidFill>
                <a:latin typeface="Arial"/>
                <a:ea typeface="Arial"/>
                <a:cs typeface="Arial"/>
              </a:defRPr>
            </a:lvl4pPr>
            <a:lvl5pPr>
              <a:defRPr sz="2325" b="1">
                <a:solidFill>
                  <a:srgbClr val="242039"/>
                </a:solidFill>
                <a:latin typeface="Arial"/>
                <a:ea typeface="Arial"/>
                <a:cs typeface="Arial"/>
              </a:defRPr>
            </a:lvl5pPr>
            <a:lvl6pPr>
              <a:defRPr sz="2325" b="1">
                <a:solidFill>
                  <a:srgbClr val="242039"/>
                </a:solidFill>
                <a:latin typeface="Arial"/>
                <a:ea typeface="Arial"/>
                <a:cs typeface="Arial"/>
              </a:defRPr>
            </a:lvl6pPr>
            <a:lvl7pPr>
              <a:defRPr sz="2325" b="1">
                <a:solidFill>
                  <a:srgbClr val="242039"/>
                </a:solidFill>
                <a:latin typeface="Arial"/>
                <a:ea typeface="Arial"/>
                <a:cs typeface="Arial"/>
              </a:defRPr>
            </a:lvl7pPr>
            <a:lvl8pPr>
              <a:defRPr sz="2325" b="1">
                <a:solidFill>
                  <a:srgbClr val="242039"/>
                </a:solidFill>
                <a:latin typeface="Arial"/>
                <a:ea typeface="Arial"/>
                <a:cs typeface="Arial"/>
              </a:defRPr>
            </a:lvl8pPr>
            <a:lvl9pPr>
              <a:defRPr sz="2325" b="1">
                <a:solidFill>
                  <a:srgbClr val="242039"/>
                </a:solidFill>
                <a:latin typeface="Arial"/>
                <a:ea typeface="Arial"/>
                <a:cs typeface="Arial"/>
              </a:defRPr>
            </a:lvl9pPr>
          </a:lstStyle>
          <a:p xmlns:a="http://schemas.openxmlformats.org/drawingml/2006/main">
            <a:pPr>
              <a:defRPr sz="2325" b="1">
                <a:solidFill>
                  <a:srgbClr val="242039"/>
                </a:solidFill>
                <a:latin typeface="Arial"/>
                <a:ea typeface="Arial"/>
                <a:cs typeface="Arial"/>
              </a:defRPr>
            </a:pPr>
            <a:r>
              <a:rPr sz="2325" b="1">
                <a:solidFill>
                  <a:srgbClr val="242039"/>
                </a:solidFill>
                <a:latin typeface="Arial"/>
                <a:ea typeface="Arial"/>
                <a:cs typeface="Arial"/>
              </a:rPr>
              <a:t>1   Check availability and hard limits</a:t>
            </a:r>
          </a:p>
        </p:txBody>
      </p:sp>
      <p:sp>
        <p:nvSpPr>
          <p:cNvPr id="5" name="">
            <a:extLst xmlns:a="http://schemas.openxmlformats.org/drawingml/2006/main">
              <a:ext uri="{FF2B5EF4-FFF2-40B4-BE49-F238E27FC236}">
                <a16:creationId xmlns:a16="http://schemas.microsoft.com/office/drawing/2014/main" id="{C8298773-DA94-4CAD-B823-760D9747BB5A}"/>
              </a:ext>
            </a:extLst>
          </p:cNvPr>
          <p:cNvSpPr>
            <a:spLocks xmlns:a="http://schemas.openxmlformats.org/drawingml/2006/main" noGrp="1"/>
          </p:cNvSpPr>
          <p:nvPr/>
        </p:nvSpPr>
        <p:spPr>
          <a:xfrm xmlns:a="http://schemas.openxmlformats.org/drawingml/2006/main">
            <a:off x="762000" y="32956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2039"/>
                </a:solidFill>
                <a:latin typeface="Arial"/>
                <a:ea typeface="Arial"/>
                <a:cs typeface="Arial"/>
              </a:defRPr>
            </a:defPPr>
            <a:lvl1pPr>
              <a:defRPr sz="2325" b="1">
                <a:solidFill>
                  <a:srgbClr val="242039"/>
                </a:solidFill>
                <a:latin typeface="Arial"/>
                <a:ea typeface="Arial"/>
                <a:cs typeface="Arial"/>
              </a:defRPr>
            </a:lvl1pPr>
            <a:lvl2pPr>
              <a:defRPr sz="2325" b="1">
                <a:solidFill>
                  <a:srgbClr val="242039"/>
                </a:solidFill>
                <a:latin typeface="Arial"/>
                <a:ea typeface="Arial"/>
                <a:cs typeface="Arial"/>
              </a:defRPr>
            </a:lvl2pPr>
            <a:lvl3pPr>
              <a:defRPr sz="2325" b="1">
                <a:solidFill>
                  <a:srgbClr val="242039"/>
                </a:solidFill>
                <a:latin typeface="Arial"/>
                <a:ea typeface="Arial"/>
                <a:cs typeface="Arial"/>
              </a:defRPr>
            </a:lvl3pPr>
            <a:lvl4pPr>
              <a:defRPr sz="2325" b="1">
                <a:solidFill>
                  <a:srgbClr val="242039"/>
                </a:solidFill>
                <a:latin typeface="Arial"/>
                <a:ea typeface="Arial"/>
                <a:cs typeface="Arial"/>
              </a:defRPr>
            </a:lvl4pPr>
            <a:lvl5pPr>
              <a:defRPr sz="2325" b="1">
                <a:solidFill>
                  <a:srgbClr val="242039"/>
                </a:solidFill>
                <a:latin typeface="Arial"/>
                <a:ea typeface="Arial"/>
                <a:cs typeface="Arial"/>
              </a:defRPr>
            </a:lvl5pPr>
            <a:lvl6pPr>
              <a:defRPr sz="2325" b="1">
                <a:solidFill>
                  <a:srgbClr val="242039"/>
                </a:solidFill>
                <a:latin typeface="Arial"/>
                <a:ea typeface="Arial"/>
                <a:cs typeface="Arial"/>
              </a:defRPr>
            </a:lvl6pPr>
            <a:lvl7pPr>
              <a:defRPr sz="2325" b="1">
                <a:solidFill>
                  <a:srgbClr val="242039"/>
                </a:solidFill>
                <a:latin typeface="Arial"/>
                <a:ea typeface="Arial"/>
                <a:cs typeface="Arial"/>
              </a:defRPr>
            </a:lvl7pPr>
            <a:lvl8pPr>
              <a:defRPr sz="2325" b="1">
                <a:solidFill>
                  <a:srgbClr val="242039"/>
                </a:solidFill>
                <a:latin typeface="Arial"/>
                <a:ea typeface="Arial"/>
                <a:cs typeface="Arial"/>
              </a:defRPr>
            </a:lvl8pPr>
            <a:lvl9pPr>
              <a:defRPr sz="2325" b="1">
                <a:solidFill>
                  <a:srgbClr val="242039"/>
                </a:solidFill>
                <a:latin typeface="Arial"/>
                <a:ea typeface="Arial"/>
                <a:cs typeface="Arial"/>
              </a:defRPr>
            </a:lvl9pPr>
          </a:lstStyle>
          <a:p xmlns:a="http://schemas.openxmlformats.org/drawingml/2006/main">
            <a:pPr>
              <a:defRPr sz="2325" b="1">
                <a:solidFill>
                  <a:srgbClr val="242039"/>
                </a:solidFill>
                <a:latin typeface="Arial"/>
                <a:ea typeface="Arial"/>
                <a:cs typeface="Arial"/>
              </a:defRPr>
            </a:pPr>
            <a:r>
              <a:rPr sz="2325" b="1">
                <a:solidFill>
                  <a:srgbClr val="242039"/>
                </a:solidFill>
                <a:latin typeface="Arial"/>
                <a:ea typeface="Arial"/>
                <a:cs typeface="Arial"/>
              </a:rPr>
              <a:t>2   Normalize feasible options and apply weights</a:t>
            </a:r>
          </a:p>
        </p:txBody>
      </p:sp>
      <p:sp>
        <p:nvSpPr>
          <p:cNvPr id="6" name="">
            <a:extLst xmlns:a="http://schemas.openxmlformats.org/drawingml/2006/main">
              <a:ext uri="{FF2B5EF4-FFF2-40B4-BE49-F238E27FC236}">
                <a16:creationId xmlns:a16="http://schemas.microsoft.com/office/drawing/2014/main" id="{4E32694D-4EC4-4C72-B8C1-679C19053A9A}"/>
              </a:ext>
            </a:extLst>
          </p:cNvPr>
          <p:cNvSpPr>
            <a:spLocks xmlns:a="http://schemas.openxmlformats.org/drawingml/2006/main" noGrp="1"/>
          </p:cNvSpPr>
          <p:nvPr/>
        </p:nvSpPr>
        <p:spPr>
          <a:xfrm xmlns:a="http://schemas.openxmlformats.org/drawingml/2006/main">
            <a:off x="762000" y="4286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58458D"/>
                </a:solidFill>
                <a:latin typeface="Arial"/>
                <a:ea typeface="Arial"/>
                <a:cs typeface="Arial"/>
              </a:defRPr>
            </a:defPPr>
            <a:lvl1pPr>
              <a:defRPr sz="2250" b="1">
                <a:solidFill>
                  <a:srgbClr val="58458D"/>
                </a:solidFill>
                <a:latin typeface="Arial"/>
                <a:ea typeface="Arial"/>
                <a:cs typeface="Arial"/>
              </a:defRPr>
            </a:lvl1pPr>
            <a:lvl2pPr>
              <a:defRPr sz="2250" b="1">
                <a:solidFill>
                  <a:srgbClr val="58458D"/>
                </a:solidFill>
                <a:latin typeface="Arial"/>
                <a:ea typeface="Arial"/>
                <a:cs typeface="Arial"/>
              </a:defRPr>
            </a:lvl2pPr>
            <a:lvl3pPr>
              <a:defRPr sz="2250" b="1">
                <a:solidFill>
                  <a:srgbClr val="58458D"/>
                </a:solidFill>
                <a:latin typeface="Arial"/>
                <a:ea typeface="Arial"/>
                <a:cs typeface="Arial"/>
              </a:defRPr>
            </a:lvl3pPr>
            <a:lvl4pPr>
              <a:defRPr sz="2250" b="1">
                <a:solidFill>
                  <a:srgbClr val="58458D"/>
                </a:solidFill>
                <a:latin typeface="Arial"/>
                <a:ea typeface="Arial"/>
                <a:cs typeface="Arial"/>
              </a:defRPr>
            </a:lvl4pPr>
            <a:lvl5pPr>
              <a:defRPr sz="2250" b="1">
                <a:solidFill>
                  <a:srgbClr val="58458D"/>
                </a:solidFill>
                <a:latin typeface="Arial"/>
                <a:ea typeface="Arial"/>
                <a:cs typeface="Arial"/>
              </a:defRPr>
            </a:lvl5pPr>
            <a:lvl6pPr>
              <a:defRPr sz="2250" b="1">
                <a:solidFill>
                  <a:srgbClr val="58458D"/>
                </a:solidFill>
                <a:latin typeface="Arial"/>
                <a:ea typeface="Arial"/>
                <a:cs typeface="Arial"/>
              </a:defRPr>
            </a:lvl6pPr>
            <a:lvl7pPr>
              <a:defRPr sz="2250" b="1">
                <a:solidFill>
                  <a:srgbClr val="58458D"/>
                </a:solidFill>
                <a:latin typeface="Arial"/>
                <a:ea typeface="Arial"/>
                <a:cs typeface="Arial"/>
              </a:defRPr>
            </a:lvl7pPr>
            <a:lvl8pPr>
              <a:defRPr sz="2250" b="1">
                <a:solidFill>
                  <a:srgbClr val="58458D"/>
                </a:solidFill>
                <a:latin typeface="Arial"/>
                <a:ea typeface="Arial"/>
                <a:cs typeface="Arial"/>
              </a:defRPr>
            </a:lvl8pPr>
            <a:lvl9pPr>
              <a:defRPr sz="2250" b="1">
                <a:solidFill>
                  <a:srgbClr val="58458D"/>
                </a:solidFill>
                <a:latin typeface="Arial"/>
                <a:ea typeface="Arial"/>
                <a:cs typeface="Arial"/>
              </a:defRPr>
            </a:lvl9pPr>
          </a:lstStyle>
          <a:p xmlns:a="http://schemas.openxmlformats.org/drawingml/2006/main">
            <a:pPr>
              <a:defRPr sz="2250" b="1">
                <a:solidFill>
                  <a:srgbClr val="58458D"/>
                </a:solidFill>
                <a:latin typeface="Arial"/>
                <a:ea typeface="Arial"/>
                <a:cs typeface="Arial"/>
              </a:defRPr>
            </a:pPr>
            <a:r>
              <a:rPr sz="2250" b="1">
                <a:solidFill>
                  <a:srgbClr val="58458D"/>
                </a:solidFill>
                <a:latin typeface="Arial"/>
                <a:ea typeface="Arial"/>
                <a:cs typeface="Arial"/>
              </a:rPr>
              <a:t>score = 100 × Σ(weight × normalized value) / Σ(weight)</a:t>
            </a:r>
          </a:p>
        </p:txBody>
      </p:sp>
      <p:sp>
        <p:nvSpPr>
          <p:cNvPr id="7" name="">
            <a:extLst xmlns:a="http://schemas.openxmlformats.org/drawingml/2006/main">
              <a:ext uri="{FF2B5EF4-FFF2-40B4-BE49-F238E27FC236}">
                <a16:creationId xmlns:a16="http://schemas.microsoft.com/office/drawing/2014/main" id="{4B54EFE2-43CE-49FC-BE4A-5787DB557405}"/>
              </a:ext>
            </a:extLst>
          </p:cNvPr>
          <p:cNvSpPr>
            <a:spLocks xmlns:a="http://schemas.openxmlformats.org/drawingml/2006/main" noGrp="1"/>
          </p:cNvSpPr>
          <p:nvPr/>
        </p:nvSpPr>
        <p:spPr>
          <a:xfrm xmlns:a="http://schemas.openxmlformats.org/drawingml/2006/main">
            <a:off x="762000" y="52006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25B74"/>
                </a:solidFill>
                <a:latin typeface="Arial"/>
                <a:ea typeface="Arial"/>
                <a:cs typeface="Arial"/>
              </a:defRPr>
            </a:defPPr>
            <a:lvl1pPr>
              <a:defRPr sz="1875" b="0">
                <a:solidFill>
                  <a:srgbClr val="625B74"/>
                </a:solidFill>
                <a:latin typeface="Arial"/>
                <a:ea typeface="Arial"/>
                <a:cs typeface="Arial"/>
              </a:defRPr>
            </a:lvl1pPr>
            <a:lvl2pPr>
              <a:defRPr sz="1875" b="0">
                <a:solidFill>
                  <a:srgbClr val="625B74"/>
                </a:solidFill>
                <a:latin typeface="Arial"/>
                <a:ea typeface="Arial"/>
                <a:cs typeface="Arial"/>
              </a:defRPr>
            </a:lvl2pPr>
            <a:lvl3pPr>
              <a:defRPr sz="1875" b="0">
                <a:solidFill>
                  <a:srgbClr val="625B74"/>
                </a:solidFill>
                <a:latin typeface="Arial"/>
                <a:ea typeface="Arial"/>
                <a:cs typeface="Arial"/>
              </a:defRPr>
            </a:lvl3pPr>
            <a:lvl4pPr>
              <a:defRPr sz="1875" b="0">
                <a:solidFill>
                  <a:srgbClr val="625B74"/>
                </a:solidFill>
                <a:latin typeface="Arial"/>
                <a:ea typeface="Arial"/>
                <a:cs typeface="Arial"/>
              </a:defRPr>
            </a:lvl4pPr>
            <a:lvl5pPr>
              <a:defRPr sz="1875" b="0">
                <a:solidFill>
                  <a:srgbClr val="625B74"/>
                </a:solidFill>
                <a:latin typeface="Arial"/>
                <a:ea typeface="Arial"/>
                <a:cs typeface="Arial"/>
              </a:defRPr>
            </a:lvl5pPr>
            <a:lvl6pPr>
              <a:defRPr sz="1875" b="0">
                <a:solidFill>
                  <a:srgbClr val="625B74"/>
                </a:solidFill>
                <a:latin typeface="Arial"/>
                <a:ea typeface="Arial"/>
                <a:cs typeface="Arial"/>
              </a:defRPr>
            </a:lvl6pPr>
            <a:lvl7pPr>
              <a:defRPr sz="1875" b="0">
                <a:solidFill>
                  <a:srgbClr val="625B74"/>
                </a:solidFill>
                <a:latin typeface="Arial"/>
                <a:ea typeface="Arial"/>
                <a:cs typeface="Arial"/>
              </a:defRPr>
            </a:lvl7pPr>
            <a:lvl8pPr>
              <a:defRPr sz="1875" b="0">
                <a:solidFill>
                  <a:srgbClr val="625B74"/>
                </a:solidFill>
                <a:latin typeface="Arial"/>
                <a:ea typeface="Arial"/>
                <a:cs typeface="Arial"/>
              </a:defRPr>
            </a:lvl8pPr>
            <a:lvl9pPr>
              <a:defRPr sz="1875" b="0">
                <a:solidFill>
                  <a:srgbClr val="625B74"/>
                </a:solidFill>
                <a:latin typeface="Arial"/>
                <a:ea typeface="Arial"/>
                <a:cs typeface="Arial"/>
              </a:defRPr>
            </a:lvl9pPr>
          </a:lstStyle>
          <a:p xmlns:a="http://schemas.openxmlformats.org/drawingml/2006/main">
            <a:pPr>
              <a:defRPr sz="1875" b="0">
                <a:solidFill>
                  <a:srgbClr val="625B74"/>
                </a:solidFill>
                <a:latin typeface="Arial"/>
                <a:ea typeface="Arial"/>
                <a:cs typeface="Arial"/>
              </a:defRPr>
            </a:pPr>
            <a:r>
              <a:rPr sz="1875" b="0">
                <a:solidFill>
                  <a:srgbClr val="625B74"/>
                </a:solidFill>
                <a:latin typeface="Arial"/>
                <a:ea typeface="Arial"/>
                <a:cs typeface="Arial"/>
              </a:rPr>
              <a:t>Unknown required data excludes a choice. Ties use stable IDs.</a:t>
            </a:r>
          </a:p>
          <a:p xmlns:a="http://schemas.openxmlformats.org/drawingml/2006/main">
            <a:pPr>
              <a:defRPr sz="1875" b="0">
                <a:solidFill>
                  <a:srgbClr val="625B74"/>
                </a:solidFill>
                <a:latin typeface="Arial"/>
                <a:ea typeface="Arial"/>
                <a:cs typeface="Arial"/>
              </a:defRPr>
            </a:pPr>
            <a:r>
              <a:rPr sz="1875" b="0">
                <a:solidFill>
                  <a:srgbClr val="625B74"/>
                </a:solidFill>
                <a:latin typeface="Arial"/>
                <a:ea typeface="Arial"/>
                <a:cs typeface="Arial"/>
              </a:rPr>
              <a:t>Notes and AI proposals do not silently rewrite measurements or scores.</a:t>
            </a:r>
          </a:p>
        </p:txBody>
      </p:sp>
      <p:sp>
        <p:nvSpPr>
          <p:cNvPr id="8" name="">
            <a:extLst xmlns:a="http://schemas.openxmlformats.org/drawingml/2006/main">
              <a:ext uri="{FF2B5EF4-FFF2-40B4-BE49-F238E27FC236}">
                <a16:creationId xmlns:a16="http://schemas.microsoft.com/office/drawing/2014/main" id="{EFA4FE5D-59C9-4991-857B-D4BCA8E79193}"/>
              </a:ext>
            </a:extLst>
          </p:cNvPr>
          <p:cNvSpPr>
            <a:spLocks xmlns:a="http://schemas.openxmlformats.org/drawingml/2006/main" noGrp="1"/>
          </p:cNvSpPr>
          <p:nvPr/>
        </p:nvSpPr>
        <p:spPr>
          <a:xfrm xmlns:a="http://schemas.openxmlformats.org/drawingml/2006/main">
            <a:off x="762000" y="61531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25B74"/>
                </a:solidFill>
                <a:latin typeface="Arial"/>
                <a:ea typeface="Arial"/>
                <a:cs typeface="Arial"/>
              </a:defRPr>
            </a:defPPr>
            <a:lvl1pPr>
              <a:defRPr sz="1725" b="0">
                <a:solidFill>
                  <a:srgbClr val="625B74"/>
                </a:solidFill>
                <a:latin typeface="Arial"/>
                <a:ea typeface="Arial"/>
                <a:cs typeface="Arial"/>
              </a:defRPr>
            </a:lvl1pPr>
            <a:lvl2pPr>
              <a:defRPr sz="1725" b="0">
                <a:solidFill>
                  <a:srgbClr val="625B74"/>
                </a:solidFill>
                <a:latin typeface="Arial"/>
                <a:ea typeface="Arial"/>
                <a:cs typeface="Arial"/>
              </a:defRPr>
            </a:lvl2pPr>
            <a:lvl3pPr>
              <a:defRPr sz="1725" b="0">
                <a:solidFill>
                  <a:srgbClr val="625B74"/>
                </a:solidFill>
                <a:latin typeface="Arial"/>
                <a:ea typeface="Arial"/>
                <a:cs typeface="Arial"/>
              </a:defRPr>
            </a:lvl3pPr>
            <a:lvl4pPr>
              <a:defRPr sz="1725" b="0">
                <a:solidFill>
                  <a:srgbClr val="625B74"/>
                </a:solidFill>
                <a:latin typeface="Arial"/>
                <a:ea typeface="Arial"/>
                <a:cs typeface="Arial"/>
              </a:defRPr>
            </a:lvl4pPr>
            <a:lvl5pPr>
              <a:defRPr sz="1725" b="0">
                <a:solidFill>
                  <a:srgbClr val="625B74"/>
                </a:solidFill>
                <a:latin typeface="Arial"/>
                <a:ea typeface="Arial"/>
                <a:cs typeface="Arial"/>
              </a:defRPr>
            </a:lvl5pPr>
            <a:lvl6pPr>
              <a:defRPr sz="1725" b="0">
                <a:solidFill>
                  <a:srgbClr val="625B74"/>
                </a:solidFill>
                <a:latin typeface="Arial"/>
                <a:ea typeface="Arial"/>
                <a:cs typeface="Arial"/>
              </a:defRPr>
            </a:lvl6pPr>
            <a:lvl7pPr>
              <a:defRPr sz="1725" b="0">
                <a:solidFill>
                  <a:srgbClr val="625B74"/>
                </a:solidFill>
                <a:latin typeface="Arial"/>
                <a:ea typeface="Arial"/>
                <a:cs typeface="Arial"/>
              </a:defRPr>
            </a:lvl7pPr>
            <a:lvl8pPr>
              <a:defRPr sz="1725" b="0">
                <a:solidFill>
                  <a:srgbClr val="625B74"/>
                </a:solidFill>
                <a:latin typeface="Arial"/>
                <a:ea typeface="Arial"/>
                <a:cs typeface="Arial"/>
              </a:defRPr>
            </a:lvl8pPr>
            <a:lvl9pPr>
              <a:defRPr sz="1725" b="0">
                <a:solidFill>
                  <a:srgbClr val="625B74"/>
                </a:solidFill>
                <a:latin typeface="Arial"/>
                <a:ea typeface="Arial"/>
                <a:cs typeface="Arial"/>
              </a:defRPr>
            </a:lvl9pPr>
          </a:lstStyle>
          <a:p xmlns:a="http://schemas.openxmlformats.org/drawingml/2006/main">
            <a:pPr>
              <a:defRPr sz="1725" b="0">
                <a:solidFill>
                  <a:srgbClr val="625B74"/>
                </a:solidFill>
                <a:latin typeface="Arial"/>
                <a:ea typeface="Arial"/>
                <a:cs typeface="Arial"/>
              </a:defRPr>
            </a:pPr>
            <a:r>
              <a:rPr sz="1725" b="0">
                <a:solidFill>
                  <a:srgbClr val="625B74"/>
                </a:solidFill>
                <a:latin typeface="Arial"/>
                <a:ea typeface="Arial"/>
                <a:cs typeface="Arial"/>
              </a:rPr>
              <a:t>OpenAPI contract. Tests for boundaries, ranking, both sources and failures.</a:t>
            </a:r>
          </a:p>
        </p:txBody>
      </p:sp>
    </p:spTree>
    <p:extLst>
      <p:ext uri="{BB962C8B-B14F-4D97-AF65-F5344CB8AC3E}">
        <p14:creationId xmlns:p14="http://schemas.microsoft.com/office/powerpoint/2010/main" val="880992520"/>
      </p:ext>
    </p:extLst>
  </p:cSld>
</p:sld>
</file>

<file path=ppt/slides/slide9.xml><?xml version="1.0" encoding="utf-8"?>
<p:sld xmlns:p="http://schemas.openxmlformats.org/presentationml/2006/main">
  <p:cSld>
    <p:bg>
      <p:bgPr>
        <a:solidFill xmlns:a="http://schemas.openxmlformats.org/drawingml/2006/main">
          <a:srgbClr val="F7F6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0CF777-C8AB-45BC-8F0B-69AA70B0CF39}"/>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42039"/>
                </a:solidFill>
                <a:latin typeface="Arial"/>
                <a:ea typeface="Arial"/>
                <a:cs typeface="Arial"/>
              </a:defRPr>
            </a:defPPr>
            <a:lvl1pPr>
              <a:defRPr sz="3450" b="1">
                <a:solidFill>
                  <a:srgbClr val="242039"/>
                </a:solidFill>
                <a:latin typeface="Arial"/>
                <a:ea typeface="Arial"/>
                <a:cs typeface="Arial"/>
              </a:defRPr>
            </a:lvl1pPr>
            <a:lvl2pPr>
              <a:defRPr sz="3450" b="1">
                <a:solidFill>
                  <a:srgbClr val="242039"/>
                </a:solidFill>
                <a:latin typeface="Arial"/>
                <a:ea typeface="Arial"/>
                <a:cs typeface="Arial"/>
              </a:defRPr>
            </a:lvl2pPr>
            <a:lvl3pPr>
              <a:defRPr sz="3450" b="1">
                <a:solidFill>
                  <a:srgbClr val="242039"/>
                </a:solidFill>
                <a:latin typeface="Arial"/>
                <a:ea typeface="Arial"/>
                <a:cs typeface="Arial"/>
              </a:defRPr>
            </a:lvl3pPr>
            <a:lvl4pPr>
              <a:defRPr sz="3450" b="1">
                <a:solidFill>
                  <a:srgbClr val="242039"/>
                </a:solidFill>
                <a:latin typeface="Arial"/>
                <a:ea typeface="Arial"/>
                <a:cs typeface="Arial"/>
              </a:defRPr>
            </a:lvl4pPr>
            <a:lvl5pPr>
              <a:defRPr sz="3450" b="1">
                <a:solidFill>
                  <a:srgbClr val="242039"/>
                </a:solidFill>
                <a:latin typeface="Arial"/>
                <a:ea typeface="Arial"/>
                <a:cs typeface="Arial"/>
              </a:defRPr>
            </a:lvl5pPr>
            <a:lvl6pPr>
              <a:defRPr sz="3450" b="1">
                <a:solidFill>
                  <a:srgbClr val="242039"/>
                </a:solidFill>
                <a:latin typeface="Arial"/>
                <a:ea typeface="Arial"/>
                <a:cs typeface="Arial"/>
              </a:defRPr>
            </a:lvl6pPr>
            <a:lvl7pPr>
              <a:defRPr sz="3450" b="1">
                <a:solidFill>
                  <a:srgbClr val="242039"/>
                </a:solidFill>
                <a:latin typeface="Arial"/>
                <a:ea typeface="Arial"/>
                <a:cs typeface="Arial"/>
              </a:defRPr>
            </a:lvl7pPr>
            <a:lvl8pPr>
              <a:defRPr sz="3450" b="1">
                <a:solidFill>
                  <a:srgbClr val="242039"/>
                </a:solidFill>
                <a:latin typeface="Arial"/>
                <a:ea typeface="Arial"/>
                <a:cs typeface="Arial"/>
              </a:defRPr>
            </a:lvl8pPr>
            <a:lvl9pPr>
              <a:defRPr sz="3450" b="1">
                <a:solidFill>
                  <a:srgbClr val="242039"/>
                </a:solidFill>
                <a:latin typeface="Arial"/>
                <a:ea typeface="Arial"/>
                <a:cs typeface="Arial"/>
              </a:defRPr>
            </a:lvl9pPr>
          </a:lstStyle>
          <a:p xmlns:a="http://schemas.openxmlformats.org/drawingml/2006/main">
            <a:pPr>
              <a:defRPr sz="3450" b="1">
                <a:solidFill>
                  <a:srgbClr val="242039"/>
                </a:solidFill>
                <a:latin typeface="Arial"/>
                <a:ea typeface="Arial"/>
                <a:cs typeface="Arial"/>
              </a:defRPr>
            </a:pPr>
            <a:r>
              <a:rPr sz="3450" b="1">
                <a:solidFill>
                  <a:srgbClr val="242039"/>
                </a:solidFill>
                <a:latin typeface="Arial"/>
                <a:ea typeface="Arial"/>
                <a:cs typeface="Arial"/>
              </a:rPr>
              <a:t>AI use and team responsibilities</a:t>
            </a:r>
          </a:p>
        </p:txBody>
      </p:sp>
      <p:sp>
        <p:nvSpPr>
          <p:cNvPr id="2" name="">
            <a:extLst xmlns:a="http://schemas.openxmlformats.org/drawingml/2006/main">
              <a:ext uri="{FF2B5EF4-FFF2-40B4-BE49-F238E27FC236}">
                <a16:creationId xmlns:a16="http://schemas.microsoft.com/office/drawing/2014/main" id="{2E250485-7AFE-4ADA-8CA8-6CC3660B5FB1}"/>
              </a:ext>
            </a:extLst>
          </p:cNvPr>
          <p:cNvSpPr>
            <a:spLocks xmlns:a="http://schemas.openxmlformats.org/drawingml/2006/main" noGrp="1"/>
          </p:cNvSpPr>
          <p:nvPr/>
        </p:nvSpPr>
        <p:spPr>
          <a:xfrm xmlns:a="http://schemas.openxmlformats.org/drawingml/2006/main">
            <a:off x="10477500" y="6296025"/>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25B74"/>
                </a:solidFill>
                <a:latin typeface="Arial"/>
                <a:ea typeface="Arial"/>
                <a:cs typeface="Arial"/>
              </a:defRPr>
            </a:defPPr>
            <a:lvl1pPr>
              <a:defRPr sz="1425" b="0">
                <a:solidFill>
                  <a:srgbClr val="625B74"/>
                </a:solidFill>
                <a:latin typeface="Arial"/>
                <a:ea typeface="Arial"/>
                <a:cs typeface="Arial"/>
              </a:defRPr>
            </a:lvl1pPr>
            <a:lvl2pPr>
              <a:defRPr sz="1425" b="0">
                <a:solidFill>
                  <a:srgbClr val="625B74"/>
                </a:solidFill>
                <a:latin typeface="Arial"/>
                <a:ea typeface="Arial"/>
                <a:cs typeface="Arial"/>
              </a:defRPr>
            </a:lvl2pPr>
            <a:lvl3pPr>
              <a:defRPr sz="1425" b="0">
                <a:solidFill>
                  <a:srgbClr val="625B74"/>
                </a:solidFill>
                <a:latin typeface="Arial"/>
                <a:ea typeface="Arial"/>
                <a:cs typeface="Arial"/>
              </a:defRPr>
            </a:lvl3pPr>
            <a:lvl4pPr>
              <a:defRPr sz="1425" b="0">
                <a:solidFill>
                  <a:srgbClr val="625B74"/>
                </a:solidFill>
                <a:latin typeface="Arial"/>
                <a:ea typeface="Arial"/>
                <a:cs typeface="Arial"/>
              </a:defRPr>
            </a:lvl4pPr>
            <a:lvl5pPr>
              <a:defRPr sz="1425" b="0">
                <a:solidFill>
                  <a:srgbClr val="625B74"/>
                </a:solidFill>
                <a:latin typeface="Arial"/>
                <a:ea typeface="Arial"/>
                <a:cs typeface="Arial"/>
              </a:defRPr>
            </a:lvl5pPr>
            <a:lvl6pPr>
              <a:defRPr sz="1425" b="0">
                <a:solidFill>
                  <a:srgbClr val="625B74"/>
                </a:solidFill>
                <a:latin typeface="Arial"/>
                <a:ea typeface="Arial"/>
                <a:cs typeface="Arial"/>
              </a:defRPr>
            </a:lvl6pPr>
            <a:lvl7pPr>
              <a:defRPr sz="1425" b="0">
                <a:solidFill>
                  <a:srgbClr val="625B74"/>
                </a:solidFill>
                <a:latin typeface="Arial"/>
                <a:ea typeface="Arial"/>
                <a:cs typeface="Arial"/>
              </a:defRPr>
            </a:lvl7pPr>
            <a:lvl8pPr>
              <a:defRPr sz="1425" b="0">
                <a:solidFill>
                  <a:srgbClr val="625B74"/>
                </a:solidFill>
                <a:latin typeface="Arial"/>
                <a:ea typeface="Arial"/>
                <a:cs typeface="Arial"/>
              </a:defRPr>
            </a:lvl8pPr>
            <a:lvl9pPr>
              <a:defRPr sz="1425" b="0">
                <a:solidFill>
                  <a:srgbClr val="625B74"/>
                </a:solidFill>
                <a:latin typeface="Arial"/>
                <a:ea typeface="Arial"/>
                <a:cs typeface="Arial"/>
              </a:defRPr>
            </a:lvl9pPr>
          </a:lstStyle>
          <a:p xmlns:a="http://schemas.openxmlformats.org/drawingml/2006/main">
            <a:pPr>
              <a:defRPr sz="1425" b="0">
                <a:solidFill>
                  <a:srgbClr val="625B74"/>
                </a:solidFill>
                <a:latin typeface="Arial"/>
                <a:ea typeface="Arial"/>
                <a:cs typeface="Arial"/>
              </a:defRPr>
            </a:pPr>
            <a:r>
              <a:rPr sz="1425" b="0">
                <a:solidFill>
                  <a:srgbClr val="625B74"/>
                </a:solidFill>
                <a:latin typeface="Arial"/>
                <a:ea typeface="Arial"/>
                <a:cs typeface="Arial"/>
              </a:rPr>
              <a:t>Backup</a:t>
            </a:r>
          </a:p>
        </p:txBody>
      </p:sp>
      <p:sp>
        <p:nvSpPr>
          <p:cNvPr id="3" name="">
            <a:extLst xmlns:a="http://schemas.openxmlformats.org/drawingml/2006/main">
              <a:ext uri="{FF2B5EF4-FFF2-40B4-BE49-F238E27FC236}">
                <a16:creationId xmlns:a16="http://schemas.microsoft.com/office/drawing/2014/main" id="{3CB87B6D-0F5D-4309-9554-007023EE998E}"/>
              </a:ext>
            </a:extLst>
          </p:cNvPr>
          <p:cNvSpPr>
            <a:spLocks xmlns:a="http://schemas.openxmlformats.org/drawingml/2006/main" noGrp="1"/>
          </p:cNvSpPr>
          <p:nvPr/>
        </p:nvSpPr>
        <p:spPr>
          <a:xfrm xmlns:a="http://schemas.openxmlformats.org/drawingml/2006/main">
            <a:off x="762000" y="15811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58458D"/>
                </a:solidFill>
                <a:latin typeface="Arial"/>
                <a:ea typeface="Arial"/>
                <a:cs typeface="Arial"/>
              </a:defRPr>
            </a:defPPr>
            <a:lvl1pPr>
              <a:defRPr sz="2325" b="1">
                <a:solidFill>
                  <a:srgbClr val="58458D"/>
                </a:solidFill>
                <a:latin typeface="Arial"/>
                <a:ea typeface="Arial"/>
                <a:cs typeface="Arial"/>
              </a:defRPr>
            </a:lvl1pPr>
            <a:lvl2pPr>
              <a:defRPr sz="2325" b="1">
                <a:solidFill>
                  <a:srgbClr val="58458D"/>
                </a:solidFill>
                <a:latin typeface="Arial"/>
                <a:ea typeface="Arial"/>
                <a:cs typeface="Arial"/>
              </a:defRPr>
            </a:lvl2pPr>
            <a:lvl3pPr>
              <a:defRPr sz="2325" b="1">
                <a:solidFill>
                  <a:srgbClr val="58458D"/>
                </a:solidFill>
                <a:latin typeface="Arial"/>
                <a:ea typeface="Arial"/>
                <a:cs typeface="Arial"/>
              </a:defRPr>
            </a:lvl3pPr>
            <a:lvl4pPr>
              <a:defRPr sz="2325" b="1">
                <a:solidFill>
                  <a:srgbClr val="58458D"/>
                </a:solidFill>
                <a:latin typeface="Arial"/>
                <a:ea typeface="Arial"/>
                <a:cs typeface="Arial"/>
              </a:defRPr>
            </a:lvl4pPr>
            <a:lvl5pPr>
              <a:defRPr sz="2325" b="1">
                <a:solidFill>
                  <a:srgbClr val="58458D"/>
                </a:solidFill>
                <a:latin typeface="Arial"/>
                <a:ea typeface="Arial"/>
                <a:cs typeface="Arial"/>
              </a:defRPr>
            </a:lvl5pPr>
            <a:lvl6pPr>
              <a:defRPr sz="2325" b="1">
                <a:solidFill>
                  <a:srgbClr val="58458D"/>
                </a:solidFill>
                <a:latin typeface="Arial"/>
                <a:ea typeface="Arial"/>
                <a:cs typeface="Arial"/>
              </a:defRPr>
            </a:lvl6pPr>
            <a:lvl7pPr>
              <a:defRPr sz="2325" b="1">
                <a:solidFill>
                  <a:srgbClr val="58458D"/>
                </a:solidFill>
                <a:latin typeface="Arial"/>
                <a:ea typeface="Arial"/>
                <a:cs typeface="Arial"/>
              </a:defRPr>
            </a:lvl7pPr>
            <a:lvl8pPr>
              <a:defRPr sz="2325" b="1">
                <a:solidFill>
                  <a:srgbClr val="58458D"/>
                </a:solidFill>
                <a:latin typeface="Arial"/>
                <a:ea typeface="Arial"/>
                <a:cs typeface="Arial"/>
              </a:defRPr>
            </a:lvl8pPr>
            <a:lvl9pPr>
              <a:defRPr sz="2325" b="1">
                <a:solidFill>
                  <a:srgbClr val="58458D"/>
                </a:solidFill>
                <a:latin typeface="Arial"/>
                <a:ea typeface="Arial"/>
                <a:cs typeface="Arial"/>
              </a:defRPr>
            </a:lvl9pPr>
          </a:lstStyle>
          <a:p xmlns:a="http://schemas.openxmlformats.org/drawingml/2006/main">
            <a:pPr>
              <a:defRPr sz="2325" b="1">
                <a:solidFill>
                  <a:srgbClr val="58458D"/>
                </a:solidFill>
                <a:latin typeface="Arial"/>
                <a:ea typeface="Arial"/>
                <a:cs typeface="Arial"/>
              </a:defRPr>
            </a:pPr>
            <a:r>
              <a:rPr sz="2325" b="1">
                <a:solidFill>
                  <a:srgbClr val="58458D"/>
                </a:solidFill>
                <a:latin typeface="Arial"/>
                <a:ea typeface="Arial"/>
                <a:cs typeface="Arial"/>
              </a:rPr>
              <a:t>Development: Codex — GPT-6.1 Sol</a:t>
            </a:r>
          </a:p>
        </p:txBody>
      </p:sp>
      <p:sp>
        <p:nvSpPr>
          <p:cNvPr id="4" name="">
            <a:extLst xmlns:a="http://schemas.openxmlformats.org/drawingml/2006/main">
              <a:ext uri="{FF2B5EF4-FFF2-40B4-BE49-F238E27FC236}">
                <a16:creationId xmlns:a16="http://schemas.microsoft.com/office/drawing/2014/main" id="{974515F9-9F51-4C67-BE39-2ABC862E8681}"/>
              </a:ext>
            </a:extLst>
          </p:cNvPr>
          <p:cNvSpPr>
            <a:spLocks xmlns:a="http://schemas.openxmlformats.org/drawingml/2006/main" noGrp="1"/>
          </p:cNvSpPr>
          <p:nvPr/>
        </p:nvSpPr>
        <p:spPr>
          <a:xfrm xmlns:a="http://schemas.openxmlformats.org/drawingml/2006/main">
            <a:off x="762000" y="20383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Paid access used by at least one team member</a:t>
            </a:r>
          </a:p>
        </p:txBody>
      </p:sp>
      <p:sp>
        <p:nvSpPr>
          <p:cNvPr id="5" name="">
            <a:extLst xmlns:a="http://schemas.openxmlformats.org/drawingml/2006/main">
              <a:ext uri="{FF2B5EF4-FFF2-40B4-BE49-F238E27FC236}">
                <a16:creationId xmlns:a16="http://schemas.microsoft.com/office/drawing/2014/main" id="{B660FA23-0CEC-46AA-AE6E-B4573685DF7B}"/>
              </a:ext>
            </a:extLst>
          </p:cNvPr>
          <p:cNvSpPr>
            <a:spLocks xmlns:a="http://schemas.openxmlformats.org/drawingml/2006/main" noGrp="1"/>
          </p:cNvSpPr>
          <p:nvPr/>
        </p:nvSpPr>
        <p:spPr>
          <a:xfrm xmlns:a="http://schemas.openxmlformats.org/drawingml/2006/main">
            <a:off x="762000" y="2695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58458D"/>
                </a:solidFill>
                <a:latin typeface="Arial"/>
                <a:ea typeface="Arial"/>
                <a:cs typeface="Arial"/>
              </a:defRPr>
            </a:defPPr>
            <a:lvl1pPr>
              <a:defRPr sz="2325" b="1">
                <a:solidFill>
                  <a:srgbClr val="58458D"/>
                </a:solidFill>
                <a:latin typeface="Arial"/>
                <a:ea typeface="Arial"/>
                <a:cs typeface="Arial"/>
              </a:defRPr>
            </a:lvl1pPr>
            <a:lvl2pPr>
              <a:defRPr sz="2325" b="1">
                <a:solidFill>
                  <a:srgbClr val="58458D"/>
                </a:solidFill>
                <a:latin typeface="Arial"/>
                <a:ea typeface="Arial"/>
                <a:cs typeface="Arial"/>
              </a:defRPr>
            </a:lvl2pPr>
            <a:lvl3pPr>
              <a:defRPr sz="2325" b="1">
                <a:solidFill>
                  <a:srgbClr val="58458D"/>
                </a:solidFill>
                <a:latin typeface="Arial"/>
                <a:ea typeface="Arial"/>
                <a:cs typeface="Arial"/>
              </a:defRPr>
            </a:lvl3pPr>
            <a:lvl4pPr>
              <a:defRPr sz="2325" b="1">
                <a:solidFill>
                  <a:srgbClr val="58458D"/>
                </a:solidFill>
                <a:latin typeface="Arial"/>
                <a:ea typeface="Arial"/>
                <a:cs typeface="Arial"/>
              </a:defRPr>
            </a:lvl4pPr>
            <a:lvl5pPr>
              <a:defRPr sz="2325" b="1">
                <a:solidFill>
                  <a:srgbClr val="58458D"/>
                </a:solidFill>
                <a:latin typeface="Arial"/>
                <a:ea typeface="Arial"/>
                <a:cs typeface="Arial"/>
              </a:defRPr>
            </a:lvl5pPr>
            <a:lvl6pPr>
              <a:defRPr sz="2325" b="1">
                <a:solidFill>
                  <a:srgbClr val="58458D"/>
                </a:solidFill>
                <a:latin typeface="Arial"/>
                <a:ea typeface="Arial"/>
                <a:cs typeface="Arial"/>
              </a:defRPr>
            </a:lvl6pPr>
            <a:lvl7pPr>
              <a:defRPr sz="2325" b="1">
                <a:solidFill>
                  <a:srgbClr val="58458D"/>
                </a:solidFill>
                <a:latin typeface="Arial"/>
                <a:ea typeface="Arial"/>
                <a:cs typeface="Arial"/>
              </a:defRPr>
            </a:lvl7pPr>
            <a:lvl8pPr>
              <a:defRPr sz="2325" b="1">
                <a:solidFill>
                  <a:srgbClr val="58458D"/>
                </a:solidFill>
                <a:latin typeface="Arial"/>
                <a:ea typeface="Arial"/>
                <a:cs typeface="Arial"/>
              </a:defRPr>
            </a:lvl8pPr>
            <a:lvl9pPr>
              <a:defRPr sz="2325" b="1">
                <a:solidFill>
                  <a:srgbClr val="58458D"/>
                </a:solidFill>
                <a:latin typeface="Arial"/>
                <a:ea typeface="Arial"/>
                <a:cs typeface="Arial"/>
              </a:defRPr>
            </a:lvl9pPr>
          </a:lstStyle>
          <a:p xmlns:a="http://schemas.openxmlformats.org/drawingml/2006/main">
            <a:pPr>
              <a:defRPr sz="2325" b="1">
                <a:solidFill>
                  <a:srgbClr val="58458D"/>
                </a:solidFill>
                <a:latin typeface="Arial"/>
                <a:ea typeface="Arial"/>
                <a:cs typeface="Arial"/>
              </a:defRPr>
            </a:pPr>
            <a:r>
              <a:rPr sz="2325" b="1">
                <a:solidFill>
                  <a:srgbClr val="58458D"/>
                </a:solidFill>
                <a:latin typeface="Arial"/>
                <a:ea typeface="Arial"/>
                <a:cs typeface="Arial"/>
              </a:rPr>
              <a:t>AI usage: Level 5 (Vibe coded)</a:t>
            </a:r>
          </a:p>
        </p:txBody>
      </p:sp>
      <p:sp>
        <p:nvSpPr>
          <p:cNvPr id="6" name="">
            <a:extLst xmlns:a="http://schemas.openxmlformats.org/drawingml/2006/main">
              <a:ext uri="{FF2B5EF4-FFF2-40B4-BE49-F238E27FC236}">
                <a16:creationId xmlns:a16="http://schemas.microsoft.com/office/drawing/2014/main" id="{0B8B28A6-6599-40BD-AAA9-6D4C1BAD9912}"/>
              </a:ext>
            </a:extLst>
          </p:cNvPr>
          <p:cNvSpPr>
            <a:spLocks xmlns:a="http://schemas.openxmlformats.org/drawingml/2006/main" noGrp="1"/>
          </p:cNvSpPr>
          <p:nvPr/>
        </p:nvSpPr>
        <p:spPr>
          <a:xfrm xmlns:a="http://schemas.openxmlformats.org/drawingml/2006/main">
            <a:off x="762000" y="31527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AI generated implementation and tests. Humans directed and reviewed.</a:t>
            </a:r>
          </a:p>
        </p:txBody>
      </p:sp>
      <p:sp>
        <p:nvSpPr>
          <p:cNvPr id="7" name="">
            <a:extLst xmlns:a="http://schemas.openxmlformats.org/drawingml/2006/main">
              <a:ext uri="{FF2B5EF4-FFF2-40B4-BE49-F238E27FC236}">
                <a16:creationId xmlns:a16="http://schemas.microsoft.com/office/drawing/2014/main" id="{A4DEF660-CBCA-401B-8480-CB06960EFC42}"/>
              </a:ext>
            </a:extLst>
          </p:cNvPr>
          <p:cNvSpPr>
            <a:spLocks xmlns:a="http://schemas.openxmlformats.org/drawingml/2006/main" noGrp="1"/>
          </p:cNvSpPr>
          <p:nvPr/>
        </p:nvSpPr>
        <p:spPr>
          <a:xfrm xmlns:a="http://schemas.openxmlformats.org/drawingml/2006/main">
            <a:off x="762000" y="38004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Theo: backend. Wahab: frontend and desktop interface.</a:t>
            </a:r>
          </a:p>
        </p:txBody>
      </p:sp>
      <p:sp>
        <p:nvSpPr>
          <p:cNvPr id="8" name="">
            <a:extLst xmlns:a="http://schemas.openxmlformats.org/drawingml/2006/main">
              <a:ext uri="{FF2B5EF4-FFF2-40B4-BE49-F238E27FC236}">
                <a16:creationId xmlns:a16="http://schemas.microsoft.com/office/drawing/2014/main" id="{8B7DAD45-5AF1-458D-A73E-F5891E6CE71C}"/>
              </a:ext>
            </a:extLst>
          </p:cNvPr>
          <p:cNvSpPr>
            <a:spLocks xmlns:a="http://schemas.openxmlformats.org/drawingml/2006/main" noGrp="1"/>
          </p:cNvSpPr>
          <p:nvPr/>
        </p:nvSpPr>
        <p:spPr>
          <a:xfrm xmlns:a="http://schemas.openxmlformats.org/drawingml/2006/main">
            <a:off x="762000" y="4257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42039"/>
                </a:solidFill>
                <a:latin typeface="Arial"/>
                <a:ea typeface="Arial"/>
                <a:cs typeface="Arial"/>
              </a:defRPr>
            </a:defPPr>
            <a:lvl1pPr>
              <a:defRPr sz="2025" b="0">
                <a:solidFill>
                  <a:srgbClr val="242039"/>
                </a:solidFill>
                <a:latin typeface="Arial"/>
                <a:ea typeface="Arial"/>
                <a:cs typeface="Arial"/>
              </a:defRPr>
            </a:lvl1pPr>
            <a:lvl2pPr>
              <a:defRPr sz="2025" b="0">
                <a:solidFill>
                  <a:srgbClr val="242039"/>
                </a:solidFill>
                <a:latin typeface="Arial"/>
                <a:ea typeface="Arial"/>
                <a:cs typeface="Arial"/>
              </a:defRPr>
            </a:lvl2pPr>
            <a:lvl3pPr>
              <a:defRPr sz="2025" b="0">
                <a:solidFill>
                  <a:srgbClr val="242039"/>
                </a:solidFill>
                <a:latin typeface="Arial"/>
                <a:ea typeface="Arial"/>
                <a:cs typeface="Arial"/>
              </a:defRPr>
            </a:lvl3pPr>
            <a:lvl4pPr>
              <a:defRPr sz="2025" b="0">
                <a:solidFill>
                  <a:srgbClr val="242039"/>
                </a:solidFill>
                <a:latin typeface="Arial"/>
                <a:ea typeface="Arial"/>
                <a:cs typeface="Arial"/>
              </a:defRPr>
            </a:lvl4pPr>
            <a:lvl5pPr>
              <a:defRPr sz="2025" b="0">
                <a:solidFill>
                  <a:srgbClr val="242039"/>
                </a:solidFill>
                <a:latin typeface="Arial"/>
                <a:ea typeface="Arial"/>
                <a:cs typeface="Arial"/>
              </a:defRPr>
            </a:lvl5pPr>
            <a:lvl6pPr>
              <a:defRPr sz="2025" b="0">
                <a:solidFill>
                  <a:srgbClr val="242039"/>
                </a:solidFill>
                <a:latin typeface="Arial"/>
                <a:ea typeface="Arial"/>
                <a:cs typeface="Arial"/>
              </a:defRPr>
            </a:lvl6pPr>
            <a:lvl7pPr>
              <a:defRPr sz="2025" b="0">
                <a:solidFill>
                  <a:srgbClr val="242039"/>
                </a:solidFill>
                <a:latin typeface="Arial"/>
                <a:ea typeface="Arial"/>
                <a:cs typeface="Arial"/>
              </a:defRPr>
            </a:lvl7pPr>
            <a:lvl8pPr>
              <a:defRPr sz="2025" b="0">
                <a:solidFill>
                  <a:srgbClr val="242039"/>
                </a:solidFill>
                <a:latin typeface="Arial"/>
                <a:ea typeface="Arial"/>
                <a:cs typeface="Arial"/>
              </a:defRPr>
            </a:lvl8pPr>
            <a:lvl9pPr>
              <a:defRPr sz="2025" b="0">
                <a:solidFill>
                  <a:srgbClr val="242039"/>
                </a:solidFill>
                <a:latin typeface="Arial"/>
                <a:ea typeface="Arial"/>
                <a:cs typeface="Arial"/>
              </a:defRPr>
            </a:lvl9pPr>
          </a:lstStyle>
          <a:p xmlns:a="http://schemas.openxmlformats.org/drawingml/2006/main">
            <a:pPr>
              <a:defRPr sz="2025" b="0">
                <a:solidFill>
                  <a:srgbClr val="242039"/>
                </a:solidFill>
                <a:latin typeface="Arial"/>
                <a:ea typeface="Arial"/>
                <a:cs typeface="Arial"/>
              </a:defRPr>
            </a:pPr>
            <a:r>
              <a:rPr sz="2025" b="0">
                <a:solidFill>
                  <a:srgbClr val="242039"/>
                </a:solidFill>
                <a:latin typeface="Arial"/>
                <a:ea typeface="Arial"/>
                <a:cs typeface="Arial"/>
              </a:rPr>
              <a:t>Human work: requirements, product direction and code review.</a:t>
            </a:r>
          </a:p>
        </p:txBody>
      </p:sp>
      <p:sp>
        <p:nvSpPr>
          <p:cNvPr id="9" name="">
            <a:extLst xmlns:a="http://schemas.openxmlformats.org/drawingml/2006/main">
              <a:ext uri="{FF2B5EF4-FFF2-40B4-BE49-F238E27FC236}">
                <a16:creationId xmlns:a16="http://schemas.microsoft.com/office/drawing/2014/main" id="{EC51FC68-CEBC-4E11-8A4C-12E04DB2CFB0}"/>
              </a:ext>
            </a:extLst>
          </p:cNvPr>
          <p:cNvSpPr>
            <a:spLocks xmlns:a="http://schemas.openxmlformats.org/drawingml/2006/main" noGrp="1"/>
          </p:cNvSpPr>
          <p:nvPr/>
        </p:nvSpPr>
        <p:spPr>
          <a:xfrm xmlns:a="http://schemas.openxmlformats.org/drawingml/2006/main">
            <a:off x="762000" y="49053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8458D"/>
                </a:solidFill>
                <a:latin typeface="Arial"/>
                <a:ea typeface="Arial"/>
                <a:cs typeface="Arial"/>
              </a:defRPr>
            </a:defPPr>
            <a:lvl1pPr>
              <a:defRPr sz="2175" b="1">
                <a:solidFill>
                  <a:srgbClr val="58458D"/>
                </a:solidFill>
                <a:latin typeface="Arial"/>
                <a:ea typeface="Arial"/>
                <a:cs typeface="Arial"/>
              </a:defRPr>
            </a:lvl1pPr>
            <a:lvl2pPr>
              <a:defRPr sz="2175" b="1">
                <a:solidFill>
                  <a:srgbClr val="58458D"/>
                </a:solidFill>
                <a:latin typeface="Arial"/>
                <a:ea typeface="Arial"/>
                <a:cs typeface="Arial"/>
              </a:defRPr>
            </a:lvl2pPr>
            <a:lvl3pPr>
              <a:defRPr sz="2175" b="1">
                <a:solidFill>
                  <a:srgbClr val="58458D"/>
                </a:solidFill>
                <a:latin typeface="Arial"/>
                <a:ea typeface="Arial"/>
                <a:cs typeface="Arial"/>
              </a:defRPr>
            </a:lvl3pPr>
            <a:lvl4pPr>
              <a:defRPr sz="2175" b="1">
                <a:solidFill>
                  <a:srgbClr val="58458D"/>
                </a:solidFill>
                <a:latin typeface="Arial"/>
                <a:ea typeface="Arial"/>
                <a:cs typeface="Arial"/>
              </a:defRPr>
            </a:lvl4pPr>
            <a:lvl5pPr>
              <a:defRPr sz="2175" b="1">
                <a:solidFill>
                  <a:srgbClr val="58458D"/>
                </a:solidFill>
                <a:latin typeface="Arial"/>
                <a:ea typeface="Arial"/>
                <a:cs typeface="Arial"/>
              </a:defRPr>
            </a:lvl5pPr>
            <a:lvl6pPr>
              <a:defRPr sz="2175" b="1">
                <a:solidFill>
                  <a:srgbClr val="58458D"/>
                </a:solidFill>
                <a:latin typeface="Arial"/>
                <a:ea typeface="Arial"/>
                <a:cs typeface="Arial"/>
              </a:defRPr>
            </a:lvl6pPr>
            <a:lvl7pPr>
              <a:defRPr sz="2175" b="1">
                <a:solidFill>
                  <a:srgbClr val="58458D"/>
                </a:solidFill>
                <a:latin typeface="Arial"/>
                <a:ea typeface="Arial"/>
                <a:cs typeface="Arial"/>
              </a:defRPr>
            </a:lvl7pPr>
            <a:lvl8pPr>
              <a:defRPr sz="2175" b="1">
                <a:solidFill>
                  <a:srgbClr val="58458D"/>
                </a:solidFill>
                <a:latin typeface="Arial"/>
                <a:ea typeface="Arial"/>
                <a:cs typeface="Arial"/>
              </a:defRPr>
            </a:lvl8pPr>
            <a:lvl9pPr>
              <a:defRPr sz="2175" b="1">
                <a:solidFill>
                  <a:srgbClr val="58458D"/>
                </a:solidFill>
                <a:latin typeface="Arial"/>
                <a:ea typeface="Arial"/>
                <a:cs typeface="Arial"/>
              </a:defRPr>
            </a:lvl9pPr>
          </a:lstStyle>
          <a:p xmlns:a="http://schemas.openxmlformats.org/drawingml/2006/main">
            <a:pPr>
              <a:defRPr sz="2175" b="1">
                <a:solidFill>
                  <a:srgbClr val="58458D"/>
                </a:solidFill>
                <a:latin typeface="Arial"/>
                <a:ea typeface="Arial"/>
                <a:cs typeface="Arial"/>
              </a:defRPr>
            </a:pPr>
            <a:r>
              <a:rPr sz="2175" b="1">
                <a:solidFill>
                  <a:srgbClr val="58458D"/>
                </a:solidFill>
                <a:latin typeface="Arial"/>
                <a:ea typeface="Arial"/>
                <a:cs typeface="Arial"/>
              </a:rPr>
              <a:t>Runtime check: DeepSeek deepseek-flash</a:t>
            </a:r>
          </a:p>
        </p:txBody>
      </p:sp>
      <p:sp>
        <p:nvSpPr>
          <p:cNvPr id="10" name="">
            <a:extLst xmlns:a="http://schemas.openxmlformats.org/drawingml/2006/main">
              <a:ext uri="{FF2B5EF4-FFF2-40B4-BE49-F238E27FC236}">
                <a16:creationId xmlns:a16="http://schemas.microsoft.com/office/drawing/2014/main" id="{9A095C54-2EC6-4866-B4A1-853FF8917170}"/>
              </a:ext>
            </a:extLst>
          </p:cNvPr>
          <p:cNvSpPr>
            <a:spLocks xmlns:a="http://schemas.openxmlformats.org/drawingml/2006/main" noGrp="1"/>
          </p:cNvSpPr>
          <p:nvPr/>
        </p:nvSpPr>
        <p:spPr>
          <a:xfrm xmlns:a="http://schemas.openxmlformats.org/drawingml/2006/main">
            <a:off x="762000" y="53625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42039"/>
                </a:solidFill>
                <a:latin typeface="Arial"/>
                <a:ea typeface="Arial"/>
                <a:cs typeface="Arial"/>
              </a:defRPr>
            </a:defPPr>
            <a:lvl1pPr>
              <a:defRPr sz="1950" b="0">
                <a:solidFill>
                  <a:srgbClr val="242039"/>
                </a:solidFill>
                <a:latin typeface="Arial"/>
                <a:ea typeface="Arial"/>
                <a:cs typeface="Arial"/>
              </a:defRPr>
            </a:lvl1pPr>
            <a:lvl2pPr>
              <a:defRPr sz="1950" b="0">
                <a:solidFill>
                  <a:srgbClr val="242039"/>
                </a:solidFill>
                <a:latin typeface="Arial"/>
                <a:ea typeface="Arial"/>
                <a:cs typeface="Arial"/>
              </a:defRPr>
            </a:lvl2pPr>
            <a:lvl3pPr>
              <a:defRPr sz="1950" b="0">
                <a:solidFill>
                  <a:srgbClr val="242039"/>
                </a:solidFill>
                <a:latin typeface="Arial"/>
                <a:ea typeface="Arial"/>
                <a:cs typeface="Arial"/>
              </a:defRPr>
            </a:lvl3pPr>
            <a:lvl4pPr>
              <a:defRPr sz="1950" b="0">
                <a:solidFill>
                  <a:srgbClr val="242039"/>
                </a:solidFill>
                <a:latin typeface="Arial"/>
                <a:ea typeface="Arial"/>
                <a:cs typeface="Arial"/>
              </a:defRPr>
            </a:lvl4pPr>
            <a:lvl5pPr>
              <a:defRPr sz="1950" b="0">
                <a:solidFill>
                  <a:srgbClr val="242039"/>
                </a:solidFill>
                <a:latin typeface="Arial"/>
                <a:ea typeface="Arial"/>
                <a:cs typeface="Arial"/>
              </a:defRPr>
            </a:lvl5pPr>
            <a:lvl6pPr>
              <a:defRPr sz="1950" b="0">
                <a:solidFill>
                  <a:srgbClr val="242039"/>
                </a:solidFill>
                <a:latin typeface="Arial"/>
                <a:ea typeface="Arial"/>
                <a:cs typeface="Arial"/>
              </a:defRPr>
            </a:lvl6pPr>
            <a:lvl7pPr>
              <a:defRPr sz="1950" b="0">
                <a:solidFill>
                  <a:srgbClr val="242039"/>
                </a:solidFill>
                <a:latin typeface="Arial"/>
                <a:ea typeface="Arial"/>
                <a:cs typeface="Arial"/>
              </a:defRPr>
            </a:lvl7pPr>
            <a:lvl8pPr>
              <a:defRPr sz="1950" b="0">
                <a:solidFill>
                  <a:srgbClr val="242039"/>
                </a:solidFill>
                <a:latin typeface="Arial"/>
                <a:ea typeface="Arial"/>
                <a:cs typeface="Arial"/>
              </a:defRPr>
            </a:lvl8pPr>
            <a:lvl9pPr>
              <a:defRPr sz="1950" b="0">
                <a:solidFill>
                  <a:srgbClr val="242039"/>
                </a:solidFill>
                <a:latin typeface="Arial"/>
                <a:ea typeface="Arial"/>
                <a:cs typeface="Arial"/>
              </a:defRPr>
            </a:lvl9pPr>
          </a:lstStyle>
          <a:p xmlns:a="http://schemas.openxmlformats.org/drawingml/2006/main">
            <a:pPr>
              <a:defRPr sz="1950" b="0">
                <a:solidFill>
                  <a:srgbClr val="242039"/>
                </a:solidFill>
                <a:latin typeface="Arial"/>
                <a:ea typeface="Arial"/>
                <a:cs typeface="Arial"/>
              </a:defRPr>
            </a:pPr>
            <a:r>
              <a:rPr sz="1950" b="0">
                <a:solidFill>
                  <a:srgbClr val="242039"/>
                </a:solidFill>
                <a:latin typeface="Arial"/>
                <a:ea typeface="Arial"/>
                <a:cs typeface="Arial"/>
              </a:rPr>
              <a:t>Two real API requests: a cited answer and two option proposals.</a:t>
            </a:r>
          </a:p>
          <a:p xmlns:a="http://schemas.openxmlformats.org/drawingml/2006/main">
            <a:pPr>
              <a:defRPr sz="1950" b="0">
                <a:solidFill>
                  <a:srgbClr val="242039"/>
                </a:solidFill>
                <a:latin typeface="Arial"/>
                <a:ea typeface="Arial"/>
                <a:cs typeface="Arial"/>
              </a:defRPr>
            </a:pPr>
            <a:r>
              <a:rPr sz="1950" b="0">
                <a:solidFill>
                  <a:srgbClr val="242039"/>
                </a:solidFill>
                <a:latin typeface="Arial"/>
                <a:ea typeface="Arial"/>
                <a:cs typeface="Arial"/>
              </a:rPr>
              <a:t>Desktop UI AI demonstrations used mocked providers.</a:t>
            </a:r>
          </a:p>
        </p:txBody>
      </p:sp>
      <p:sp>
        <p:nvSpPr>
          <p:cNvPr id="11" name="">
            <a:extLst xmlns:a="http://schemas.openxmlformats.org/drawingml/2006/main">
              <a:ext uri="{FF2B5EF4-FFF2-40B4-BE49-F238E27FC236}">
                <a16:creationId xmlns:a16="http://schemas.microsoft.com/office/drawing/2014/main" id="{C8F5D22E-7742-40DF-80E6-70930C0488AF}"/>
              </a:ext>
            </a:extLst>
          </p:cNvPr>
          <p:cNvSpPr>
            <a:spLocks xmlns:a="http://schemas.openxmlformats.org/drawingml/2006/main" noGrp="1"/>
          </p:cNvSpPr>
          <p:nvPr/>
        </p:nvSpPr>
        <p:spPr>
          <a:xfrm xmlns:a="http://schemas.openxmlformats.org/drawingml/2006/main">
            <a:off x="762000" y="6391275"/>
            <a:ext cx="942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25B74"/>
                </a:solidFill>
                <a:latin typeface="Arial"/>
                <a:ea typeface="Arial"/>
                <a:cs typeface="Arial"/>
              </a:defRPr>
            </a:defPPr>
            <a:lvl1pPr>
              <a:defRPr sz="1425" b="0">
                <a:solidFill>
                  <a:srgbClr val="625B74"/>
                </a:solidFill>
                <a:latin typeface="Arial"/>
                <a:ea typeface="Arial"/>
                <a:cs typeface="Arial"/>
              </a:defRPr>
            </a:lvl1pPr>
            <a:lvl2pPr>
              <a:defRPr sz="1425" b="0">
                <a:solidFill>
                  <a:srgbClr val="625B74"/>
                </a:solidFill>
                <a:latin typeface="Arial"/>
                <a:ea typeface="Arial"/>
                <a:cs typeface="Arial"/>
              </a:defRPr>
            </a:lvl2pPr>
            <a:lvl3pPr>
              <a:defRPr sz="1425" b="0">
                <a:solidFill>
                  <a:srgbClr val="625B74"/>
                </a:solidFill>
                <a:latin typeface="Arial"/>
                <a:ea typeface="Arial"/>
                <a:cs typeface="Arial"/>
              </a:defRPr>
            </a:lvl3pPr>
            <a:lvl4pPr>
              <a:defRPr sz="1425" b="0">
                <a:solidFill>
                  <a:srgbClr val="625B74"/>
                </a:solidFill>
                <a:latin typeface="Arial"/>
                <a:ea typeface="Arial"/>
                <a:cs typeface="Arial"/>
              </a:defRPr>
            </a:lvl4pPr>
            <a:lvl5pPr>
              <a:defRPr sz="1425" b="0">
                <a:solidFill>
                  <a:srgbClr val="625B74"/>
                </a:solidFill>
                <a:latin typeface="Arial"/>
                <a:ea typeface="Arial"/>
                <a:cs typeface="Arial"/>
              </a:defRPr>
            </a:lvl5pPr>
            <a:lvl6pPr>
              <a:defRPr sz="1425" b="0">
                <a:solidFill>
                  <a:srgbClr val="625B74"/>
                </a:solidFill>
                <a:latin typeface="Arial"/>
                <a:ea typeface="Arial"/>
                <a:cs typeface="Arial"/>
              </a:defRPr>
            </a:lvl6pPr>
            <a:lvl7pPr>
              <a:defRPr sz="1425" b="0">
                <a:solidFill>
                  <a:srgbClr val="625B74"/>
                </a:solidFill>
                <a:latin typeface="Arial"/>
                <a:ea typeface="Arial"/>
                <a:cs typeface="Arial"/>
              </a:defRPr>
            </a:lvl7pPr>
            <a:lvl8pPr>
              <a:defRPr sz="1425" b="0">
                <a:solidFill>
                  <a:srgbClr val="625B74"/>
                </a:solidFill>
                <a:latin typeface="Arial"/>
                <a:ea typeface="Arial"/>
                <a:cs typeface="Arial"/>
              </a:defRPr>
            </a:lvl8pPr>
            <a:lvl9pPr>
              <a:defRPr sz="1425" b="0">
                <a:solidFill>
                  <a:srgbClr val="625B74"/>
                </a:solidFill>
                <a:latin typeface="Arial"/>
                <a:ea typeface="Arial"/>
                <a:cs typeface="Arial"/>
              </a:defRPr>
            </a:lvl9pPr>
          </a:lstStyle>
          <a:p xmlns:a="http://schemas.openxmlformats.org/drawingml/2006/main">
            <a:pPr>
              <a:defRPr sz="1425" b="0">
                <a:solidFill>
                  <a:srgbClr val="625B74"/>
                </a:solidFill>
                <a:latin typeface="Arial"/>
                <a:ea typeface="Arial"/>
                <a:cs typeface="Arial"/>
              </a:defRPr>
            </a:pPr>
            <a:r>
              <a:rPr sz="1425" b="0">
                <a:solidFill>
                  <a:srgbClr val="625B74"/>
                </a:solidFill>
                <a:latin typeface="Arial"/>
                <a:ea typeface="Arial"/>
                <a:cs typeface="Arial"/>
              </a:rPr>
              <a:t>Fictional presets. Live API success does not verify real-world source accuracy.</a:t>
            </a:r>
          </a:p>
        </p:txBody>
      </p:sp>
    </p:spTree>
    <p:extLst>
      <p:ext uri="{BB962C8B-B14F-4D97-AF65-F5344CB8AC3E}">
        <p14:creationId xmlns:p14="http://schemas.microsoft.com/office/powerpoint/2010/main" val="15316956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2026-10-18T10:57:52.2770000Z</dcterms:created>
  <dcterms:modified xsi:type="dcterms:W3CDTF">2026-10-18T10:57:52.2780000Z</dcterms:modified>
</coreProperties>
</file>