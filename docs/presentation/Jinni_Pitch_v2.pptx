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8465a96e6974d7e" /><Relationship Type="http://schemas.openxmlformats.org/officeDocument/2006/relationships/extended-properties" Target="/docProps/app.xml" Id="Rb17fd8e61d5540aa" /><Relationship Type="http://schemas.openxmlformats.org/officeDocument/2006/relationships/officeDocument" Target="/ppt/presentation.xml" Id="Rc0394964a916415e" /></Relationships>
</file>

<file path=ppt/presentation.xml><?xml version="1.0" encoding="utf-8"?>
<p:presentation xmlns:p="http://schemas.openxmlformats.org/presentationml/2006/main">
  <p:sldMasterIdLst>
    <p:sldMasterId xmlns:r="http://schemas.openxmlformats.org/officeDocument/2006/relationships" id="2147483648" r:id="R22aa6cd4cd124aa2"/>
  </p:sldMasterIdLst>
  <p:notesMasterIdLst>
    <p:notesMasterId xmlns:r="http://schemas.openxmlformats.org/officeDocument/2006/relationships" r:id="Rfce85ba1a26f4d22"/>
  </p:notesMasterIdLst>
  <p:sldIdLst>
    <p:sldId xmlns:r="http://schemas.openxmlformats.org/officeDocument/2006/relationships" id="256" r:id="Rf6e491ecc902466b"/>
    <p:sldId xmlns:r="http://schemas.openxmlformats.org/officeDocument/2006/relationships" id="257" r:id="R32286c1c87b14236"/>
    <p:sldId xmlns:r="http://schemas.openxmlformats.org/officeDocument/2006/relationships" id="258" r:id="Rebdcdf840bc5440f"/>
    <p:sldId xmlns:r="http://schemas.openxmlformats.org/officeDocument/2006/relationships" id="259" r:id="Rb578b868e5384cf9"/>
    <p:sldId xmlns:r="http://schemas.openxmlformats.org/officeDocument/2006/relationships" id="260" r:id="Reaa77cab96164aca"/>
    <p:sldId xmlns:r="http://schemas.openxmlformats.org/officeDocument/2006/relationships" id="261" r:id="R050b94ea05534584"/>
    <p:sldId xmlns:r="http://schemas.openxmlformats.org/officeDocument/2006/relationships" id="262" r:id="Rbc817bc70d734ec7"/>
    <p:sldId xmlns:r="http://schemas.openxmlformats.org/officeDocument/2006/relationships" id="263" r:id="Raf0292c10b40431d"/>
    <p:sldId xmlns:r="http://schemas.openxmlformats.org/officeDocument/2006/relationships" id="264" r:id="Radf14b7312054ab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5ec2570fa0646f4" /><Relationship Type="http://schemas.openxmlformats.org/officeDocument/2006/relationships/slideMaster" Target="/ppt/slideMasters/slideMaster1.xml" Id="R22aa6cd4cd124aa2" /><Relationship Type="http://schemas.openxmlformats.org/officeDocument/2006/relationships/notesMaster" Target="/ppt/notesMasters/notesMaster1.xml" Id="Rfce85ba1a26f4d22" /><Relationship Type="http://schemas.openxmlformats.org/officeDocument/2006/relationships/presProps" Target="/ppt/presProps.xml" Id="R0db09c08ab404fd8" /><Relationship Type="http://schemas.openxmlformats.org/officeDocument/2006/relationships/tableStyles" Target="/ppt/tableStyles.xml" Id="R955f87b629154c63" /><Relationship Type="http://schemas.openxmlformats.org/officeDocument/2006/relationships/slide" Target="/ppt/slides/slide1.xml" Id="Rf6e491ecc902466b" /><Relationship Type="http://schemas.openxmlformats.org/officeDocument/2006/relationships/slide" Target="/ppt/slides/slide2.xml" Id="R32286c1c87b14236" /><Relationship Type="http://schemas.openxmlformats.org/officeDocument/2006/relationships/slide" Target="/ppt/slides/slide3.xml" Id="Rebdcdf840bc5440f" /><Relationship Type="http://schemas.openxmlformats.org/officeDocument/2006/relationships/slide" Target="/ppt/slides/slide4.xml" Id="Rb578b868e5384cf9" /><Relationship Type="http://schemas.openxmlformats.org/officeDocument/2006/relationships/slide" Target="/ppt/slides/slide5.xml" Id="Reaa77cab96164aca" /><Relationship Type="http://schemas.openxmlformats.org/officeDocument/2006/relationships/slide" Target="/ppt/slides/slide6.xml" Id="R050b94ea05534584" /><Relationship Type="http://schemas.openxmlformats.org/officeDocument/2006/relationships/slide" Target="/ppt/slides/slide7.xml" Id="Rbc817bc70d734ec7" /><Relationship Type="http://schemas.openxmlformats.org/officeDocument/2006/relationships/slide" Target="/ppt/slides/slide8.xml" Id="Raf0292c10b40431d" /><Relationship Type="http://schemas.openxmlformats.org/officeDocument/2006/relationships/slide" Target="/ppt/slides/slide9.xml" Id="Radf14b7312054ab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1e8476b3e1f4a4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5564285dd84300" /><Relationship Type="http://schemas.openxmlformats.org/officeDocument/2006/relationships/notesMaster" Target="/ppt/notesMasters/notesMaster1.xml" Id="R86cf367afe0846f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abe12c16ea9437f" /><Relationship Type="http://schemas.openxmlformats.org/officeDocument/2006/relationships/notesMaster" Target="/ppt/notesMasters/notesMaster1.xml" Id="R353517ce9a2746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84fc33da80941d3" /><Relationship Type="http://schemas.openxmlformats.org/officeDocument/2006/relationships/notesMaster" Target="/ppt/notesMasters/notesMaster1.xml" Id="R1e2dd32820a5425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aa891a7b4e94715" /><Relationship Type="http://schemas.openxmlformats.org/officeDocument/2006/relationships/notesMaster" Target="/ppt/notesMasters/notesMaster1.xml" Id="Re918845ec12d4d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b10aebd6c54862" /><Relationship Type="http://schemas.openxmlformats.org/officeDocument/2006/relationships/notesMaster" Target="/ppt/notesMasters/notesMaster1.xml" Id="R105dd47adf724c4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24c494c169c4474" /><Relationship Type="http://schemas.openxmlformats.org/officeDocument/2006/relationships/notesMaster" Target="/ppt/notesMasters/notesMaster1.xml" Id="R1d325114899648c0" /></Relationships>
</file>

<file path=ppt/notesSlides/_rels/notesSlide7.xml.rels>&#65279;<?xml version="1.0" encoding="utf-8"?><Relationships xmlns="http://schemas.openxmlformats.org/package/2006/relationships"><Relationship Type="http://schemas.openxmlformats.org/officeDocument/2006/relationships/slide" Target="/ppt/slides/slide7.xml" Id="R311793d6b6a0448f" /><Relationship Type="http://schemas.openxmlformats.org/officeDocument/2006/relationships/notesMaster" Target="/ppt/notesMasters/notesMaster1.xml" Id="R0e1fa6fcc8ad446d" /></Relationships>
</file>

<file path=ppt/notesSlides/_rels/notesSlide8.xml.rels>&#65279;<?xml version="1.0" encoding="utf-8"?><Relationships xmlns="http://schemas.openxmlformats.org/package/2006/relationships"><Relationship Type="http://schemas.openxmlformats.org/officeDocument/2006/relationships/slide" Target="/ppt/slides/slide8.xml" Id="Rffc0d9d8d7904426" /><Relationship Type="http://schemas.openxmlformats.org/officeDocument/2006/relationships/notesMaster" Target="/ppt/notesMasters/notesMaster1.xml" Id="Rb90fbaca4b764853" /></Relationships>
</file>

<file path=ppt/notesSlides/_rels/notesSlide9.xml.rels>&#65279;<?xml version="1.0" encoding="utf-8"?><Relationships xmlns="http://schemas.openxmlformats.org/package/2006/relationships"><Relationship Type="http://schemas.openxmlformats.org/officeDocument/2006/relationships/slide" Target="/ppt/slides/slide9.xml" Id="Rd952ffe782c24eca" /><Relationship Type="http://schemas.openxmlformats.org/officeDocument/2006/relationships/notesMaster" Target="/ppt/notesMasters/notesMaster1.xml" Id="R3fbc5cfa758c458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 we are Theo and Wahab from Team 39. This is Jinni. It brings separate sources into one decision workspace. You set the conditions, compare the choices, and check the evidence. Our built-in examples use fictional data.</a:t>
            </a:r>
          </a:p>
          <a:p xmlns:a="http://schemas.openxmlformats.org/drawingml/2006/main">
            <a:r>
              <a:t/>
            </a:r>
          </a:p>
          <a:p xmlns:a="http://schemas.openxmlformats.org/drawingml/2006/main">
            <a:r>
              <a:t>Repository evidence:</a:t>
            </a:r>
          </a:p>
          <a:p xmlns:a="http://schemas.openxmlformats.org/drawingml/2006/main">
            <a:r>
              <a:t>- README.md</a:t>
            </a:r>
          </a:p>
          <a:p xmlns:a="http://schemas.openxmlformats.org/drawingml/2006/main">
            <a:r>
              <a:t>- docs/GENERAL_DECISIONS.md</a:t>
            </a:r>
          </a:p>
          <a:p xmlns:a="http://schemas.openxmlformats.org/drawingml/2006/main">
            <a:r>
              <a:t>- web/icon.svg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Meet Maya, our fictional user. She needs one journey within twenty-five pounds and three hours. The catalog names the choices. A separate feed adds their measurements. Neither feed alone gives a complete comparison. Jinni joins them and applies Maya's conditions.</a:t>
            </a:r>
          </a:p>
          <a:p xmlns:a="http://schemas.openxmlformats.org/drawingml/2006/main">
            <a:r>
              <a:t/>
            </a:r>
          </a:p>
          <a:p xmlns:a="http://schemas.openxmlformats.org/drawingml/2006/main">
            <a:r>
              <a:t>Repository evidence:</a:t>
            </a:r>
          </a:p>
          <a:p xmlns:a="http://schemas.openxmlformats.org/drawingml/2006/main">
            <a:r>
              <a:t>- data/decisions/travel-options.json</a:t>
            </a:r>
          </a:p>
          <a:p xmlns:a="http://schemas.openxmlformats.org/drawingml/2006/main">
            <a:r>
              <a:t>- data/decisions/travel-metrics.json</a:t>
            </a:r>
          </a:p>
          <a:p xmlns:a="http://schemas.openxmlformats.org/drawingml/2006/main">
            <a:r>
              <a:t>- app/comparison/adapters.py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shared workspace. Conditions and selected sources sit on the left. The comparison stays in the middle. Ask AI stays beside it in the desktop app. We keep the calculated result separate from AI suggestions.</a:t>
            </a:r>
          </a:p>
          <a:p xmlns:a="http://schemas.openxmlformats.org/drawingml/2006/main">
            <a:r>
              <a:t/>
            </a:r>
          </a:p>
          <a:p xmlns:a="http://schemas.openxmlformats.org/drawingml/2006/main">
            <a:r>
              <a:t>Repository evidence:</a:t>
            </a:r>
          </a:p>
          <a:p xmlns:a="http://schemas.openxmlformats.org/drawingml/2006/main">
            <a:r>
              <a:t>- web/index.html</a:t>
            </a:r>
          </a:p>
          <a:p xmlns:a="http://schemas.openxmlformats.org/drawingml/2006/main">
            <a:r>
              <a:t>- web/decision-app.mjs</a:t>
            </a:r>
          </a:p>
          <a:p xmlns:a="http://schemas.openxmlformats.org/drawingml/2006/main">
            <a:r>
              <a:t>- web/desktop-ai.mjs</a:t>
            </a:r>
          </a:p>
          <a:p xmlns:a="http://schemas.openxmlformats.org/drawingml/2006/main">
            <a:r>
              <a:t>- docs/AI_OPTIONS.md</a:t>
            </a:r>
          </a:p>
          <a:p xmlns:a="http://schemas.openxmlformats.org/drawingml/2006/main">
            <a:r>
              <a:t>- docs/presentation/assets/pitch-comparison.png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Maya's budget is twenty-five pounds and her time limit is three hours. Train and coach fit. Flight and taxi cost too much. Cycling takes too long. We then score the feasible choices using Maya's priorities. No API key is needed.</a:t>
            </a:r>
          </a:p>
          <a:p xmlns:a="http://schemas.openxmlformats.org/drawingml/2006/main">
            <a:r>
              <a:t/>
            </a:r>
          </a:p>
          <a:p xmlns:a="http://schemas.openxmlformats.org/drawingml/2006/main">
            <a:r>
              <a:t>Repository evidence:</a:t>
            </a:r>
          </a:p>
          <a:p xmlns:a="http://schemas.openxmlformats.org/drawingml/2006/main">
            <a:r>
              <a:t>- data/decisions/travel-options.json</a:t>
            </a:r>
          </a:p>
          <a:p xmlns:a="http://schemas.openxmlformats.org/drawingml/2006/main">
            <a:r>
              <a:t>- data/decisions/travel-metrics.json</a:t>
            </a:r>
          </a:p>
          <a:p xmlns:a="http://schemas.openxmlformats.org/drawingml/2006/main">
            <a:r>
              <a:t>- app/comparison/engine.py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 can import notes or a text PDF and select the evidence. Then ask a question or request new options. Each supported result has source quotations you can open. We check the quote against the selected passage. This does not prove every AI claim is true.</a:t>
            </a:r>
          </a:p>
          <a:p xmlns:a="http://schemas.openxmlformats.org/drawingml/2006/main">
            <a:r>
              <a:t/>
            </a:r>
          </a:p>
          <a:p xmlns:a="http://schemas.openxmlformats.org/drawingml/2006/main">
            <a:r>
              <a:t>Repository evidence:</a:t>
            </a:r>
          </a:p>
          <a:p xmlns:a="http://schemas.openxmlformats.org/drawingml/2006/main">
            <a:r>
              <a:t>- docs/AI_EXTENSION.md</a:t>
            </a:r>
          </a:p>
          <a:p xmlns:a="http://schemas.openxmlformats.org/drawingml/2006/main">
            <a:r>
              <a:t>- docs/AI_OPTIONS.md</a:t>
            </a:r>
          </a:p>
          <a:p xmlns:a="http://schemas.openxmlformats.org/drawingml/2006/main">
            <a:r>
              <a:t>- tests/desktop/options-ui.cjs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Browser and desktop use the same interface files. Desktop calls our local Python API. Browser uses matching JavaScript rules. AI names the selected provider. Keys are encrypted on this device, with an explicit delete control. Comparisons still work if AI fails. Theo handles the backend. Wahab handles the frontend and desktop interface.</a:t>
            </a:r>
          </a:p>
          <a:p xmlns:a="http://schemas.openxmlformats.org/drawingml/2006/main">
            <a:r>
              <a:t/>
            </a:r>
          </a:p>
          <a:p xmlns:a="http://schemas.openxmlformats.org/drawingml/2006/main">
            <a:r>
              <a:t>Repository evidence:</a:t>
            </a:r>
          </a:p>
          <a:p xmlns:a="http://schemas.openxmlformats.org/drawingml/2006/main">
            <a:r>
              <a:t>- docs/ARCHITECTURE.md</a:t>
            </a:r>
          </a:p>
          <a:p xmlns:a="http://schemas.openxmlformats.org/drawingml/2006/main">
            <a:r>
              <a:t>- docs/BROWSER.md</a:t>
            </a:r>
          </a:p>
          <a:p xmlns:a="http://schemas.openxmlformats.org/drawingml/2006/main">
            <a:r>
              <a:t>- web/platform.mjs</a:t>
            </a:r>
          </a:p>
          <a:p xmlns:a="http://schemas.openxmlformats.org/drawingml/2006/main">
            <a:r>
              <a:t>- docs/AI_PROVIDERS.md</a:t>
            </a:r>
          </a:p>
          <a:p xmlns:a="http://schemas.openxmlformats.org/drawingml/2006/main">
            <a:r>
              <a:t>- Team 39 role and encrypted-key storage confirmation, 2026-10-18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Maya can see the trade-off. The train is faster and has lower simulated emissions. The coach is cheaper. Her limits make both feasible, and her priorities decide the ranking. The same core also supports other scenarios and custom criteria. Next, we want verified live data adapters and user testing. Thank you.</a:t>
            </a:r>
          </a:p>
          <a:p xmlns:a="http://schemas.openxmlformats.org/drawingml/2006/main">
            <a:r>
              <a:t/>
            </a:r>
          </a:p>
          <a:p xmlns:a="http://schemas.openxmlformats.org/drawingml/2006/main">
            <a:r>
              <a:t>Repository evidence:</a:t>
            </a:r>
          </a:p>
          <a:p xmlns:a="http://schemas.openxmlformats.org/drawingml/2006/main">
            <a:r>
              <a:t>- docs/GENERAL_DECISIONS.md</a:t>
            </a:r>
          </a:p>
          <a:p xmlns:a="http://schemas.openxmlformats.org/drawingml/2006/main">
            <a:r>
              <a:t>- docs/AI_OPTIONS.md</a:t>
            </a:r>
          </a:p>
          <a:p xmlns:a="http://schemas.openxmlformats.org/drawingml/2006/main">
            <a:r>
              <a:t>- docs/REQUIREMENTS.md</a:t>
            </a:r>
          </a:p>
          <a:p xmlns:a="http://schemas.openxmlformats.org/drawingml/2006/main">
            <a:r>
              <a:t>- data/decisions/travel-metrics.json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layers are experience, pure decision logic and data integration. OpenAPI documents request and response models. Tests cover boundaries, ranking, both sources and failures. Hard limits come first. We normalize feasible options and apply weights. Unknown required data excludes a choice. AI proposals do not silently change measurements or scores.</a:t>
            </a:r>
          </a:p>
          <a:p xmlns:a="http://schemas.openxmlformats.org/drawingml/2006/main">
            <a:r>
              <a:t/>
            </a:r>
          </a:p>
          <a:p xmlns:a="http://schemas.openxmlformats.org/drawingml/2006/main">
            <a:r>
              <a:t>Repository evidence:</a:t>
            </a:r>
          </a:p>
          <a:p xmlns:a="http://schemas.openxmlformats.org/drawingml/2006/main">
            <a:r>
              <a:t>- app/comparison/engine.py</a:t>
            </a:r>
          </a:p>
          <a:p xmlns:a="http://schemas.openxmlformats.org/drawingml/2006/main">
            <a:r>
              <a:t>- docs/GENERAL_DECISIONS.md</a:t>
            </a:r>
          </a:p>
          <a:p xmlns:a="http://schemas.openxmlformats.org/drawingml/2006/main">
            <a:r>
              <a:t>- docs/AI_OPTIONS.md</a:t>
            </a:r>
          </a:p>
          <a:p xmlns:a="http://schemas.openxmlformats.org/drawingml/2006/main">
            <a:r>
              <a:t>- docs/openapi.json</a:t>
            </a:r>
          </a:p>
          <a:p xmlns:a="http://schemas.openxmlformats.org/drawingml/2006/main">
            <a:r>
              <a:t>-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short answers for questions. Our numbers are fictional. AI discusses evidence and proposes choices, while the calculation stays deterministic. Only explicit questions, selected snippets and requested context go to the selected provider. Codex was our development tool. The team reviewed code. The coordinator verified two real DeepSeek API requests: a cited answer and two cited options. That does not verify live desktop use or real-world data.</a:t>
            </a:r>
          </a:p>
          <a:p xmlns:a="http://schemas.openxmlformats.org/drawingml/2006/main">
            <a:r>
              <a:t/>
            </a:r>
          </a:p>
          <a:p xmlns:a="http://schemas.openxmlformats.org/drawingml/2006/main">
            <a:r>
              <a:t>Repository evidence:</a:t>
            </a:r>
          </a:p>
          <a:p xmlns:a="http://schemas.openxmlformats.org/drawingml/2006/main">
            <a:r>
              <a:t>- AGENTS.md</a:t>
            </a:r>
          </a:p>
          <a:p xmlns:a="http://schemas.openxmlformats.org/drawingml/2006/main">
            <a:r>
              <a:t>- docs/AI_EXTENSION.md</a:t>
            </a:r>
          </a:p>
          <a:p xmlns:a="http://schemas.openxmlformats.org/drawingml/2006/main">
            <a:r>
              <a:t>- docs/AI_OPTIONS.md</a:t>
            </a:r>
          </a:p>
          <a:p xmlns:a="http://schemas.openxmlformats.org/drawingml/2006/main">
            <a:r>
              <a:t>- docs/AI_USAGE.md</a:t>
            </a:r>
          </a:p>
          <a:p xmlns:a="http://schemas.openxmlformats.org/drawingml/2006/main">
            <a:r>
              <a:t>- Team 39 role/tool/review confirmation and live DeepSeek verification report, 2026-10-18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75f9c56ee244d3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942ad90bc7946e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16e46bf28864ad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3bb1e284b93448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a20824d33a8484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176f24be0da490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2478801-1CD9-4AEF-A777-557DBAC75E7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724597A-25E8-4F39-8577-5B8FFC04D30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DF0C7DB-C7E2-4B20-B1CC-6660C46367F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94623D-999A-42CE-A865-7CA807EF5F9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DEA98D3-E7E6-4F5F-882A-3CABDD1EF22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E376C94-A918-46B7-BA3E-B2FD6CE0989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0F81E25-C480-48AE-99E2-D47F95A942F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FE7E78B-7637-4A1C-A068-AC782290C7F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CB992BE-2BA9-43E3-8AEB-76E1B3E4357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FFEEF62-FBDF-4D33-9C46-E03801ADD84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5a15b0d0624cbd" /><Relationship Type="http://schemas.openxmlformats.org/officeDocument/2006/relationships/slideLayout" Target="/ppt/slideLayouts/slideLayout1.xml" Id="Rf90a932735a3474f" /><Relationship Type="http://schemas.openxmlformats.org/officeDocument/2006/relationships/slideLayout" Target="/ppt/slideLayouts/slideLayout2.xml" Id="R5a28683c0116436d" /><Relationship Type="http://schemas.openxmlformats.org/officeDocument/2006/relationships/slideLayout" Target="/ppt/slideLayouts/slideLayout3.xml" Id="R3c70a07a58544b5b" /><Relationship Type="http://schemas.openxmlformats.org/officeDocument/2006/relationships/slideLayout" Target="/ppt/slideLayouts/slideLayout4.xml" Id="R2ccac9e873e340d1" /><Relationship Type="http://schemas.openxmlformats.org/officeDocument/2006/relationships/slideLayout" Target="/ppt/slideLayouts/slideLayout5.xml" Id="R4aa765e89f4c41c6" /><Relationship Type="http://schemas.openxmlformats.org/officeDocument/2006/relationships/slideLayout" Target="/ppt/slideLayouts/slideLayout6.xml" Id="Rdc34c8a9453744f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90a932735a3474f"/>
    <p:sldLayoutId xmlns:r="http://schemas.openxmlformats.org/officeDocument/2006/relationships" id="2147483650" r:id="R5a28683c0116436d"/>
    <p:sldLayoutId xmlns:r="http://schemas.openxmlformats.org/officeDocument/2006/relationships" id="2147483651" r:id="R3c70a07a58544b5b"/>
    <p:sldLayoutId xmlns:r="http://schemas.openxmlformats.org/officeDocument/2006/relationships" id="2147483652" r:id="R2ccac9e873e340d1"/>
    <p:sldLayoutId xmlns:r="http://schemas.openxmlformats.org/officeDocument/2006/relationships" id="2147483653" r:id="R4aa765e89f4c41c6"/>
    <p:sldLayoutId xmlns:r="http://schemas.openxmlformats.org/officeDocument/2006/relationships" id="2147483654" r:id="Rdc34c8a9453744f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f6e2235295d4416" /><Relationship Type="http://schemas.openxmlformats.org/officeDocument/2006/relationships/image" Target="/ppt/media/image.png" Id="Ra87ad6c9a3224beb" /><Relationship Type="http://schemas.openxmlformats.org/officeDocument/2006/relationships/image" Target="/ppt/media/image.svg" Id="Re2e4d391aeaa4dde" /><Relationship Type="http://schemas.openxmlformats.org/officeDocument/2006/relationships/notesSlide" Target="/ppt/notesSlides/notesSlide1.xml" Id="R9e9a375ea08b404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93b05145d704244" /><Relationship Type="http://schemas.openxmlformats.org/officeDocument/2006/relationships/notesSlide" Target="/ppt/notesSlides/notesSlide2.xml" Id="R84cc9435b7ac4ff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1188f275fd4443a" /><Relationship Type="http://schemas.openxmlformats.org/officeDocument/2006/relationships/image" Target="/ppt/media/image2.png" Id="R20fee1dd14c64067" /><Relationship Type="http://schemas.openxmlformats.org/officeDocument/2006/relationships/notesSlide" Target="/ppt/notesSlides/notesSlide3.xml" Id="R53098663be01420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ea19f61dbb0467a" /><Relationship Type="http://schemas.openxmlformats.org/officeDocument/2006/relationships/notesSlide" Target="/ppt/notesSlides/notesSlide4.xml" Id="Rf8478c19fadf4f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5f6dbcb45f24cac" /><Relationship Type="http://schemas.openxmlformats.org/officeDocument/2006/relationships/notesSlide" Target="/ppt/notesSlides/notesSlide5.xml" Id="Rf9aff969e75e449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5df050904934113" /><Relationship Type="http://schemas.openxmlformats.org/officeDocument/2006/relationships/notesSlide" Target="/ppt/notesSlides/notesSlide6.xml" Id="Rddf97340510a48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fb5d1b0239940f4" /><Relationship Type="http://schemas.openxmlformats.org/officeDocument/2006/relationships/notesSlide" Target="/ppt/notesSlides/notesSlide7.xml" Id="R0888a4006a4b4e8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ed098e3474b4546" /><Relationship Type="http://schemas.openxmlformats.org/officeDocument/2006/relationships/notesSlide" Target="/ppt/notesSlides/notesSlide8.xml" Id="R3ff9612c61ce43f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91135f0398d43e2" /><Relationship Type="http://schemas.openxmlformats.org/officeDocument/2006/relationships/notesSlide" Target="/ppt/notesSlides/notesSlide9.xml" Id="R126bea55ca904257" /></Relationships>
</file>

<file path=ppt/slides/slide1.xml><?xml version="1.0" encoding="utf-8"?>
<p:sld xmlns:p="http://schemas.openxmlformats.org/presentationml/2006/main">
  <p:cSld>
    <p:bg>
      <p:bgPr>
        <a:solidFill xmlns:a="http://schemas.openxmlformats.org/drawingml/2006/main">
          <a:srgbClr val="24203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3EA7EBC-A515-40B1-9D1D-CBEA4DF184AE}"/>
              </a:ext>
            </a:extLst>
          </p:cNvPr>
          <p:cNvSpPr>
            <a:spLocks xmlns:a="http://schemas.openxmlformats.org/drawingml/2006/main" noGrp="1"/>
          </p:cNvSpPr>
          <p:nvPr/>
        </p:nvSpPr>
        <p:spPr>
          <a:xfrm xmlns:a="http://schemas.openxmlformats.org/drawingml/2006/main">
            <a:off x="762000" y="1504950"/>
            <a:ext cx="6953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400" b="1">
                <a:solidFill>
                  <a:srgbClr val="FFFFFF"/>
                </a:solidFill>
                <a:latin typeface="Arial"/>
                <a:ea typeface="Arial"/>
                <a:cs typeface="Arial"/>
              </a:defRPr>
            </a:defPPr>
            <a:lvl1pPr>
              <a:defRPr sz="8400" b="1">
                <a:solidFill>
                  <a:srgbClr val="FFFFFF"/>
                </a:solidFill>
                <a:latin typeface="Arial"/>
                <a:ea typeface="Arial"/>
                <a:cs typeface="Arial"/>
              </a:defRPr>
            </a:lvl1pPr>
            <a:lvl2pPr>
              <a:defRPr sz="8400" b="1">
                <a:solidFill>
                  <a:srgbClr val="FFFFFF"/>
                </a:solidFill>
                <a:latin typeface="Arial"/>
                <a:ea typeface="Arial"/>
                <a:cs typeface="Arial"/>
              </a:defRPr>
            </a:lvl2pPr>
            <a:lvl3pPr>
              <a:defRPr sz="8400" b="1">
                <a:solidFill>
                  <a:srgbClr val="FFFFFF"/>
                </a:solidFill>
                <a:latin typeface="Arial"/>
                <a:ea typeface="Arial"/>
                <a:cs typeface="Arial"/>
              </a:defRPr>
            </a:lvl3pPr>
            <a:lvl4pPr>
              <a:defRPr sz="8400" b="1">
                <a:solidFill>
                  <a:srgbClr val="FFFFFF"/>
                </a:solidFill>
                <a:latin typeface="Arial"/>
                <a:ea typeface="Arial"/>
                <a:cs typeface="Arial"/>
              </a:defRPr>
            </a:lvl4pPr>
            <a:lvl5pPr>
              <a:defRPr sz="8400" b="1">
                <a:solidFill>
                  <a:srgbClr val="FFFFFF"/>
                </a:solidFill>
                <a:latin typeface="Arial"/>
                <a:ea typeface="Arial"/>
                <a:cs typeface="Arial"/>
              </a:defRPr>
            </a:lvl5pPr>
            <a:lvl6pPr>
              <a:defRPr sz="8400" b="1">
                <a:solidFill>
                  <a:srgbClr val="FFFFFF"/>
                </a:solidFill>
                <a:latin typeface="Arial"/>
                <a:ea typeface="Arial"/>
                <a:cs typeface="Arial"/>
              </a:defRPr>
            </a:lvl6pPr>
            <a:lvl7pPr>
              <a:defRPr sz="8400" b="1">
                <a:solidFill>
                  <a:srgbClr val="FFFFFF"/>
                </a:solidFill>
                <a:latin typeface="Arial"/>
                <a:ea typeface="Arial"/>
                <a:cs typeface="Arial"/>
              </a:defRPr>
            </a:lvl7pPr>
            <a:lvl8pPr>
              <a:defRPr sz="8400" b="1">
                <a:solidFill>
                  <a:srgbClr val="FFFFFF"/>
                </a:solidFill>
                <a:latin typeface="Arial"/>
                <a:ea typeface="Arial"/>
                <a:cs typeface="Arial"/>
              </a:defRPr>
            </a:lvl8pPr>
            <a:lvl9pPr>
              <a:defRPr sz="8400" b="1">
                <a:solidFill>
                  <a:srgbClr val="FFFFFF"/>
                </a:solidFill>
                <a:latin typeface="Arial"/>
                <a:ea typeface="Arial"/>
                <a:cs typeface="Arial"/>
              </a:defRPr>
            </a:lvl9pPr>
          </a:lstStyle>
          <a:p xmlns:a="http://schemas.openxmlformats.org/drawingml/2006/main">
            <a:pPr>
              <a:defRPr sz="8400" b="1">
                <a:solidFill>
                  <a:srgbClr val="FFFFFF"/>
                </a:solidFill>
                <a:latin typeface="Arial"/>
                <a:ea typeface="Arial"/>
                <a:cs typeface="Arial"/>
              </a:defRPr>
            </a:pPr>
            <a:r>
              <a:rPr sz="8400" b="1">
                <a:solidFill>
                  <a:srgbClr val="FFFFFF"/>
                </a:solidFill>
                <a:latin typeface="Arial"/>
                <a:ea typeface="Arial"/>
                <a:cs typeface="Arial"/>
              </a:rPr>
              <a:t>Jinni</a:t>
            </a:r>
          </a:p>
        </p:txBody>
      </p:sp>
      <p:sp>
        <p:nvSpPr>
          <p:cNvPr id="2" name="">
            <a:extLst xmlns:a="http://schemas.openxmlformats.org/drawingml/2006/main">
              <a:ext uri="{FF2B5EF4-FFF2-40B4-BE49-F238E27FC236}">
                <a16:creationId xmlns:a16="http://schemas.microsoft.com/office/drawing/2014/main" id="{F1B76648-154D-40A5-8721-5DD0FB949CD8}"/>
              </a:ext>
            </a:extLst>
          </p:cNvPr>
          <p:cNvSpPr>
            <a:spLocks xmlns:a="http://schemas.openxmlformats.org/drawingml/2006/main" noGrp="1"/>
          </p:cNvSpPr>
          <p:nvPr/>
        </p:nvSpPr>
        <p:spPr>
          <a:xfrm xmlns:a="http://schemas.openxmlformats.org/drawingml/2006/main">
            <a:off x="809625" y="3190875"/>
            <a:ext cx="690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0">
                <a:solidFill>
                  <a:srgbClr val="FFFFFF"/>
                </a:solidFill>
                <a:latin typeface="Arial"/>
                <a:ea typeface="Arial"/>
                <a:cs typeface="Arial"/>
              </a:defRPr>
            </a:defPPr>
            <a:lvl1pPr>
              <a:defRPr sz="2700" b="0">
                <a:solidFill>
                  <a:srgbClr val="FFFFFF"/>
                </a:solidFill>
                <a:latin typeface="Arial"/>
                <a:ea typeface="Arial"/>
                <a:cs typeface="Arial"/>
              </a:defRPr>
            </a:lvl1pPr>
            <a:lvl2pPr>
              <a:defRPr sz="2700" b="0">
                <a:solidFill>
                  <a:srgbClr val="FFFFFF"/>
                </a:solidFill>
                <a:latin typeface="Arial"/>
                <a:ea typeface="Arial"/>
                <a:cs typeface="Arial"/>
              </a:defRPr>
            </a:lvl2pPr>
            <a:lvl3pPr>
              <a:defRPr sz="2700" b="0">
                <a:solidFill>
                  <a:srgbClr val="FFFFFF"/>
                </a:solidFill>
                <a:latin typeface="Arial"/>
                <a:ea typeface="Arial"/>
                <a:cs typeface="Arial"/>
              </a:defRPr>
            </a:lvl3pPr>
            <a:lvl4pPr>
              <a:defRPr sz="2700" b="0">
                <a:solidFill>
                  <a:srgbClr val="FFFFFF"/>
                </a:solidFill>
                <a:latin typeface="Arial"/>
                <a:ea typeface="Arial"/>
                <a:cs typeface="Arial"/>
              </a:defRPr>
            </a:lvl4pPr>
            <a:lvl5pPr>
              <a:defRPr sz="2700" b="0">
                <a:solidFill>
                  <a:srgbClr val="FFFFFF"/>
                </a:solidFill>
                <a:latin typeface="Arial"/>
                <a:ea typeface="Arial"/>
                <a:cs typeface="Arial"/>
              </a:defRPr>
            </a:lvl5pPr>
            <a:lvl6pPr>
              <a:defRPr sz="2700" b="0">
                <a:solidFill>
                  <a:srgbClr val="FFFFFF"/>
                </a:solidFill>
                <a:latin typeface="Arial"/>
                <a:ea typeface="Arial"/>
                <a:cs typeface="Arial"/>
              </a:defRPr>
            </a:lvl6pPr>
            <a:lvl7pPr>
              <a:defRPr sz="2700" b="0">
                <a:solidFill>
                  <a:srgbClr val="FFFFFF"/>
                </a:solidFill>
                <a:latin typeface="Arial"/>
                <a:ea typeface="Arial"/>
                <a:cs typeface="Arial"/>
              </a:defRPr>
            </a:lvl7pPr>
            <a:lvl8pPr>
              <a:defRPr sz="2700" b="0">
                <a:solidFill>
                  <a:srgbClr val="FFFFFF"/>
                </a:solidFill>
                <a:latin typeface="Arial"/>
                <a:ea typeface="Arial"/>
                <a:cs typeface="Arial"/>
              </a:defRPr>
            </a:lvl8pPr>
            <a:lvl9pPr>
              <a:defRPr sz="2700" b="0">
                <a:solidFill>
                  <a:srgbClr val="FFFFFF"/>
                </a:solidFill>
                <a:latin typeface="Arial"/>
                <a:ea typeface="Arial"/>
                <a:cs typeface="Arial"/>
              </a:defRPr>
            </a:lvl9pPr>
          </a:lstStyle>
          <a:p xmlns:a="http://schemas.openxmlformats.org/drawingml/2006/main">
            <a:pPr>
              <a:defRPr sz="2700" b="0">
                <a:solidFill>
                  <a:srgbClr val="FFFFFF"/>
                </a:solidFill>
                <a:latin typeface="Arial"/>
                <a:ea typeface="Arial"/>
                <a:cs typeface="Arial"/>
              </a:defRPr>
            </a:pPr>
            <a:r>
              <a:rPr sz="2700" b="0">
                <a:solidFill>
                  <a:srgbClr val="FFFFFF"/>
                </a:solidFill>
                <a:latin typeface="Arial"/>
                <a:ea typeface="Arial"/>
                <a:cs typeface="Arial"/>
              </a:rPr>
              <a:t>Compare choices using separate sources</a:t>
            </a:r>
          </a:p>
          <a:p xmlns:a="http://schemas.openxmlformats.org/drawingml/2006/main">
            <a:pPr>
              <a:defRPr sz="2700" b="0">
                <a:solidFill>
                  <a:srgbClr val="FFFFFF"/>
                </a:solidFill>
                <a:latin typeface="Arial"/>
                <a:ea typeface="Arial"/>
                <a:cs typeface="Arial"/>
              </a:defRPr>
            </a:pPr>
            <a:r>
              <a:rPr sz="2700" b="0">
                <a:solidFill>
                  <a:srgbClr val="FFFFFF"/>
                </a:solidFill>
                <a:latin typeface="Arial"/>
                <a:ea typeface="Arial"/>
                <a:cs typeface="Arial"/>
              </a:rPr>
              <a:t>and your priorities</a:t>
            </a:r>
          </a:p>
        </p:txBody>
      </p:sp>
      <p:sp>
        <p:nvSpPr>
          <p:cNvPr id="3" name="">
            <a:extLst xmlns:a="http://schemas.openxmlformats.org/drawingml/2006/main">
              <a:ext uri="{FF2B5EF4-FFF2-40B4-BE49-F238E27FC236}">
                <a16:creationId xmlns:a16="http://schemas.microsoft.com/office/drawing/2014/main" id="{BE1283AE-9481-47AC-8FB0-B5ECCC1C7FAA}"/>
              </a:ext>
            </a:extLst>
          </p:cNvPr>
          <p:cNvSpPr>
            <a:spLocks xmlns:a="http://schemas.openxmlformats.org/drawingml/2006/main" noGrp="1"/>
          </p:cNvSpPr>
          <p:nvPr/>
        </p:nvSpPr>
        <p:spPr>
          <a:xfrm xmlns:a="http://schemas.openxmlformats.org/drawingml/2006/main">
            <a:off x="809625" y="5238750"/>
            <a:ext cx="685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9C779"/>
                </a:solidFill>
                <a:latin typeface="Arial"/>
                <a:ea typeface="Arial"/>
                <a:cs typeface="Arial"/>
              </a:defRPr>
            </a:defPPr>
            <a:lvl1pPr>
              <a:defRPr sz="1725" b="0">
                <a:solidFill>
                  <a:srgbClr val="E9C779"/>
                </a:solidFill>
                <a:latin typeface="Arial"/>
                <a:ea typeface="Arial"/>
                <a:cs typeface="Arial"/>
              </a:defRPr>
            </a:lvl1pPr>
            <a:lvl2pPr>
              <a:defRPr sz="1725" b="0">
                <a:solidFill>
                  <a:srgbClr val="E9C779"/>
                </a:solidFill>
                <a:latin typeface="Arial"/>
                <a:ea typeface="Arial"/>
                <a:cs typeface="Arial"/>
              </a:defRPr>
            </a:lvl2pPr>
            <a:lvl3pPr>
              <a:defRPr sz="1725" b="0">
                <a:solidFill>
                  <a:srgbClr val="E9C779"/>
                </a:solidFill>
                <a:latin typeface="Arial"/>
                <a:ea typeface="Arial"/>
                <a:cs typeface="Arial"/>
              </a:defRPr>
            </a:lvl3pPr>
            <a:lvl4pPr>
              <a:defRPr sz="1725" b="0">
                <a:solidFill>
                  <a:srgbClr val="E9C779"/>
                </a:solidFill>
                <a:latin typeface="Arial"/>
                <a:ea typeface="Arial"/>
                <a:cs typeface="Arial"/>
              </a:defRPr>
            </a:lvl4pPr>
            <a:lvl5pPr>
              <a:defRPr sz="1725" b="0">
                <a:solidFill>
                  <a:srgbClr val="E9C779"/>
                </a:solidFill>
                <a:latin typeface="Arial"/>
                <a:ea typeface="Arial"/>
                <a:cs typeface="Arial"/>
              </a:defRPr>
            </a:lvl5pPr>
            <a:lvl6pPr>
              <a:defRPr sz="1725" b="0">
                <a:solidFill>
                  <a:srgbClr val="E9C779"/>
                </a:solidFill>
                <a:latin typeface="Arial"/>
                <a:ea typeface="Arial"/>
                <a:cs typeface="Arial"/>
              </a:defRPr>
            </a:lvl6pPr>
            <a:lvl7pPr>
              <a:defRPr sz="1725" b="0">
                <a:solidFill>
                  <a:srgbClr val="E9C779"/>
                </a:solidFill>
                <a:latin typeface="Arial"/>
                <a:ea typeface="Arial"/>
                <a:cs typeface="Arial"/>
              </a:defRPr>
            </a:lvl7pPr>
            <a:lvl8pPr>
              <a:defRPr sz="1725" b="0">
                <a:solidFill>
                  <a:srgbClr val="E9C779"/>
                </a:solidFill>
                <a:latin typeface="Arial"/>
                <a:ea typeface="Arial"/>
                <a:cs typeface="Arial"/>
              </a:defRPr>
            </a:lvl8pPr>
            <a:lvl9pPr>
              <a:defRPr sz="1725" b="0">
                <a:solidFill>
                  <a:srgbClr val="E9C779"/>
                </a:solidFill>
                <a:latin typeface="Arial"/>
                <a:ea typeface="Arial"/>
                <a:cs typeface="Arial"/>
              </a:defRPr>
            </a:lvl9pPr>
          </a:lstStyle>
          <a:p xmlns:a="http://schemas.openxmlformats.org/drawingml/2006/main">
            <a:pPr>
              <a:defRPr sz="1725" b="0">
                <a:solidFill>
                  <a:srgbClr val="E9C779"/>
                </a:solidFill>
                <a:latin typeface="Arial"/>
                <a:ea typeface="Arial"/>
                <a:cs typeface="Arial"/>
              </a:defRPr>
            </a:pPr>
            <a:r>
              <a:rPr sz="1725" b="0">
                <a:solidFill>
                  <a:srgbClr val="E9C779"/>
                </a:solidFill>
                <a:latin typeface="Arial"/>
                <a:ea typeface="Arial"/>
                <a:cs typeface="Arial"/>
              </a:rPr>
              <a:t>Team 39: Theo and Wahab</a:t>
            </a:r>
          </a:p>
          <a:p xmlns:a="http://schemas.openxmlformats.org/drawingml/2006/main">
            <a:pPr>
              <a:defRPr sz="1725" b="0">
                <a:solidFill>
                  <a:srgbClr val="E9C779"/>
                </a:solidFill>
                <a:latin typeface="Arial"/>
                <a:ea typeface="Arial"/>
                <a:cs typeface="Arial"/>
              </a:defRPr>
            </a:pPr>
            <a:r>
              <a:rPr sz="1725" b="0">
                <a:solidFill>
                  <a:srgbClr val="E9C779"/>
                </a:solidFill>
                <a:latin typeface="Arial"/>
                <a:ea typeface="Arial"/>
                <a:cs typeface="Arial"/>
              </a:rPr>
              <a:t>Do You Have the GUTS? 2026</a:t>
            </a:r>
          </a:p>
          <a:p xmlns:a="http://schemas.openxmlformats.org/drawingml/2006/main">
            <a:pPr>
              <a:defRPr sz="1725" b="0">
                <a:solidFill>
                  <a:srgbClr val="E9C779"/>
                </a:solidFill>
                <a:latin typeface="Arial"/>
                <a:ea typeface="Arial"/>
                <a:cs typeface="Arial"/>
              </a:defRPr>
            </a:pPr>
            <a:r>
              <a:rPr sz="1725" b="0">
                <a:solidFill>
                  <a:srgbClr val="E9C779"/>
                </a:solidFill>
                <a:latin typeface="Arial"/>
                <a:ea typeface="Arial"/>
                <a:cs typeface="Arial"/>
              </a:rPr>
              <a:t>BlackRock challenge</a:t>
            </a:r>
          </a:p>
        </p:txBody>
      </p:sp>
      <p:pic>
        <p:nvPicPr>
          <p:cNvPr id="4" name="">
            <a:extLst xmlns:a="http://schemas.openxmlformats.org/drawingml/2006/main">
              <a:ext uri="{FF2B5EF4-FFF2-40B4-BE49-F238E27FC236}">
                <a16:creationId xmlns:a16="http://schemas.microsoft.com/office/drawing/2014/main" id="{040CCC88-FA61-4D17-99C7-46552C936388}"/>
              </a:ext>
            </a:extLst>
          </p:cNvPr>
          <p:cNvPicPr>
            <a:picLocks xmlns:a="http://schemas.openxmlformats.org/drawingml/2006/main" noChangeAspect="1"/>
          </p:cNvPicPr>
          <p:nvPr/>
        </p:nvPicPr>
        <p:blipFill>
          <a:blip xmlns:r="http://schemas.openxmlformats.org/officeDocument/2006/relationships" xmlns:a="http://schemas.openxmlformats.org/drawingml/2006/main" r:embed="Ra87ad6c9a3224beb">
            <a:extLst>
              <a:ext uri="{96DAC541-7B7A-43D3-8B79-37D633B846F1}">
                <asvg:svgBlip xmlns:asvg="http://schemas.microsoft.com/office/drawing/2016/SVG/main" r:embed="Re2e4d391aeaa4dde"/>
              </a:ext>
            </a:extLst>
          </a:blip>
          <a:stretch xmlns:a="http://schemas.openxmlformats.org/drawingml/2006/main"/>
        </p:blipFill>
        <p:spPr>
          <a:xfrm xmlns:a="http://schemas.openxmlformats.org/drawingml/2006/main">
            <a:off x="8429625" y="1952625"/>
            <a:ext cx="2333625" cy="2333625"/>
          </a:xfrm>
          <a:prstGeom xmlns:a="http://schemas.openxmlformats.org/drawingml/2006/main" prst="rect">
            <a:avLst/>
          </a:prstGeom>
        </p:spPr>
      </p:pic>
    </p:spTree>
    <p:extLst>
      <p:ext uri="{BB962C8B-B14F-4D97-AF65-F5344CB8AC3E}">
        <p14:creationId xmlns:p14="http://schemas.microsoft.com/office/powerpoint/2010/main" val="1701472648"/>
      </p:ext>
    </p:extLst>
  </p:cSld>
</p:sld>
</file>

<file path=ppt/slides/slide2.xml><?xml version="1.0" encoding="utf-8"?>
<p:sld xmlns:p="http://schemas.openxmlformats.org/presentationml/2006/main">
  <p:cSld>
    <p:bg>
      <p:bgPr>
        <a:solidFill xmlns:a="http://schemas.openxmlformats.org/drawingml/2006/main">
          <a:srgbClr val="F7F6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0B3F37E-1C06-460A-8B57-3464BA32BBD1}"/>
              </a:ext>
            </a:extLst>
          </p:cNvPr>
          <p:cNvSpPr>
            <a:spLocks xmlns:a="http://schemas.openxmlformats.org/drawingml/2006/main" noGrp="1"/>
          </p:cNvSpPr>
          <p:nvPr/>
        </p:nvSpPr>
        <p:spPr>
          <a:xfrm xmlns:a="http://schemas.openxmlformats.org/drawingml/2006/main">
            <a:off x="685800" y="514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42039"/>
                </a:solidFill>
                <a:latin typeface="Arial"/>
                <a:ea typeface="Arial"/>
                <a:cs typeface="Arial"/>
              </a:defRPr>
            </a:defPPr>
            <a:lvl1pPr>
              <a:defRPr sz="3450" b="1">
                <a:solidFill>
                  <a:srgbClr val="242039"/>
                </a:solidFill>
                <a:latin typeface="Arial"/>
                <a:ea typeface="Arial"/>
                <a:cs typeface="Arial"/>
              </a:defRPr>
            </a:lvl1pPr>
            <a:lvl2pPr>
              <a:defRPr sz="3450" b="1">
                <a:solidFill>
                  <a:srgbClr val="242039"/>
                </a:solidFill>
                <a:latin typeface="Arial"/>
                <a:ea typeface="Arial"/>
                <a:cs typeface="Arial"/>
              </a:defRPr>
            </a:lvl2pPr>
            <a:lvl3pPr>
              <a:defRPr sz="3450" b="1">
                <a:solidFill>
                  <a:srgbClr val="242039"/>
                </a:solidFill>
                <a:latin typeface="Arial"/>
                <a:ea typeface="Arial"/>
                <a:cs typeface="Arial"/>
              </a:defRPr>
            </a:lvl3pPr>
            <a:lvl4pPr>
              <a:defRPr sz="3450" b="1">
                <a:solidFill>
                  <a:srgbClr val="242039"/>
                </a:solidFill>
                <a:latin typeface="Arial"/>
                <a:ea typeface="Arial"/>
                <a:cs typeface="Arial"/>
              </a:defRPr>
            </a:lvl4pPr>
            <a:lvl5pPr>
              <a:defRPr sz="3450" b="1">
                <a:solidFill>
                  <a:srgbClr val="242039"/>
                </a:solidFill>
                <a:latin typeface="Arial"/>
                <a:ea typeface="Arial"/>
                <a:cs typeface="Arial"/>
              </a:defRPr>
            </a:lvl5pPr>
            <a:lvl6pPr>
              <a:defRPr sz="3450" b="1">
                <a:solidFill>
                  <a:srgbClr val="242039"/>
                </a:solidFill>
                <a:latin typeface="Arial"/>
                <a:ea typeface="Arial"/>
                <a:cs typeface="Arial"/>
              </a:defRPr>
            </a:lvl6pPr>
            <a:lvl7pPr>
              <a:defRPr sz="3450" b="1">
                <a:solidFill>
                  <a:srgbClr val="242039"/>
                </a:solidFill>
                <a:latin typeface="Arial"/>
                <a:ea typeface="Arial"/>
                <a:cs typeface="Arial"/>
              </a:defRPr>
            </a:lvl7pPr>
            <a:lvl8pPr>
              <a:defRPr sz="3450" b="1">
                <a:solidFill>
                  <a:srgbClr val="242039"/>
                </a:solidFill>
                <a:latin typeface="Arial"/>
                <a:ea typeface="Arial"/>
                <a:cs typeface="Arial"/>
              </a:defRPr>
            </a:lvl8pPr>
            <a:lvl9pPr>
              <a:defRPr sz="3450" b="1">
                <a:solidFill>
                  <a:srgbClr val="242039"/>
                </a:solidFill>
                <a:latin typeface="Arial"/>
                <a:ea typeface="Arial"/>
                <a:cs typeface="Arial"/>
              </a:defRPr>
            </a:lvl9pPr>
          </a:lstStyle>
          <a:p xmlns:a="http://schemas.openxmlformats.org/drawingml/2006/main">
            <a:pPr>
              <a:defRPr sz="3450" b="1">
                <a:solidFill>
                  <a:srgbClr val="242039"/>
                </a:solidFill>
                <a:latin typeface="Arial"/>
                <a:ea typeface="Arial"/>
                <a:cs typeface="Arial"/>
              </a:defRPr>
            </a:pPr>
            <a:r>
              <a:rPr sz="3450" b="1">
                <a:solidFill>
                  <a:srgbClr val="242039"/>
                </a:solidFill>
                <a:latin typeface="Arial"/>
                <a:ea typeface="Arial"/>
                <a:cs typeface="Arial"/>
              </a:rPr>
              <a:t>Maya's journey choice</a:t>
            </a:r>
          </a:p>
        </p:txBody>
      </p:sp>
      <p:sp>
        <p:nvSpPr>
          <p:cNvPr id="2" name="">
            <a:extLst xmlns:a="http://schemas.openxmlformats.org/drawingml/2006/main">
              <a:ext uri="{FF2B5EF4-FFF2-40B4-BE49-F238E27FC236}">
                <a16:creationId xmlns:a16="http://schemas.microsoft.com/office/drawing/2014/main" id="{60F29052-F87B-43D0-91D6-0212AA11C773}"/>
              </a:ext>
            </a:extLst>
          </p:cNvPr>
          <p:cNvSpPr>
            <a:spLocks xmlns:a="http://schemas.openxmlformats.org/drawingml/2006/main" noGrp="1"/>
          </p:cNvSpPr>
          <p:nvPr/>
        </p:nvSpPr>
        <p:spPr>
          <a:xfrm xmlns:a="http://schemas.openxmlformats.org/drawingml/2006/main">
            <a:off x="762000" y="15335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58458D"/>
                </a:solidFill>
                <a:latin typeface="Arial"/>
                <a:ea typeface="Arial"/>
                <a:cs typeface="Arial"/>
              </a:defRPr>
            </a:defPPr>
            <a:lvl1pPr>
              <a:defRPr sz="2700" b="1">
                <a:solidFill>
                  <a:srgbClr val="58458D"/>
                </a:solidFill>
                <a:latin typeface="Arial"/>
                <a:ea typeface="Arial"/>
                <a:cs typeface="Arial"/>
              </a:defRPr>
            </a:lvl1pPr>
            <a:lvl2pPr>
              <a:defRPr sz="2700" b="1">
                <a:solidFill>
                  <a:srgbClr val="58458D"/>
                </a:solidFill>
                <a:latin typeface="Arial"/>
                <a:ea typeface="Arial"/>
                <a:cs typeface="Arial"/>
              </a:defRPr>
            </a:lvl2pPr>
            <a:lvl3pPr>
              <a:defRPr sz="2700" b="1">
                <a:solidFill>
                  <a:srgbClr val="58458D"/>
                </a:solidFill>
                <a:latin typeface="Arial"/>
                <a:ea typeface="Arial"/>
                <a:cs typeface="Arial"/>
              </a:defRPr>
            </a:lvl3pPr>
            <a:lvl4pPr>
              <a:defRPr sz="2700" b="1">
                <a:solidFill>
                  <a:srgbClr val="58458D"/>
                </a:solidFill>
                <a:latin typeface="Arial"/>
                <a:ea typeface="Arial"/>
                <a:cs typeface="Arial"/>
              </a:defRPr>
            </a:lvl4pPr>
            <a:lvl5pPr>
              <a:defRPr sz="2700" b="1">
                <a:solidFill>
                  <a:srgbClr val="58458D"/>
                </a:solidFill>
                <a:latin typeface="Arial"/>
                <a:ea typeface="Arial"/>
                <a:cs typeface="Arial"/>
              </a:defRPr>
            </a:lvl5pPr>
            <a:lvl6pPr>
              <a:defRPr sz="2700" b="1">
                <a:solidFill>
                  <a:srgbClr val="58458D"/>
                </a:solidFill>
                <a:latin typeface="Arial"/>
                <a:ea typeface="Arial"/>
                <a:cs typeface="Arial"/>
              </a:defRPr>
            </a:lvl6pPr>
            <a:lvl7pPr>
              <a:defRPr sz="2700" b="1">
                <a:solidFill>
                  <a:srgbClr val="58458D"/>
                </a:solidFill>
                <a:latin typeface="Arial"/>
                <a:ea typeface="Arial"/>
                <a:cs typeface="Arial"/>
              </a:defRPr>
            </a:lvl7pPr>
            <a:lvl8pPr>
              <a:defRPr sz="2700" b="1">
                <a:solidFill>
                  <a:srgbClr val="58458D"/>
                </a:solidFill>
                <a:latin typeface="Arial"/>
                <a:ea typeface="Arial"/>
                <a:cs typeface="Arial"/>
              </a:defRPr>
            </a:lvl8pPr>
            <a:lvl9pPr>
              <a:defRPr sz="2700" b="1">
                <a:solidFill>
                  <a:srgbClr val="58458D"/>
                </a:solidFill>
                <a:latin typeface="Arial"/>
                <a:ea typeface="Arial"/>
                <a:cs typeface="Arial"/>
              </a:defRPr>
            </a:lvl9pPr>
          </a:lstStyle>
          <a:p xmlns:a="http://schemas.openxmlformats.org/drawingml/2006/main">
            <a:pPr>
              <a:defRPr sz="2700" b="1">
                <a:solidFill>
                  <a:srgbClr val="58458D"/>
                </a:solidFill>
                <a:latin typeface="Arial"/>
                <a:ea typeface="Arial"/>
                <a:cs typeface="Arial"/>
              </a:defRPr>
            </a:pPr>
            <a:r>
              <a:rPr sz="2700" b="1">
                <a:solidFill>
                  <a:srgbClr val="58458D"/>
                </a:solidFill>
                <a:latin typeface="Arial"/>
                <a:ea typeface="Arial"/>
                <a:cs typeface="Arial"/>
              </a:rPr>
              <a:t>One journey within £25 and three hours</a:t>
            </a:r>
          </a:p>
        </p:txBody>
      </p:sp>
      <p:graphicFrame>
        <p:nvGraphicFramePr>
          <p:cNvPr id="3" name="">
            <a:extLst xmlns:a="http://schemas.openxmlformats.org/drawingml/2006/main">
              <a:ext uri="{FF2B5EF4-FFF2-40B4-BE49-F238E27FC236}">
                <a16:creationId xmlns:a16="http://schemas.microsoft.com/office/drawing/2014/main" id="{084AE08D-40E9-4CAF-8723-5A86DCA2E5D5}"/>
              </a:ext>
            </a:extLst>
          </p:cNvPr>
          <p:cNvGraphicFramePr/>
          <p:nvPr/>
        </p:nvGraphicFramePr>
        <p:xfrm>
          <a:off xmlns:a="http://schemas.openxmlformats.org/drawingml/2006/main" x="762000" y="2466975"/>
          <a:ext xmlns:a="http://schemas.openxmlformats.org/drawingml/2006/main" cx="10668000" cy="2524125"/>
        </p:xfrm>
        <a:graphic xmlns:a="http://schemas.openxmlformats.org/drawingml/2006/main">
          <a:graphicData uri="http://schemas.openxmlformats.org/drawingml/2006/table">
            <a:tbl>
              <a:tblPr/>
              <a:tblGrid>
                <a:gridCol w="2952750"/>
                <a:gridCol w="7715250"/>
              </a:tblGrid>
              <a:tr h="631031">
                <a:tc>
                  <a:txBody>
                    <a:bodyPr lIns="133350" tIns="133350" rIns="133350" bIns="133350"/>
                    <a:lstStyle/>
                    <a:p>
                      <a:r>
                        <a:rPr sz="1950" b="1">
                          <a:solidFill>
                            <a:srgbClr val="FFFFFF"/>
                          </a:solidFill>
                          <a:latin typeface="Arial"/>
                          <a:ea typeface="Arial"/>
                          <a:cs typeface="Arial"/>
                        </a:rPr>
                        <a:t>Input</a:t>
                      </a:r>
                    </a:p>
                  </a:txBody>
                  <a:tcPr marL="91440" marR="91440" marT="45720" marB="45720" anchor="ctr">
                    <a:lnL w="6668">
                      <a:solidFill>
                        <a:srgbClr val="D8D2E5"/>
                      </a:solidFill>
                      <a:prstDash val="solid"/>
                    </a:lnL>
                    <a:lnR w="6668">
                      <a:solidFill>
                        <a:srgbClr val="D8D2E5"/>
                      </a:solidFill>
                      <a:prstDash val="solid"/>
                    </a:lnR>
                    <a:lnT w="6668">
                      <a:solidFill>
                        <a:srgbClr val="D8D2E5"/>
                      </a:solidFill>
                      <a:prstDash val="solid"/>
                    </a:lnT>
                    <a:lnB w="6668">
                      <a:solidFill>
                        <a:srgbClr val="D8D2E5"/>
                      </a:solidFill>
                      <a:prstDash val="solid"/>
                    </a:lnB>
                    <a:solidFill>
                      <a:srgbClr val="58458D"/>
                    </a:solidFill>
                  </a:tcPr>
                </a:tc>
                <a:tc>
                  <a:txBody>
                    <a:bodyPr lIns="133350" tIns="133350" rIns="133350" bIns="133350"/>
                    <a:lstStyle/>
                    <a:p>
                      <a:r>
                        <a:rPr sz="1950" b="1">
                          <a:solidFill>
                            <a:srgbClr val="FFFFFF"/>
                          </a:solidFill>
                          <a:latin typeface="Arial"/>
                          <a:ea typeface="Arial"/>
                          <a:cs typeface="Arial"/>
                        </a:rPr>
                        <a:t>What it contributes</a:t>
                      </a:r>
                    </a:p>
                  </a:txBody>
                  <a:tcPr marL="91440" marR="91440" marT="45720" marB="45720" anchor="ctr">
                    <a:lnR w="6668">
                      <a:solidFill>
                        <a:srgbClr val="D8D2E5"/>
                      </a:solidFill>
                      <a:prstDash val="solid"/>
                    </a:lnR>
                    <a:lnT w="6668">
                      <a:solidFill>
                        <a:srgbClr val="D8D2E5"/>
                      </a:solidFill>
                      <a:prstDash val="solid"/>
                    </a:lnT>
                    <a:lnB w="6668">
                      <a:solidFill>
                        <a:srgbClr val="D8D2E5"/>
                      </a:solidFill>
                      <a:prstDash val="solid"/>
                    </a:lnB>
                    <a:solidFill>
                      <a:srgbClr val="58458D"/>
                    </a:solidFill>
                  </a:tcPr>
                </a:tc>
              </a:tr>
              <a:tr h="631031">
                <a:tc>
                  <a:txBody>
                    <a:bodyPr lIns="133350" tIns="133350" rIns="133350" bIns="133350"/>
                    <a:lstStyle/>
                    <a:p>
                      <a:r>
                        <a:rPr sz="2025" b="0">
                          <a:solidFill>
                            <a:srgbClr val="242039"/>
                          </a:solidFill>
                          <a:latin typeface="Arial"/>
                          <a:ea typeface="Arial"/>
                          <a:cs typeface="Arial"/>
                        </a:rPr>
                        <a:t>Option catalog</a:t>
                      </a:r>
                    </a:p>
                  </a:txBody>
                  <a:tcPr marL="91440" marR="91440" marT="45720" marB="45720" anchor="ctr">
                    <a:lnL w="6668">
                      <a:solidFill>
                        <a:srgbClr val="D8D2E5"/>
                      </a:solidFill>
                      <a:prstDash val="solid"/>
                    </a:lnL>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2025" b="0">
                          <a:solidFill>
                            <a:srgbClr val="242039"/>
                          </a:solidFill>
                          <a:latin typeface="Arial"/>
                          <a:ea typeface="Arial"/>
                          <a:cs typeface="Arial"/>
                        </a:rPr>
                        <a:t>The choices and their identities</a:t>
                      </a:r>
                    </a:p>
                  </a:txBody>
                  <a:tcPr marL="91440" marR="91440" marT="45720" marB="45720" anchor="ctr">
                    <a:lnR w="6668">
                      <a:solidFill>
                        <a:srgbClr val="D8D2E5"/>
                      </a:solidFill>
                      <a:prstDash val="solid"/>
                    </a:lnR>
                    <a:lnB w="6668">
                      <a:solidFill>
                        <a:srgbClr val="D8D2E5"/>
                      </a:solidFill>
                      <a:prstDash val="solid"/>
                    </a:lnB>
                    <a:solidFill>
                      <a:srgbClr val="FFFFFF"/>
                    </a:solidFill>
                  </a:tcPr>
                </a:tc>
              </a:tr>
              <a:tr h="631031">
                <a:tc>
                  <a:txBody>
                    <a:bodyPr lIns="133350" tIns="133350" rIns="133350" bIns="133350"/>
                    <a:lstStyle/>
                    <a:p>
                      <a:r>
                        <a:rPr sz="2025" b="0">
                          <a:solidFill>
                            <a:srgbClr val="242039"/>
                          </a:solidFill>
                          <a:latin typeface="Arial"/>
                          <a:ea typeface="Arial"/>
                          <a:cs typeface="Arial"/>
                        </a:rPr>
                        <a:t>Measurement feed</a:t>
                      </a:r>
                    </a:p>
                  </a:txBody>
                  <a:tcPr marL="91440" marR="91440" marT="45720" marB="45720" anchor="ctr">
                    <a:lnL w="6668">
                      <a:solidFill>
                        <a:srgbClr val="D8D2E5"/>
                      </a:solidFill>
                      <a:prstDash val="solid"/>
                    </a:lnL>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2025" b="0">
                          <a:solidFill>
                            <a:srgbClr val="242039"/>
                          </a:solidFill>
                          <a:latin typeface="Arial"/>
                          <a:ea typeface="Arial"/>
                          <a:cs typeface="Arial"/>
                        </a:rPr>
                        <a:t>Cost, journey time and emissions</a:t>
                      </a:r>
                    </a:p>
                  </a:txBody>
                  <a:tcPr marL="91440" marR="91440" marT="45720" marB="45720" anchor="ctr">
                    <a:lnR w="6668">
                      <a:solidFill>
                        <a:srgbClr val="D8D2E5"/>
                      </a:solidFill>
                      <a:prstDash val="solid"/>
                    </a:lnR>
                    <a:lnB w="6668">
                      <a:solidFill>
                        <a:srgbClr val="D8D2E5"/>
                      </a:solidFill>
                      <a:prstDash val="solid"/>
                    </a:lnB>
                    <a:solidFill>
                      <a:srgbClr val="ECE7F8"/>
                    </a:solidFill>
                  </a:tcPr>
                </a:tc>
              </a:tr>
              <a:tr h="631031">
                <a:tc>
                  <a:txBody>
                    <a:bodyPr lIns="133350" tIns="133350" rIns="133350" bIns="133350"/>
                    <a:lstStyle/>
                    <a:p>
                      <a:r>
                        <a:rPr sz="2025" b="0">
                          <a:solidFill>
                            <a:srgbClr val="242039"/>
                          </a:solidFill>
                          <a:latin typeface="Arial"/>
                          <a:ea typeface="Arial"/>
                          <a:cs typeface="Arial"/>
                        </a:rPr>
                        <a:t>Your conditions</a:t>
                      </a:r>
                    </a:p>
                  </a:txBody>
                  <a:tcPr marL="91440" marR="91440" marT="45720" marB="45720" anchor="ctr">
                    <a:lnL w="6668">
                      <a:solidFill>
                        <a:srgbClr val="D8D2E5"/>
                      </a:solidFill>
                      <a:prstDash val="solid"/>
                    </a:lnL>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2025" b="0">
                          <a:solidFill>
                            <a:srgbClr val="242039"/>
                          </a:solidFill>
                          <a:latin typeface="Arial"/>
                          <a:ea typeface="Arial"/>
                          <a:cs typeface="Arial"/>
                        </a:rPr>
                        <a:t>Budget, hard limits and priorities</a:t>
                      </a:r>
                    </a:p>
                  </a:txBody>
                  <a:tcPr marL="91440" marR="91440" marT="45720" marB="45720" anchor="ctr">
                    <a:lnR w="6668">
                      <a:solidFill>
                        <a:srgbClr val="D8D2E5"/>
                      </a:solidFill>
                      <a:prstDash val="solid"/>
                    </a:lnR>
                    <a:lnB w="6668">
                      <a:solidFill>
                        <a:srgbClr val="D8D2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9600D3E-43DD-418E-88BC-50DBB2853EA7}"/>
              </a:ext>
            </a:extLst>
          </p:cNvPr>
          <p:cNvSpPr>
            <a:spLocks xmlns:a="http://schemas.openxmlformats.org/drawingml/2006/main" noGrp="1"/>
          </p:cNvSpPr>
          <p:nvPr/>
        </p:nvSpPr>
        <p:spPr>
          <a:xfrm xmlns:a="http://schemas.openxmlformats.org/drawingml/2006/main">
            <a:off x="762000" y="56007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42039"/>
                </a:solidFill>
                <a:latin typeface="Arial"/>
                <a:ea typeface="Arial"/>
                <a:cs typeface="Arial"/>
              </a:defRPr>
            </a:defPPr>
            <a:lvl1pPr>
              <a:defRPr sz="2400" b="1">
                <a:solidFill>
                  <a:srgbClr val="242039"/>
                </a:solidFill>
                <a:latin typeface="Arial"/>
                <a:ea typeface="Arial"/>
                <a:cs typeface="Arial"/>
              </a:defRPr>
            </a:lvl1pPr>
            <a:lvl2pPr>
              <a:defRPr sz="2400" b="1">
                <a:solidFill>
                  <a:srgbClr val="242039"/>
                </a:solidFill>
                <a:latin typeface="Arial"/>
                <a:ea typeface="Arial"/>
                <a:cs typeface="Arial"/>
              </a:defRPr>
            </a:lvl2pPr>
            <a:lvl3pPr>
              <a:defRPr sz="2400" b="1">
                <a:solidFill>
                  <a:srgbClr val="242039"/>
                </a:solidFill>
                <a:latin typeface="Arial"/>
                <a:ea typeface="Arial"/>
                <a:cs typeface="Arial"/>
              </a:defRPr>
            </a:lvl3pPr>
            <a:lvl4pPr>
              <a:defRPr sz="2400" b="1">
                <a:solidFill>
                  <a:srgbClr val="242039"/>
                </a:solidFill>
                <a:latin typeface="Arial"/>
                <a:ea typeface="Arial"/>
                <a:cs typeface="Arial"/>
              </a:defRPr>
            </a:lvl4pPr>
            <a:lvl5pPr>
              <a:defRPr sz="2400" b="1">
                <a:solidFill>
                  <a:srgbClr val="242039"/>
                </a:solidFill>
                <a:latin typeface="Arial"/>
                <a:ea typeface="Arial"/>
                <a:cs typeface="Arial"/>
              </a:defRPr>
            </a:lvl5pPr>
            <a:lvl6pPr>
              <a:defRPr sz="2400" b="1">
                <a:solidFill>
                  <a:srgbClr val="242039"/>
                </a:solidFill>
                <a:latin typeface="Arial"/>
                <a:ea typeface="Arial"/>
                <a:cs typeface="Arial"/>
              </a:defRPr>
            </a:lvl6pPr>
            <a:lvl7pPr>
              <a:defRPr sz="2400" b="1">
                <a:solidFill>
                  <a:srgbClr val="242039"/>
                </a:solidFill>
                <a:latin typeface="Arial"/>
                <a:ea typeface="Arial"/>
                <a:cs typeface="Arial"/>
              </a:defRPr>
            </a:lvl7pPr>
            <a:lvl8pPr>
              <a:defRPr sz="2400" b="1">
                <a:solidFill>
                  <a:srgbClr val="242039"/>
                </a:solidFill>
                <a:latin typeface="Arial"/>
                <a:ea typeface="Arial"/>
                <a:cs typeface="Arial"/>
              </a:defRPr>
            </a:lvl8pPr>
            <a:lvl9pPr>
              <a:defRPr sz="2400" b="1">
                <a:solidFill>
                  <a:srgbClr val="242039"/>
                </a:solidFill>
                <a:latin typeface="Arial"/>
                <a:ea typeface="Arial"/>
                <a:cs typeface="Arial"/>
              </a:defRPr>
            </a:lvl9pPr>
          </a:lstStyle>
          <a:p xmlns:a="http://schemas.openxmlformats.org/drawingml/2006/main">
            <a:pPr>
              <a:defRPr sz="2400" b="1">
                <a:solidFill>
                  <a:srgbClr val="242039"/>
                </a:solidFill>
                <a:latin typeface="Arial"/>
                <a:ea typeface="Arial"/>
                <a:cs typeface="Arial"/>
              </a:defRPr>
            </a:pPr>
            <a:r>
              <a:rPr sz="2400" b="1">
                <a:solidFill>
                  <a:srgbClr val="242039"/>
                </a:solidFill>
                <a:latin typeface="Arial"/>
                <a:ea typeface="Arial"/>
                <a:cs typeface="Arial"/>
              </a:rPr>
              <a:t>Jinni joins the sources and explains what fits</a:t>
            </a:r>
          </a:p>
        </p:txBody>
      </p:sp>
    </p:spTree>
    <p:extLst>
      <p:ext uri="{BB962C8B-B14F-4D97-AF65-F5344CB8AC3E}">
        <p14:creationId xmlns:p14="http://schemas.microsoft.com/office/powerpoint/2010/main" val="1743143060"/>
      </p:ext>
    </p:extLst>
  </p:cSld>
</p:sld>
</file>

<file path=ppt/slides/slide3.xml><?xml version="1.0" encoding="utf-8"?>
<p:sld xmlns:p="http://schemas.openxmlformats.org/presentationml/2006/main">
  <p:cSld>
    <p:bg>
      <p:bgPr>
        <a:solidFill xmlns:a="http://schemas.openxmlformats.org/drawingml/2006/main">
          <a:srgbClr val="F7F6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958777-CD28-40DA-963C-85E1C242A56E}"/>
              </a:ext>
            </a:extLst>
          </p:cNvPr>
          <p:cNvSpPr>
            <a:spLocks xmlns:a="http://schemas.openxmlformats.org/drawingml/2006/main" noGrp="1"/>
          </p:cNvSpPr>
          <p:nvPr/>
        </p:nvSpPr>
        <p:spPr>
          <a:xfrm xmlns:a="http://schemas.openxmlformats.org/drawingml/2006/main">
            <a:off x="685800" y="514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42039"/>
                </a:solidFill>
                <a:latin typeface="Arial"/>
                <a:ea typeface="Arial"/>
                <a:cs typeface="Arial"/>
              </a:defRPr>
            </a:defPPr>
            <a:lvl1pPr>
              <a:defRPr sz="3450" b="1">
                <a:solidFill>
                  <a:srgbClr val="242039"/>
                </a:solidFill>
                <a:latin typeface="Arial"/>
                <a:ea typeface="Arial"/>
                <a:cs typeface="Arial"/>
              </a:defRPr>
            </a:lvl1pPr>
            <a:lvl2pPr>
              <a:defRPr sz="3450" b="1">
                <a:solidFill>
                  <a:srgbClr val="242039"/>
                </a:solidFill>
                <a:latin typeface="Arial"/>
                <a:ea typeface="Arial"/>
                <a:cs typeface="Arial"/>
              </a:defRPr>
            </a:lvl2pPr>
            <a:lvl3pPr>
              <a:defRPr sz="3450" b="1">
                <a:solidFill>
                  <a:srgbClr val="242039"/>
                </a:solidFill>
                <a:latin typeface="Arial"/>
                <a:ea typeface="Arial"/>
                <a:cs typeface="Arial"/>
              </a:defRPr>
            </a:lvl3pPr>
            <a:lvl4pPr>
              <a:defRPr sz="3450" b="1">
                <a:solidFill>
                  <a:srgbClr val="242039"/>
                </a:solidFill>
                <a:latin typeface="Arial"/>
                <a:ea typeface="Arial"/>
                <a:cs typeface="Arial"/>
              </a:defRPr>
            </a:lvl4pPr>
            <a:lvl5pPr>
              <a:defRPr sz="3450" b="1">
                <a:solidFill>
                  <a:srgbClr val="242039"/>
                </a:solidFill>
                <a:latin typeface="Arial"/>
                <a:ea typeface="Arial"/>
                <a:cs typeface="Arial"/>
              </a:defRPr>
            </a:lvl5pPr>
            <a:lvl6pPr>
              <a:defRPr sz="3450" b="1">
                <a:solidFill>
                  <a:srgbClr val="242039"/>
                </a:solidFill>
                <a:latin typeface="Arial"/>
                <a:ea typeface="Arial"/>
                <a:cs typeface="Arial"/>
              </a:defRPr>
            </a:lvl6pPr>
            <a:lvl7pPr>
              <a:defRPr sz="3450" b="1">
                <a:solidFill>
                  <a:srgbClr val="242039"/>
                </a:solidFill>
                <a:latin typeface="Arial"/>
                <a:ea typeface="Arial"/>
                <a:cs typeface="Arial"/>
              </a:defRPr>
            </a:lvl7pPr>
            <a:lvl8pPr>
              <a:defRPr sz="3450" b="1">
                <a:solidFill>
                  <a:srgbClr val="242039"/>
                </a:solidFill>
                <a:latin typeface="Arial"/>
                <a:ea typeface="Arial"/>
                <a:cs typeface="Arial"/>
              </a:defRPr>
            </a:lvl8pPr>
            <a:lvl9pPr>
              <a:defRPr sz="3450" b="1">
                <a:solidFill>
                  <a:srgbClr val="242039"/>
                </a:solidFill>
                <a:latin typeface="Arial"/>
                <a:ea typeface="Arial"/>
                <a:cs typeface="Arial"/>
              </a:defRPr>
            </a:lvl9pPr>
          </a:lstStyle>
          <a:p xmlns:a="http://schemas.openxmlformats.org/drawingml/2006/main">
            <a:pPr>
              <a:defRPr sz="3450" b="1">
                <a:solidFill>
                  <a:srgbClr val="242039"/>
                </a:solidFill>
                <a:latin typeface="Arial"/>
                <a:ea typeface="Arial"/>
                <a:cs typeface="Arial"/>
              </a:defRPr>
            </a:pPr>
            <a:r>
              <a:rPr sz="3450" b="1">
                <a:solidFill>
                  <a:srgbClr val="242039"/>
                </a:solidFill>
                <a:latin typeface="Arial"/>
                <a:ea typeface="Arial"/>
                <a:cs typeface="Arial"/>
              </a:rPr>
              <a:t>A workspace for the whole decision</a:t>
            </a:r>
          </a:p>
        </p:txBody>
      </p:sp>
      <p:sp>
        <p:nvSpPr>
          <p:cNvPr id="2" name="">
            <a:extLst xmlns:a="http://schemas.openxmlformats.org/drawingml/2006/main">
              <a:ext uri="{FF2B5EF4-FFF2-40B4-BE49-F238E27FC236}">
                <a16:creationId xmlns:a16="http://schemas.microsoft.com/office/drawing/2014/main" id="{255CCEA8-18F1-4AE9-8B3B-D82C220B7AF5}"/>
              </a:ext>
            </a:extLst>
          </p:cNvPr>
          <p:cNvSpPr>
            <a:spLocks xmlns:a="http://schemas.openxmlformats.org/drawingml/2006/main" noGrp="1"/>
          </p:cNvSpPr>
          <p:nvPr/>
        </p:nvSpPr>
        <p:spPr>
          <a:xfrm xmlns:a="http://schemas.openxmlformats.org/drawingml/2006/main">
            <a:off x="685800" y="1762125"/>
            <a:ext cx="1952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58458D"/>
                </a:solidFill>
                <a:latin typeface="Arial"/>
                <a:ea typeface="Arial"/>
                <a:cs typeface="Arial"/>
              </a:defRPr>
            </a:defPPr>
            <a:lvl1pPr>
              <a:defRPr sz="2175" b="1">
                <a:solidFill>
                  <a:srgbClr val="58458D"/>
                </a:solidFill>
                <a:latin typeface="Arial"/>
                <a:ea typeface="Arial"/>
                <a:cs typeface="Arial"/>
              </a:defRPr>
            </a:lvl1pPr>
            <a:lvl2pPr>
              <a:defRPr sz="2175" b="1">
                <a:solidFill>
                  <a:srgbClr val="58458D"/>
                </a:solidFill>
                <a:latin typeface="Arial"/>
                <a:ea typeface="Arial"/>
                <a:cs typeface="Arial"/>
              </a:defRPr>
            </a:lvl2pPr>
            <a:lvl3pPr>
              <a:defRPr sz="2175" b="1">
                <a:solidFill>
                  <a:srgbClr val="58458D"/>
                </a:solidFill>
                <a:latin typeface="Arial"/>
                <a:ea typeface="Arial"/>
                <a:cs typeface="Arial"/>
              </a:defRPr>
            </a:lvl3pPr>
            <a:lvl4pPr>
              <a:defRPr sz="2175" b="1">
                <a:solidFill>
                  <a:srgbClr val="58458D"/>
                </a:solidFill>
                <a:latin typeface="Arial"/>
                <a:ea typeface="Arial"/>
                <a:cs typeface="Arial"/>
              </a:defRPr>
            </a:lvl4pPr>
            <a:lvl5pPr>
              <a:defRPr sz="2175" b="1">
                <a:solidFill>
                  <a:srgbClr val="58458D"/>
                </a:solidFill>
                <a:latin typeface="Arial"/>
                <a:ea typeface="Arial"/>
                <a:cs typeface="Arial"/>
              </a:defRPr>
            </a:lvl5pPr>
            <a:lvl6pPr>
              <a:defRPr sz="2175" b="1">
                <a:solidFill>
                  <a:srgbClr val="58458D"/>
                </a:solidFill>
                <a:latin typeface="Arial"/>
                <a:ea typeface="Arial"/>
                <a:cs typeface="Arial"/>
              </a:defRPr>
            </a:lvl6pPr>
            <a:lvl7pPr>
              <a:defRPr sz="2175" b="1">
                <a:solidFill>
                  <a:srgbClr val="58458D"/>
                </a:solidFill>
                <a:latin typeface="Arial"/>
                <a:ea typeface="Arial"/>
                <a:cs typeface="Arial"/>
              </a:defRPr>
            </a:lvl7pPr>
            <a:lvl8pPr>
              <a:defRPr sz="2175" b="1">
                <a:solidFill>
                  <a:srgbClr val="58458D"/>
                </a:solidFill>
                <a:latin typeface="Arial"/>
                <a:ea typeface="Arial"/>
                <a:cs typeface="Arial"/>
              </a:defRPr>
            </a:lvl8pPr>
            <a:lvl9pPr>
              <a:defRPr sz="2175" b="1">
                <a:solidFill>
                  <a:srgbClr val="58458D"/>
                </a:solidFill>
                <a:latin typeface="Arial"/>
                <a:ea typeface="Arial"/>
                <a:cs typeface="Arial"/>
              </a:defRPr>
            </a:lvl9pPr>
          </a:lstStyle>
          <a:p xmlns:a="http://schemas.openxmlformats.org/drawingml/2006/main">
            <a:pPr>
              <a:defRPr sz="2175" b="1">
                <a:solidFill>
                  <a:srgbClr val="58458D"/>
                </a:solidFill>
                <a:latin typeface="Arial"/>
                <a:ea typeface="Arial"/>
                <a:cs typeface="Arial"/>
              </a:defRPr>
            </a:pPr>
            <a:r>
              <a:rPr sz="2175" b="1">
                <a:solidFill>
                  <a:srgbClr val="58458D"/>
                </a:solidFill>
                <a:latin typeface="Arial"/>
                <a:ea typeface="Arial"/>
                <a:cs typeface="Arial"/>
              </a:rPr>
              <a:t>1</a:t>
            </a:r>
          </a:p>
          <a:p xmlns:a="http://schemas.openxmlformats.org/drawingml/2006/main">
            <a:pPr>
              <a:defRPr sz="2175" b="1">
                <a:solidFill>
                  <a:srgbClr val="58458D"/>
                </a:solidFill>
                <a:latin typeface="Arial"/>
                <a:ea typeface="Arial"/>
                <a:cs typeface="Arial"/>
              </a:defRPr>
            </a:pPr>
            <a:r>
              <a:rPr sz="2175" b="1">
                <a:solidFill>
                  <a:srgbClr val="58458D"/>
                </a:solidFill>
                <a:latin typeface="Arial"/>
                <a:ea typeface="Arial"/>
                <a:cs typeface="Arial"/>
              </a:rPr>
              <a:t>Set conditions</a:t>
            </a:r>
          </a:p>
        </p:txBody>
      </p:sp>
      <p:sp>
        <p:nvSpPr>
          <p:cNvPr id="3" name="">
            <a:extLst xmlns:a="http://schemas.openxmlformats.org/drawingml/2006/main">
              <a:ext uri="{FF2B5EF4-FFF2-40B4-BE49-F238E27FC236}">
                <a16:creationId xmlns:a16="http://schemas.microsoft.com/office/drawing/2014/main" id="{F85764B5-727C-4B18-963A-A08C6769EE36}"/>
              </a:ext>
            </a:extLst>
          </p:cNvPr>
          <p:cNvSpPr>
            <a:spLocks xmlns:a="http://schemas.openxmlformats.org/drawingml/2006/main" noGrp="1"/>
          </p:cNvSpPr>
          <p:nvPr/>
        </p:nvSpPr>
        <p:spPr>
          <a:xfrm xmlns:a="http://schemas.openxmlformats.org/drawingml/2006/main">
            <a:off x="685800" y="3286125"/>
            <a:ext cx="1952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58458D"/>
                </a:solidFill>
                <a:latin typeface="Arial"/>
                <a:ea typeface="Arial"/>
                <a:cs typeface="Arial"/>
              </a:defRPr>
            </a:defPPr>
            <a:lvl1pPr>
              <a:defRPr sz="2175" b="1">
                <a:solidFill>
                  <a:srgbClr val="58458D"/>
                </a:solidFill>
                <a:latin typeface="Arial"/>
                <a:ea typeface="Arial"/>
                <a:cs typeface="Arial"/>
              </a:defRPr>
            </a:lvl1pPr>
            <a:lvl2pPr>
              <a:defRPr sz="2175" b="1">
                <a:solidFill>
                  <a:srgbClr val="58458D"/>
                </a:solidFill>
                <a:latin typeface="Arial"/>
                <a:ea typeface="Arial"/>
                <a:cs typeface="Arial"/>
              </a:defRPr>
            </a:lvl2pPr>
            <a:lvl3pPr>
              <a:defRPr sz="2175" b="1">
                <a:solidFill>
                  <a:srgbClr val="58458D"/>
                </a:solidFill>
                <a:latin typeface="Arial"/>
                <a:ea typeface="Arial"/>
                <a:cs typeface="Arial"/>
              </a:defRPr>
            </a:lvl3pPr>
            <a:lvl4pPr>
              <a:defRPr sz="2175" b="1">
                <a:solidFill>
                  <a:srgbClr val="58458D"/>
                </a:solidFill>
                <a:latin typeface="Arial"/>
                <a:ea typeface="Arial"/>
                <a:cs typeface="Arial"/>
              </a:defRPr>
            </a:lvl4pPr>
            <a:lvl5pPr>
              <a:defRPr sz="2175" b="1">
                <a:solidFill>
                  <a:srgbClr val="58458D"/>
                </a:solidFill>
                <a:latin typeface="Arial"/>
                <a:ea typeface="Arial"/>
                <a:cs typeface="Arial"/>
              </a:defRPr>
            </a:lvl5pPr>
            <a:lvl6pPr>
              <a:defRPr sz="2175" b="1">
                <a:solidFill>
                  <a:srgbClr val="58458D"/>
                </a:solidFill>
                <a:latin typeface="Arial"/>
                <a:ea typeface="Arial"/>
                <a:cs typeface="Arial"/>
              </a:defRPr>
            </a:lvl6pPr>
            <a:lvl7pPr>
              <a:defRPr sz="2175" b="1">
                <a:solidFill>
                  <a:srgbClr val="58458D"/>
                </a:solidFill>
                <a:latin typeface="Arial"/>
                <a:ea typeface="Arial"/>
                <a:cs typeface="Arial"/>
              </a:defRPr>
            </a:lvl7pPr>
            <a:lvl8pPr>
              <a:defRPr sz="2175" b="1">
                <a:solidFill>
                  <a:srgbClr val="58458D"/>
                </a:solidFill>
                <a:latin typeface="Arial"/>
                <a:ea typeface="Arial"/>
                <a:cs typeface="Arial"/>
              </a:defRPr>
            </a:lvl8pPr>
            <a:lvl9pPr>
              <a:defRPr sz="2175" b="1">
                <a:solidFill>
                  <a:srgbClr val="58458D"/>
                </a:solidFill>
                <a:latin typeface="Arial"/>
                <a:ea typeface="Arial"/>
                <a:cs typeface="Arial"/>
              </a:defRPr>
            </a:lvl9pPr>
          </a:lstStyle>
          <a:p xmlns:a="http://schemas.openxmlformats.org/drawingml/2006/main">
            <a:pPr>
              <a:defRPr sz="2175" b="1">
                <a:solidFill>
                  <a:srgbClr val="58458D"/>
                </a:solidFill>
                <a:latin typeface="Arial"/>
                <a:ea typeface="Arial"/>
                <a:cs typeface="Arial"/>
              </a:defRPr>
            </a:pPr>
            <a:r>
              <a:rPr sz="2175" b="1">
                <a:solidFill>
                  <a:srgbClr val="58458D"/>
                </a:solidFill>
                <a:latin typeface="Arial"/>
                <a:ea typeface="Arial"/>
                <a:cs typeface="Arial"/>
              </a:rPr>
              <a:t>2</a:t>
            </a:r>
          </a:p>
          <a:p xmlns:a="http://schemas.openxmlformats.org/drawingml/2006/main">
            <a:pPr>
              <a:defRPr sz="2175" b="1">
                <a:solidFill>
                  <a:srgbClr val="58458D"/>
                </a:solidFill>
                <a:latin typeface="Arial"/>
                <a:ea typeface="Arial"/>
                <a:cs typeface="Arial"/>
              </a:defRPr>
            </a:pPr>
            <a:r>
              <a:rPr sz="2175" b="1">
                <a:solidFill>
                  <a:srgbClr val="58458D"/>
                </a:solidFill>
                <a:latin typeface="Arial"/>
                <a:ea typeface="Arial"/>
                <a:cs typeface="Arial"/>
              </a:rPr>
              <a:t>Compare choices</a:t>
            </a:r>
          </a:p>
        </p:txBody>
      </p:sp>
      <p:sp>
        <p:nvSpPr>
          <p:cNvPr id="4" name="">
            <a:extLst xmlns:a="http://schemas.openxmlformats.org/drawingml/2006/main">
              <a:ext uri="{FF2B5EF4-FFF2-40B4-BE49-F238E27FC236}">
                <a16:creationId xmlns:a16="http://schemas.microsoft.com/office/drawing/2014/main" id="{B5A7C841-DD10-4C17-B9B0-1D63A6AC4FDD}"/>
              </a:ext>
            </a:extLst>
          </p:cNvPr>
          <p:cNvSpPr>
            <a:spLocks xmlns:a="http://schemas.openxmlformats.org/drawingml/2006/main" noGrp="1"/>
          </p:cNvSpPr>
          <p:nvPr/>
        </p:nvSpPr>
        <p:spPr>
          <a:xfrm xmlns:a="http://schemas.openxmlformats.org/drawingml/2006/main">
            <a:off x="685800" y="4810125"/>
            <a:ext cx="1952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58458D"/>
                </a:solidFill>
                <a:latin typeface="Arial"/>
                <a:ea typeface="Arial"/>
                <a:cs typeface="Arial"/>
              </a:defRPr>
            </a:defPPr>
            <a:lvl1pPr>
              <a:defRPr sz="2175" b="1">
                <a:solidFill>
                  <a:srgbClr val="58458D"/>
                </a:solidFill>
                <a:latin typeface="Arial"/>
                <a:ea typeface="Arial"/>
                <a:cs typeface="Arial"/>
              </a:defRPr>
            </a:lvl1pPr>
            <a:lvl2pPr>
              <a:defRPr sz="2175" b="1">
                <a:solidFill>
                  <a:srgbClr val="58458D"/>
                </a:solidFill>
                <a:latin typeface="Arial"/>
                <a:ea typeface="Arial"/>
                <a:cs typeface="Arial"/>
              </a:defRPr>
            </a:lvl2pPr>
            <a:lvl3pPr>
              <a:defRPr sz="2175" b="1">
                <a:solidFill>
                  <a:srgbClr val="58458D"/>
                </a:solidFill>
                <a:latin typeface="Arial"/>
                <a:ea typeface="Arial"/>
                <a:cs typeface="Arial"/>
              </a:defRPr>
            </a:lvl3pPr>
            <a:lvl4pPr>
              <a:defRPr sz="2175" b="1">
                <a:solidFill>
                  <a:srgbClr val="58458D"/>
                </a:solidFill>
                <a:latin typeface="Arial"/>
                <a:ea typeface="Arial"/>
                <a:cs typeface="Arial"/>
              </a:defRPr>
            </a:lvl4pPr>
            <a:lvl5pPr>
              <a:defRPr sz="2175" b="1">
                <a:solidFill>
                  <a:srgbClr val="58458D"/>
                </a:solidFill>
                <a:latin typeface="Arial"/>
                <a:ea typeface="Arial"/>
                <a:cs typeface="Arial"/>
              </a:defRPr>
            </a:lvl5pPr>
            <a:lvl6pPr>
              <a:defRPr sz="2175" b="1">
                <a:solidFill>
                  <a:srgbClr val="58458D"/>
                </a:solidFill>
                <a:latin typeface="Arial"/>
                <a:ea typeface="Arial"/>
                <a:cs typeface="Arial"/>
              </a:defRPr>
            </a:lvl6pPr>
            <a:lvl7pPr>
              <a:defRPr sz="2175" b="1">
                <a:solidFill>
                  <a:srgbClr val="58458D"/>
                </a:solidFill>
                <a:latin typeface="Arial"/>
                <a:ea typeface="Arial"/>
                <a:cs typeface="Arial"/>
              </a:defRPr>
            </a:lvl7pPr>
            <a:lvl8pPr>
              <a:defRPr sz="2175" b="1">
                <a:solidFill>
                  <a:srgbClr val="58458D"/>
                </a:solidFill>
                <a:latin typeface="Arial"/>
                <a:ea typeface="Arial"/>
                <a:cs typeface="Arial"/>
              </a:defRPr>
            </a:lvl8pPr>
            <a:lvl9pPr>
              <a:defRPr sz="2175" b="1">
                <a:solidFill>
                  <a:srgbClr val="58458D"/>
                </a:solidFill>
                <a:latin typeface="Arial"/>
                <a:ea typeface="Arial"/>
                <a:cs typeface="Arial"/>
              </a:defRPr>
            </a:lvl9pPr>
          </a:lstStyle>
          <a:p xmlns:a="http://schemas.openxmlformats.org/drawingml/2006/main">
            <a:pPr>
              <a:defRPr sz="2175" b="1">
                <a:solidFill>
                  <a:srgbClr val="58458D"/>
                </a:solidFill>
                <a:latin typeface="Arial"/>
                <a:ea typeface="Arial"/>
                <a:cs typeface="Arial"/>
              </a:defRPr>
            </a:pPr>
            <a:r>
              <a:rPr sz="2175" b="1">
                <a:solidFill>
                  <a:srgbClr val="58458D"/>
                </a:solidFill>
                <a:latin typeface="Arial"/>
                <a:ea typeface="Arial"/>
                <a:cs typeface="Arial"/>
              </a:rPr>
              <a:t>3</a:t>
            </a:r>
          </a:p>
          <a:p xmlns:a="http://schemas.openxmlformats.org/drawingml/2006/main">
            <a:pPr>
              <a:defRPr sz="2175" b="1">
                <a:solidFill>
                  <a:srgbClr val="58458D"/>
                </a:solidFill>
                <a:latin typeface="Arial"/>
                <a:ea typeface="Arial"/>
                <a:cs typeface="Arial"/>
              </a:defRPr>
            </a:pPr>
            <a:r>
              <a:rPr sz="2175" b="1">
                <a:solidFill>
                  <a:srgbClr val="58458D"/>
                </a:solidFill>
                <a:latin typeface="Arial"/>
                <a:ea typeface="Arial"/>
                <a:cs typeface="Arial"/>
              </a:rPr>
              <a:t>Check evidence</a:t>
            </a:r>
          </a:p>
        </p:txBody>
      </p:sp>
      <p:pic>
        <p:nvPicPr>
          <p:cNvPr id="5" name="">
            <a:extLst xmlns:a="http://schemas.openxmlformats.org/drawingml/2006/main">
              <a:ext uri="{FF2B5EF4-FFF2-40B4-BE49-F238E27FC236}">
                <a16:creationId xmlns:a16="http://schemas.microsoft.com/office/drawing/2014/main" id="{C8B61B05-E0D9-48F7-9379-C8E349D6108A}"/>
              </a:ext>
            </a:extLst>
          </p:cNvPr>
          <p:cNvPicPr>
            <a:picLocks xmlns:a="http://schemas.openxmlformats.org/drawingml/2006/main" noChangeAspect="1"/>
          </p:cNvPicPr>
          <p:nvPr/>
        </p:nvPicPr>
        <p:blipFill>
          <a:blip xmlns:r="http://schemas.openxmlformats.org/officeDocument/2006/relationships" xmlns:a="http://schemas.openxmlformats.org/drawingml/2006/main" r:embed="R20fee1dd14c64067"/>
          <a:stretch xmlns:a="http://schemas.openxmlformats.org/drawingml/2006/main"/>
        </p:blipFill>
        <p:spPr>
          <a:xfrm xmlns:a="http://schemas.openxmlformats.org/drawingml/2006/main">
            <a:off x="3486979" y="1438275"/>
            <a:ext cx="7408792" cy="50101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71EB56F-13C4-491A-8F3D-F2AD7C4E6E4C}"/>
              </a:ext>
            </a:extLst>
          </p:cNvPr>
          <p:cNvSpPr>
            <a:spLocks xmlns:a="http://schemas.openxmlformats.org/drawingml/2006/main" noGrp="1"/>
          </p:cNvSpPr>
          <p:nvPr/>
        </p:nvSpPr>
        <p:spPr>
          <a:xfrm xmlns:a="http://schemas.openxmlformats.org/drawingml/2006/main">
            <a:off x="2857500" y="6486525"/>
            <a:ext cx="866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25B74"/>
                </a:solidFill>
                <a:latin typeface="Arial"/>
                <a:ea typeface="Arial"/>
                <a:cs typeface="Arial"/>
              </a:defRPr>
            </a:defPPr>
            <a:lvl1pPr>
              <a:defRPr sz="1350" b="0">
                <a:solidFill>
                  <a:srgbClr val="625B74"/>
                </a:solidFill>
                <a:latin typeface="Arial"/>
                <a:ea typeface="Arial"/>
                <a:cs typeface="Arial"/>
              </a:defRPr>
            </a:lvl1pPr>
            <a:lvl2pPr>
              <a:defRPr sz="1350" b="0">
                <a:solidFill>
                  <a:srgbClr val="625B74"/>
                </a:solidFill>
                <a:latin typeface="Arial"/>
                <a:ea typeface="Arial"/>
                <a:cs typeface="Arial"/>
              </a:defRPr>
            </a:lvl2pPr>
            <a:lvl3pPr>
              <a:defRPr sz="1350" b="0">
                <a:solidFill>
                  <a:srgbClr val="625B74"/>
                </a:solidFill>
                <a:latin typeface="Arial"/>
                <a:ea typeface="Arial"/>
                <a:cs typeface="Arial"/>
              </a:defRPr>
            </a:lvl3pPr>
            <a:lvl4pPr>
              <a:defRPr sz="1350" b="0">
                <a:solidFill>
                  <a:srgbClr val="625B74"/>
                </a:solidFill>
                <a:latin typeface="Arial"/>
                <a:ea typeface="Arial"/>
                <a:cs typeface="Arial"/>
              </a:defRPr>
            </a:lvl4pPr>
            <a:lvl5pPr>
              <a:defRPr sz="1350" b="0">
                <a:solidFill>
                  <a:srgbClr val="625B74"/>
                </a:solidFill>
                <a:latin typeface="Arial"/>
                <a:ea typeface="Arial"/>
                <a:cs typeface="Arial"/>
              </a:defRPr>
            </a:lvl5pPr>
            <a:lvl6pPr>
              <a:defRPr sz="1350" b="0">
                <a:solidFill>
                  <a:srgbClr val="625B74"/>
                </a:solidFill>
                <a:latin typeface="Arial"/>
                <a:ea typeface="Arial"/>
                <a:cs typeface="Arial"/>
              </a:defRPr>
            </a:lvl6pPr>
            <a:lvl7pPr>
              <a:defRPr sz="1350" b="0">
                <a:solidFill>
                  <a:srgbClr val="625B74"/>
                </a:solidFill>
                <a:latin typeface="Arial"/>
                <a:ea typeface="Arial"/>
                <a:cs typeface="Arial"/>
              </a:defRPr>
            </a:lvl7pPr>
            <a:lvl8pPr>
              <a:defRPr sz="1350" b="0">
                <a:solidFill>
                  <a:srgbClr val="625B74"/>
                </a:solidFill>
                <a:latin typeface="Arial"/>
                <a:ea typeface="Arial"/>
                <a:cs typeface="Arial"/>
              </a:defRPr>
            </a:lvl8pPr>
            <a:lvl9pPr>
              <a:defRPr sz="1350" b="0">
                <a:solidFill>
                  <a:srgbClr val="625B74"/>
                </a:solidFill>
                <a:latin typeface="Arial"/>
                <a:ea typeface="Arial"/>
                <a:cs typeface="Arial"/>
              </a:defRPr>
            </a:lvl9pPr>
          </a:lstStyle>
          <a:p xmlns:a="http://schemas.openxmlformats.org/drawingml/2006/main">
            <a:pPr>
              <a:defRPr sz="1350" b="0">
                <a:solidFill>
                  <a:srgbClr val="625B74"/>
                </a:solidFill>
                <a:latin typeface="Arial"/>
                <a:ea typeface="Arial"/>
                <a:cs typeface="Arial"/>
              </a:defRPr>
            </a:pPr>
            <a:r>
              <a:rPr sz="1350" b="0">
                <a:solidFill>
                  <a:srgbClr val="625B74"/>
                </a:solidFill>
                <a:latin typeface="Arial"/>
                <a:ea typeface="Arial"/>
                <a:cs typeface="Arial"/>
              </a:rPr>
              <a:t>Fictional preset data. This screenshot makes no live AI request claim.</a:t>
            </a:r>
          </a:p>
        </p:txBody>
      </p:sp>
    </p:spTree>
    <p:extLst>
      <p:ext uri="{BB962C8B-B14F-4D97-AF65-F5344CB8AC3E}">
        <p14:creationId xmlns:p14="http://schemas.microsoft.com/office/powerpoint/2010/main" val="144909332"/>
      </p:ext>
    </p:extLst>
  </p:cSld>
</p:sld>
</file>

<file path=ppt/slides/slide4.xml><?xml version="1.0" encoding="utf-8"?>
<p:sld xmlns:p="http://schemas.openxmlformats.org/presentationml/2006/main">
  <p:cSld>
    <p:bg>
      <p:bgPr>
        <a:solidFill xmlns:a="http://schemas.openxmlformats.org/drawingml/2006/main">
          <a:srgbClr val="F7F6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F03A852-E864-4A9F-87FE-4B055014A51A}"/>
              </a:ext>
            </a:extLst>
          </p:cNvPr>
          <p:cNvSpPr>
            <a:spLocks xmlns:a="http://schemas.openxmlformats.org/drawingml/2006/main" noGrp="1"/>
          </p:cNvSpPr>
          <p:nvPr/>
        </p:nvSpPr>
        <p:spPr>
          <a:xfrm xmlns:a="http://schemas.openxmlformats.org/drawingml/2006/main">
            <a:off x="685800" y="514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42039"/>
                </a:solidFill>
                <a:latin typeface="Arial"/>
                <a:ea typeface="Arial"/>
                <a:cs typeface="Arial"/>
              </a:defRPr>
            </a:defPPr>
            <a:lvl1pPr>
              <a:defRPr sz="3450" b="1">
                <a:solidFill>
                  <a:srgbClr val="242039"/>
                </a:solidFill>
                <a:latin typeface="Arial"/>
                <a:ea typeface="Arial"/>
                <a:cs typeface="Arial"/>
              </a:defRPr>
            </a:lvl1pPr>
            <a:lvl2pPr>
              <a:defRPr sz="3450" b="1">
                <a:solidFill>
                  <a:srgbClr val="242039"/>
                </a:solidFill>
                <a:latin typeface="Arial"/>
                <a:ea typeface="Arial"/>
                <a:cs typeface="Arial"/>
              </a:defRPr>
            </a:lvl2pPr>
            <a:lvl3pPr>
              <a:defRPr sz="3450" b="1">
                <a:solidFill>
                  <a:srgbClr val="242039"/>
                </a:solidFill>
                <a:latin typeface="Arial"/>
                <a:ea typeface="Arial"/>
                <a:cs typeface="Arial"/>
              </a:defRPr>
            </a:lvl3pPr>
            <a:lvl4pPr>
              <a:defRPr sz="3450" b="1">
                <a:solidFill>
                  <a:srgbClr val="242039"/>
                </a:solidFill>
                <a:latin typeface="Arial"/>
                <a:ea typeface="Arial"/>
                <a:cs typeface="Arial"/>
              </a:defRPr>
            </a:lvl4pPr>
            <a:lvl5pPr>
              <a:defRPr sz="3450" b="1">
                <a:solidFill>
                  <a:srgbClr val="242039"/>
                </a:solidFill>
                <a:latin typeface="Arial"/>
                <a:ea typeface="Arial"/>
                <a:cs typeface="Arial"/>
              </a:defRPr>
            </a:lvl5pPr>
            <a:lvl6pPr>
              <a:defRPr sz="3450" b="1">
                <a:solidFill>
                  <a:srgbClr val="242039"/>
                </a:solidFill>
                <a:latin typeface="Arial"/>
                <a:ea typeface="Arial"/>
                <a:cs typeface="Arial"/>
              </a:defRPr>
            </a:lvl6pPr>
            <a:lvl7pPr>
              <a:defRPr sz="3450" b="1">
                <a:solidFill>
                  <a:srgbClr val="242039"/>
                </a:solidFill>
                <a:latin typeface="Arial"/>
                <a:ea typeface="Arial"/>
                <a:cs typeface="Arial"/>
              </a:defRPr>
            </a:lvl7pPr>
            <a:lvl8pPr>
              <a:defRPr sz="3450" b="1">
                <a:solidFill>
                  <a:srgbClr val="242039"/>
                </a:solidFill>
                <a:latin typeface="Arial"/>
                <a:ea typeface="Arial"/>
                <a:cs typeface="Arial"/>
              </a:defRPr>
            </a:lvl8pPr>
            <a:lvl9pPr>
              <a:defRPr sz="3450" b="1">
                <a:solidFill>
                  <a:srgbClr val="242039"/>
                </a:solidFill>
                <a:latin typeface="Arial"/>
                <a:ea typeface="Arial"/>
                <a:cs typeface="Arial"/>
              </a:defRPr>
            </a:lvl9pPr>
          </a:lstStyle>
          <a:p xmlns:a="http://schemas.openxmlformats.org/drawingml/2006/main">
            <a:pPr>
              <a:defRPr sz="3450" b="1">
                <a:solidFill>
                  <a:srgbClr val="242039"/>
                </a:solidFill>
                <a:latin typeface="Arial"/>
                <a:ea typeface="Arial"/>
                <a:cs typeface="Arial"/>
              </a:defRPr>
            </a:pPr>
            <a:r>
              <a:rPr sz="3450" b="1">
                <a:solidFill>
                  <a:srgbClr val="242039"/>
                </a:solidFill>
                <a:latin typeface="Arial"/>
                <a:ea typeface="Arial"/>
                <a:cs typeface="Arial"/>
              </a:rPr>
              <a:t>Maya's feasible journeys</a:t>
            </a:r>
          </a:p>
        </p:txBody>
      </p:sp>
      <p:sp>
        <p:nvSpPr>
          <p:cNvPr id="2" name="">
            <a:extLst xmlns:a="http://schemas.openxmlformats.org/drawingml/2006/main">
              <a:ext uri="{FF2B5EF4-FFF2-40B4-BE49-F238E27FC236}">
                <a16:creationId xmlns:a16="http://schemas.microsoft.com/office/drawing/2014/main" id="{33828BFE-B2B3-48B8-AB6B-96ED0FA9E8D4}"/>
              </a:ext>
            </a:extLst>
          </p:cNvPr>
          <p:cNvSpPr>
            <a:spLocks xmlns:a="http://schemas.openxmlformats.org/drawingml/2006/main" noGrp="1"/>
          </p:cNvSpPr>
          <p:nvPr/>
        </p:nvSpPr>
        <p:spPr>
          <a:xfrm xmlns:a="http://schemas.openxmlformats.org/drawingml/2006/main">
            <a:off x="762000" y="14382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58458D"/>
                </a:solidFill>
                <a:latin typeface="Arial"/>
                <a:ea typeface="Arial"/>
                <a:cs typeface="Arial"/>
              </a:defRPr>
            </a:defPPr>
            <a:lvl1pPr>
              <a:defRPr sz="2175" b="1">
                <a:solidFill>
                  <a:srgbClr val="58458D"/>
                </a:solidFill>
                <a:latin typeface="Arial"/>
                <a:ea typeface="Arial"/>
                <a:cs typeface="Arial"/>
              </a:defRPr>
            </a:lvl1pPr>
            <a:lvl2pPr>
              <a:defRPr sz="2175" b="1">
                <a:solidFill>
                  <a:srgbClr val="58458D"/>
                </a:solidFill>
                <a:latin typeface="Arial"/>
                <a:ea typeface="Arial"/>
                <a:cs typeface="Arial"/>
              </a:defRPr>
            </a:lvl2pPr>
            <a:lvl3pPr>
              <a:defRPr sz="2175" b="1">
                <a:solidFill>
                  <a:srgbClr val="58458D"/>
                </a:solidFill>
                <a:latin typeface="Arial"/>
                <a:ea typeface="Arial"/>
                <a:cs typeface="Arial"/>
              </a:defRPr>
            </a:lvl3pPr>
            <a:lvl4pPr>
              <a:defRPr sz="2175" b="1">
                <a:solidFill>
                  <a:srgbClr val="58458D"/>
                </a:solidFill>
                <a:latin typeface="Arial"/>
                <a:ea typeface="Arial"/>
                <a:cs typeface="Arial"/>
              </a:defRPr>
            </a:lvl4pPr>
            <a:lvl5pPr>
              <a:defRPr sz="2175" b="1">
                <a:solidFill>
                  <a:srgbClr val="58458D"/>
                </a:solidFill>
                <a:latin typeface="Arial"/>
                <a:ea typeface="Arial"/>
                <a:cs typeface="Arial"/>
              </a:defRPr>
            </a:lvl5pPr>
            <a:lvl6pPr>
              <a:defRPr sz="2175" b="1">
                <a:solidFill>
                  <a:srgbClr val="58458D"/>
                </a:solidFill>
                <a:latin typeface="Arial"/>
                <a:ea typeface="Arial"/>
                <a:cs typeface="Arial"/>
              </a:defRPr>
            </a:lvl6pPr>
            <a:lvl7pPr>
              <a:defRPr sz="2175" b="1">
                <a:solidFill>
                  <a:srgbClr val="58458D"/>
                </a:solidFill>
                <a:latin typeface="Arial"/>
                <a:ea typeface="Arial"/>
                <a:cs typeface="Arial"/>
              </a:defRPr>
            </a:lvl7pPr>
            <a:lvl8pPr>
              <a:defRPr sz="2175" b="1">
                <a:solidFill>
                  <a:srgbClr val="58458D"/>
                </a:solidFill>
                <a:latin typeface="Arial"/>
                <a:ea typeface="Arial"/>
                <a:cs typeface="Arial"/>
              </a:defRPr>
            </a:lvl8pPr>
            <a:lvl9pPr>
              <a:defRPr sz="2175" b="1">
                <a:solidFill>
                  <a:srgbClr val="58458D"/>
                </a:solidFill>
                <a:latin typeface="Arial"/>
                <a:ea typeface="Arial"/>
                <a:cs typeface="Arial"/>
              </a:defRPr>
            </a:lvl9pPr>
          </a:lstStyle>
          <a:p xmlns:a="http://schemas.openxmlformats.org/drawingml/2006/main">
            <a:pPr>
              <a:defRPr sz="2175" b="1">
                <a:solidFill>
                  <a:srgbClr val="58458D"/>
                </a:solidFill>
                <a:latin typeface="Arial"/>
                <a:ea typeface="Arial"/>
                <a:cs typeface="Arial"/>
              </a:defRPr>
            </a:pPr>
            <a:r>
              <a:rPr sz="2175" b="1">
                <a:solidFill>
                  <a:srgbClr val="58458D"/>
                </a:solidFill>
                <a:latin typeface="Arial"/>
                <a:ea typeface="Arial"/>
                <a:cs typeface="Arial"/>
              </a:rPr>
              <a:t>Budget £25     Journey limit 180 minutes</a:t>
            </a:r>
          </a:p>
        </p:txBody>
      </p:sp>
      <p:graphicFrame>
        <p:nvGraphicFramePr>
          <p:cNvPr id="3" name="">
            <a:extLst xmlns:a="http://schemas.openxmlformats.org/drawingml/2006/main">
              <a:ext uri="{FF2B5EF4-FFF2-40B4-BE49-F238E27FC236}">
                <a16:creationId xmlns:a16="http://schemas.microsoft.com/office/drawing/2014/main" id="{34F9C9ED-8DA6-4CB7-A592-2F7EAE16A1B5}"/>
              </a:ext>
            </a:extLst>
          </p:cNvPr>
          <p:cNvGraphicFramePr/>
          <p:nvPr/>
        </p:nvGraphicFramePr>
        <p:xfrm>
          <a:off xmlns:a="http://schemas.openxmlformats.org/drawingml/2006/main" x="762000" y="2190750"/>
          <a:ext xmlns:a="http://schemas.openxmlformats.org/drawingml/2006/main" cx="10668000" cy="3238500"/>
        </p:xfrm>
        <a:graphic xmlns:a="http://schemas.openxmlformats.org/drawingml/2006/main">
          <a:graphicData uri="http://schemas.openxmlformats.org/drawingml/2006/table">
            <a:tbl>
              <a:tblPr/>
              <a:tblGrid>
                <a:gridCol w="1952625"/>
                <a:gridCol w="1238250"/>
                <a:gridCol w="1619250"/>
                <a:gridCol w="2428875"/>
                <a:gridCol w="3429000"/>
              </a:tblGrid>
              <a:tr h="539750">
                <a:tc>
                  <a:txBody>
                    <a:bodyPr lIns="133350" tIns="133350" rIns="133350" bIns="133350"/>
                    <a:lstStyle/>
                    <a:p>
                      <a:r>
                        <a:rPr sz="1800" b="1">
                          <a:solidFill>
                            <a:srgbClr val="FFFFFF"/>
                          </a:solidFill>
                          <a:latin typeface="Arial"/>
                          <a:ea typeface="Arial"/>
                          <a:cs typeface="Arial"/>
                        </a:rPr>
                        <a:t>Choice</a:t>
                      </a:r>
                    </a:p>
                  </a:txBody>
                  <a:tcPr marL="91440" marR="91440" marT="45720" marB="45720" anchor="ctr">
                    <a:lnL w="6668">
                      <a:solidFill>
                        <a:srgbClr val="D8D2E5"/>
                      </a:solidFill>
                      <a:prstDash val="solid"/>
                    </a:lnL>
                    <a:lnR w="6668">
                      <a:solidFill>
                        <a:srgbClr val="D8D2E5"/>
                      </a:solidFill>
                      <a:prstDash val="solid"/>
                    </a:lnR>
                    <a:lnT w="6668">
                      <a:solidFill>
                        <a:srgbClr val="D8D2E5"/>
                      </a:solidFill>
                      <a:prstDash val="solid"/>
                    </a:lnT>
                    <a:lnB w="6668">
                      <a:solidFill>
                        <a:srgbClr val="D8D2E5"/>
                      </a:solidFill>
                      <a:prstDash val="solid"/>
                    </a:lnB>
                    <a:solidFill>
                      <a:srgbClr val="58458D"/>
                    </a:solidFill>
                  </a:tcPr>
                </a:tc>
                <a:tc>
                  <a:txBody>
                    <a:bodyPr lIns="133350" tIns="133350" rIns="133350" bIns="133350"/>
                    <a:lstStyle/>
                    <a:p>
                      <a:r>
                        <a:rPr sz="1800" b="1">
                          <a:solidFill>
                            <a:srgbClr val="FFFFFF"/>
                          </a:solidFill>
                          <a:latin typeface="Arial"/>
                          <a:ea typeface="Arial"/>
                          <a:cs typeface="Arial"/>
                        </a:rPr>
                        <a:t>Cost</a:t>
                      </a:r>
                    </a:p>
                  </a:txBody>
                  <a:tcPr marL="91440" marR="91440" marT="45720" marB="45720" anchor="ctr">
                    <a:lnR w="6668">
                      <a:solidFill>
                        <a:srgbClr val="D8D2E5"/>
                      </a:solidFill>
                      <a:prstDash val="solid"/>
                    </a:lnR>
                    <a:lnT w="6668">
                      <a:solidFill>
                        <a:srgbClr val="D8D2E5"/>
                      </a:solidFill>
                      <a:prstDash val="solid"/>
                    </a:lnT>
                    <a:lnB w="6668">
                      <a:solidFill>
                        <a:srgbClr val="D8D2E5"/>
                      </a:solidFill>
                      <a:prstDash val="solid"/>
                    </a:lnB>
                    <a:solidFill>
                      <a:srgbClr val="58458D"/>
                    </a:solidFill>
                  </a:tcPr>
                </a:tc>
                <a:tc>
                  <a:txBody>
                    <a:bodyPr lIns="133350" tIns="133350" rIns="133350" bIns="133350"/>
                    <a:lstStyle/>
                    <a:p>
                      <a:r>
                        <a:rPr sz="1800" b="1">
                          <a:solidFill>
                            <a:srgbClr val="FFFFFF"/>
                          </a:solidFill>
                          <a:latin typeface="Arial"/>
                          <a:ea typeface="Arial"/>
                          <a:cs typeface="Arial"/>
                        </a:rPr>
                        <a:t>Time</a:t>
                      </a:r>
                    </a:p>
                  </a:txBody>
                  <a:tcPr marL="91440" marR="91440" marT="45720" marB="45720" anchor="ctr">
                    <a:lnR w="6668">
                      <a:solidFill>
                        <a:srgbClr val="D8D2E5"/>
                      </a:solidFill>
                      <a:prstDash val="solid"/>
                    </a:lnR>
                    <a:lnT w="6668">
                      <a:solidFill>
                        <a:srgbClr val="D8D2E5"/>
                      </a:solidFill>
                      <a:prstDash val="solid"/>
                    </a:lnT>
                    <a:lnB w="6668">
                      <a:solidFill>
                        <a:srgbClr val="D8D2E5"/>
                      </a:solidFill>
                      <a:prstDash val="solid"/>
                    </a:lnB>
                    <a:solidFill>
                      <a:srgbClr val="58458D"/>
                    </a:solidFill>
                  </a:tcPr>
                </a:tc>
                <a:tc>
                  <a:txBody>
                    <a:bodyPr lIns="133350" tIns="133350" rIns="133350" bIns="133350"/>
                    <a:lstStyle/>
                    <a:p>
                      <a:r>
                        <a:rPr sz="1800" b="1">
                          <a:solidFill>
                            <a:srgbClr val="FFFFFF"/>
                          </a:solidFill>
                          <a:latin typeface="Arial"/>
                          <a:ea typeface="Arial"/>
                          <a:cs typeface="Arial"/>
                        </a:rPr>
                        <a:t>Emissions</a:t>
                      </a:r>
                    </a:p>
                  </a:txBody>
                  <a:tcPr marL="91440" marR="91440" marT="45720" marB="45720" anchor="ctr">
                    <a:lnR w="6668">
                      <a:solidFill>
                        <a:srgbClr val="D8D2E5"/>
                      </a:solidFill>
                      <a:prstDash val="solid"/>
                    </a:lnR>
                    <a:lnT w="6668">
                      <a:solidFill>
                        <a:srgbClr val="D8D2E5"/>
                      </a:solidFill>
                      <a:prstDash val="solid"/>
                    </a:lnT>
                    <a:lnB w="6668">
                      <a:solidFill>
                        <a:srgbClr val="D8D2E5"/>
                      </a:solidFill>
                      <a:prstDash val="solid"/>
                    </a:lnB>
                    <a:solidFill>
                      <a:srgbClr val="58458D"/>
                    </a:solidFill>
                  </a:tcPr>
                </a:tc>
                <a:tc>
                  <a:txBody>
                    <a:bodyPr lIns="133350" tIns="133350" rIns="133350" bIns="133350"/>
                    <a:lstStyle/>
                    <a:p>
                      <a:r>
                        <a:rPr sz="1800" b="1">
                          <a:solidFill>
                            <a:srgbClr val="FFFFFF"/>
                          </a:solidFill>
                          <a:latin typeface="Arial"/>
                          <a:ea typeface="Arial"/>
                          <a:cs typeface="Arial"/>
                        </a:rPr>
                        <a:t>Hard limits</a:t>
                      </a:r>
                    </a:p>
                  </a:txBody>
                  <a:tcPr marL="91440" marR="91440" marT="45720" marB="45720" anchor="ctr">
                    <a:lnR w="6668">
                      <a:solidFill>
                        <a:srgbClr val="D8D2E5"/>
                      </a:solidFill>
                      <a:prstDash val="solid"/>
                    </a:lnR>
                    <a:lnT w="6668">
                      <a:solidFill>
                        <a:srgbClr val="D8D2E5"/>
                      </a:solidFill>
                      <a:prstDash val="solid"/>
                    </a:lnT>
                    <a:lnB w="6668">
                      <a:solidFill>
                        <a:srgbClr val="D8D2E5"/>
                      </a:solidFill>
                      <a:prstDash val="solid"/>
                    </a:lnB>
                    <a:solidFill>
                      <a:srgbClr val="58458D"/>
                    </a:solidFill>
                  </a:tcPr>
                </a:tc>
              </a:tr>
              <a:tr h="539750">
                <a:tc>
                  <a:txBody>
                    <a:bodyPr lIns="133350" tIns="133350" rIns="133350" bIns="133350"/>
                    <a:lstStyle/>
                    <a:p>
                      <a:r>
                        <a:rPr sz="1875" b="0">
                          <a:solidFill>
                            <a:srgbClr val="242039"/>
                          </a:solidFill>
                          <a:latin typeface="Arial"/>
                          <a:ea typeface="Arial"/>
                          <a:cs typeface="Arial"/>
                        </a:rPr>
                        <a:t>Train</a:t>
                      </a:r>
                    </a:p>
                  </a:txBody>
                  <a:tcPr marL="91440" marR="91440" marT="45720" marB="45720" anchor="ctr">
                    <a:lnL w="6668">
                      <a:solidFill>
                        <a:srgbClr val="D8D2E5"/>
                      </a:solidFill>
                      <a:prstDash val="solid"/>
                    </a:lnL>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875" b="0">
                          <a:solidFill>
                            <a:srgbClr val="242039"/>
                          </a:solidFill>
                          <a:latin typeface="Arial"/>
                          <a:ea typeface="Arial"/>
                          <a:cs typeface="Arial"/>
                        </a:rPr>
                        <a:t>£18</a:t>
                      </a:r>
                    </a:p>
                  </a:txBody>
                  <a:tcPr marL="91440" marR="91440" marT="45720" marB="45720" anchor="ctr">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875" b="0">
                          <a:solidFill>
                            <a:srgbClr val="242039"/>
                          </a:solidFill>
                          <a:latin typeface="Arial"/>
                          <a:ea typeface="Arial"/>
                          <a:cs typeface="Arial"/>
                        </a:rPr>
                        <a:t>70 min</a:t>
                      </a:r>
                    </a:p>
                  </a:txBody>
                  <a:tcPr marL="91440" marR="91440" marT="45720" marB="45720" anchor="ctr">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875" b="0">
                          <a:solidFill>
                            <a:srgbClr val="242039"/>
                          </a:solidFill>
                          <a:latin typeface="Arial"/>
                          <a:ea typeface="Arial"/>
                          <a:cs typeface="Arial"/>
                        </a:rPr>
                        <a:t>2.2 kg CO2e</a:t>
                      </a:r>
                    </a:p>
                  </a:txBody>
                  <a:tcPr marL="91440" marR="91440" marT="45720" marB="45720" anchor="ctr">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875" b="0">
                          <a:solidFill>
                            <a:srgbClr val="242039"/>
                          </a:solidFill>
                          <a:latin typeface="Arial"/>
                          <a:ea typeface="Arial"/>
                          <a:cs typeface="Arial"/>
                        </a:rPr>
                        <a:t>Fits</a:t>
                      </a:r>
                    </a:p>
                  </a:txBody>
                  <a:tcPr marL="91440" marR="91440" marT="45720" marB="45720" anchor="ctr">
                    <a:lnR w="6668">
                      <a:solidFill>
                        <a:srgbClr val="D8D2E5"/>
                      </a:solidFill>
                      <a:prstDash val="solid"/>
                    </a:lnR>
                    <a:lnB w="6668">
                      <a:solidFill>
                        <a:srgbClr val="D8D2E5"/>
                      </a:solidFill>
                      <a:prstDash val="solid"/>
                    </a:lnB>
                    <a:solidFill>
                      <a:srgbClr val="FFFFFF"/>
                    </a:solidFill>
                  </a:tcPr>
                </a:tc>
              </a:tr>
              <a:tr h="539750">
                <a:tc>
                  <a:txBody>
                    <a:bodyPr lIns="133350" tIns="133350" rIns="133350" bIns="133350"/>
                    <a:lstStyle/>
                    <a:p>
                      <a:r>
                        <a:rPr sz="1875" b="0">
                          <a:solidFill>
                            <a:srgbClr val="242039"/>
                          </a:solidFill>
                          <a:latin typeface="Arial"/>
                          <a:ea typeface="Arial"/>
                          <a:cs typeface="Arial"/>
                        </a:rPr>
                        <a:t>Coach</a:t>
                      </a:r>
                    </a:p>
                  </a:txBody>
                  <a:tcPr marL="91440" marR="91440" marT="45720" marB="45720" anchor="ctr">
                    <a:lnL w="6668">
                      <a:solidFill>
                        <a:srgbClr val="D8D2E5"/>
                      </a:solidFill>
                      <a:prstDash val="solid"/>
                    </a:lnL>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1875" b="0">
                          <a:solidFill>
                            <a:srgbClr val="242039"/>
                          </a:solidFill>
                          <a:latin typeface="Arial"/>
                          <a:ea typeface="Arial"/>
                          <a:cs typeface="Arial"/>
                        </a:rPr>
                        <a:t>£8</a:t>
                      </a:r>
                    </a:p>
                  </a:txBody>
                  <a:tcPr marL="91440" marR="91440" marT="45720" marB="45720" anchor="ctr">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1875" b="0">
                          <a:solidFill>
                            <a:srgbClr val="242039"/>
                          </a:solidFill>
                          <a:latin typeface="Arial"/>
                          <a:ea typeface="Arial"/>
                          <a:cs typeface="Arial"/>
                        </a:rPr>
                        <a:t>120 min</a:t>
                      </a:r>
                    </a:p>
                  </a:txBody>
                  <a:tcPr marL="91440" marR="91440" marT="45720" marB="45720" anchor="ctr">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1875" b="0">
                          <a:solidFill>
                            <a:srgbClr val="242039"/>
                          </a:solidFill>
                          <a:latin typeface="Arial"/>
                          <a:ea typeface="Arial"/>
                          <a:cs typeface="Arial"/>
                        </a:rPr>
                        <a:t>5 kg CO2e</a:t>
                      </a:r>
                    </a:p>
                  </a:txBody>
                  <a:tcPr marL="91440" marR="91440" marT="45720" marB="45720" anchor="ctr">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1875" b="0">
                          <a:solidFill>
                            <a:srgbClr val="242039"/>
                          </a:solidFill>
                          <a:latin typeface="Arial"/>
                          <a:ea typeface="Arial"/>
                          <a:cs typeface="Arial"/>
                        </a:rPr>
                        <a:t>Fits</a:t>
                      </a:r>
                    </a:p>
                  </a:txBody>
                  <a:tcPr marL="91440" marR="91440" marT="45720" marB="45720" anchor="ctr">
                    <a:lnR w="6668">
                      <a:solidFill>
                        <a:srgbClr val="D8D2E5"/>
                      </a:solidFill>
                      <a:prstDash val="solid"/>
                    </a:lnR>
                    <a:lnB w="6668">
                      <a:solidFill>
                        <a:srgbClr val="D8D2E5"/>
                      </a:solidFill>
                      <a:prstDash val="solid"/>
                    </a:lnB>
                    <a:solidFill>
                      <a:srgbClr val="ECE7F8"/>
                    </a:solidFill>
                  </a:tcPr>
                </a:tc>
              </a:tr>
              <a:tr h="539750">
                <a:tc>
                  <a:txBody>
                    <a:bodyPr lIns="133350" tIns="133350" rIns="133350" bIns="133350"/>
                    <a:lstStyle/>
                    <a:p>
                      <a:r>
                        <a:rPr sz="1875" b="0">
                          <a:solidFill>
                            <a:srgbClr val="242039"/>
                          </a:solidFill>
                          <a:latin typeface="Arial"/>
                          <a:ea typeface="Arial"/>
                          <a:cs typeface="Arial"/>
                        </a:rPr>
                        <a:t>Flight</a:t>
                      </a:r>
                    </a:p>
                  </a:txBody>
                  <a:tcPr marL="91440" marR="91440" marT="45720" marB="45720" anchor="ctr">
                    <a:lnL w="6668">
                      <a:solidFill>
                        <a:srgbClr val="D8D2E5"/>
                      </a:solidFill>
                      <a:prstDash val="solid"/>
                    </a:lnL>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875" b="0">
                          <a:solidFill>
                            <a:srgbClr val="242039"/>
                          </a:solidFill>
                          <a:latin typeface="Arial"/>
                          <a:ea typeface="Arial"/>
                          <a:cs typeface="Arial"/>
                        </a:rPr>
                        <a:t>£70</a:t>
                      </a:r>
                    </a:p>
                  </a:txBody>
                  <a:tcPr marL="91440" marR="91440" marT="45720" marB="45720" anchor="ctr">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875" b="0">
                          <a:solidFill>
                            <a:srgbClr val="242039"/>
                          </a:solidFill>
                          <a:latin typeface="Arial"/>
                          <a:ea typeface="Arial"/>
                          <a:cs typeface="Arial"/>
                        </a:rPr>
                        <a:t>45 min</a:t>
                      </a:r>
                    </a:p>
                  </a:txBody>
                  <a:tcPr marL="91440" marR="91440" marT="45720" marB="45720" anchor="ctr">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875" b="0">
                          <a:solidFill>
                            <a:srgbClr val="242039"/>
                          </a:solidFill>
                          <a:latin typeface="Arial"/>
                          <a:ea typeface="Arial"/>
                          <a:cs typeface="Arial"/>
                        </a:rPr>
                        <a:t>60 kg CO2e</a:t>
                      </a:r>
                    </a:p>
                  </a:txBody>
                  <a:tcPr marL="91440" marR="91440" marT="45720" marB="45720" anchor="ctr">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875" b="0">
                          <a:solidFill>
                            <a:srgbClr val="242039"/>
                          </a:solidFill>
                          <a:latin typeface="Arial"/>
                          <a:ea typeface="Arial"/>
                          <a:cs typeface="Arial"/>
                        </a:rPr>
                        <a:t>Over budget</a:t>
                      </a:r>
                    </a:p>
                  </a:txBody>
                  <a:tcPr marL="91440" marR="91440" marT="45720" marB="45720" anchor="ctr">
                    <a:lnR w="6668">
                      <a:solidFill>
                        <a:srgbClr val="D8D2E5"/>
                      </a:solidFill>
                      <a:prstDash val="solid"/>
                    </a:lnR>
                    <a:lnB w="6668">
                      <a:solidFill>
                        <a:srgbClr val="D8D2E5"/>
                      </a:solidFill>
                      <a:prstDash val="solid"/>
                    </a:lnB>
                    <a:solidFill>
                      <a:srgbClr val="FFFFFF"/>
                    </a:solidFill>
                  </a:tcPr>
                </a:tc>
              </a:tr>
              <a:tr h="539750">
                <a:tc>
                  <a:txBody>
                    <a:bodyPr lIns="133350" tIns="133350" rIns="133350" bIns="133350"/>
                    <a:lstStyle/>
                    <a:p>
                      <a:r>
                        <a:rPr sz="1875" b="0">
                          <a:solidFill>
                            <a:srgbClr val="242039"/>
                          </a:solidFill>
                          <a:latin typeface="Arial"/>
                          <a:ea typeface="Arial"/>
                          <a:cs typeface="Arial"/>
                        </a:rPr>
                        <a:t>Taxi</a:t>
                      </a:r>
                    </a:p>
                  </a:txBody>
                  <a:tcPr marL="91440" marR="91440" marT="45720" marB="45720" anchor="ctr">
                    <a:lnL w="6668">
                      <a:solidFill>
                        <a:srgbClr val="D8D2E5"/>
                      </a:solidFill>
                      <a:prstDash val="solid"/>
                    </a:lnL>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1875" b="0">
                          <a:solidFill>
                            <a:srgbClr val="242039"/>
                          </a:solidFill>
                          <a:latin typeface="Arial"/>
                          <a:ea typeface="Arial"/>
                          <a:cs typeface="Arial"/>
                        </a:rPr>
                        <a:t>£45</a:t>
                      </a:r>
                    </a:p>
                  </a:txBody>
                  <a:tcPr marL="91440" marR="91440" marT="45720" marB="45720" anchor="ctr">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1875" b="0">
                          <a:solidFill>
                            <a:srgbClr val="242039"/>
                          </a:solidFill>
                          <a:latin typeface="Arial"/>
                          <a:ea typeface="Arial"/>
                          <a:cs typeface="Arial"/>
                        </a:rPr>
                        <a:t>60 min</a:t>
                      </a:r>
                    </a:p>
                  </a:txBody>
                  <a:tcPr marL="91440" marR="91440" marT="45720" marB="45720" anchor="ctr">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1875" b="0">
                          <a:solidFill>
                            <a:srgbClr val="242039"/>
                          </a:solidFill>
                          <a:latin typeface="Arial"/>
                          <a:ea typeface="Arial"/>
                          <a:cs typeface="Arial"/>
                        </a:rPr>
                        <a:t>18 kg CO2e</a:t>
                      </a:r>
                    </a:p>
                  </a:txBody>
                  <a:tcPr marL="91440" marR="91440" marT="45720" marB="45720" anchor="ctr">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1875" b="0">
                          <a:solidFill>
                            <a:srgbClr val="242039"/>
                          </a:solidFill>
                          <a:latin typeface="Arial"/>
                          <a:ea typeface="Arial"/>
                          <a:cs typeface="Arial"/>
                        </a:rPr>
                        <a:t>Over budget</a:t>
                      </a:r>
                    </a:p>
                  </a:txBody>
                  <a:tcPr marL="91440" marR="91440" marT="45720" marB="45720" anchor="ctr">
                    <a:lnR w="6668">
                      <a:solidFill>
                        <a:srgbClr val="D8D2E5"/>
                      </a:solidFill>
                      <a:prstDash val="solid"/>
                    </a:lnR>
                    <a:lnB w="6668">
                      <a:solidFill>
                        <a:srgbClr val="D8D2E5"/>
                      </a:solidFill>
                      <a:prstDash val="solid"/>
                    </a:lnB>
                    <a:solidFill>
                      <a:srgbClr val="ECE7F8"/>
                    </a:solidFill>
                  </a:tcPr>
                </a:tc>
              </a:tr>
              <a:tr h="539750">
                <a:tc>
                  <a:txBody>
                    <a:bodyPr lIns="133350" tIns="133350" rIns="133350" bIns="133350"/>
                    <a:lstStyle/>
                    <a:p>
                      <a:r>
                        <a:rPr sz="1875" b="0">
                          <a:solidFill>
                            <a:srgbClr val="242039"/>
                          </a:solidFill>
                          <a:latin typeface="Arial"/>
                          <a:ea typeface="Arial"/>
                          <a:cs typeface="Arial"/>
                        </a:rPr>
                        <a:t>Cycle</a:t>
                      </a:r>
                    </a:p>
                  </a:txBody>
                  <a:tcPr marL="91440" marR="91440" marT="45720" marB="45720" anchor="ctr">
                    <a:lnL w="6668">
                      <a:solidFill>
                        <a:srgbClr val="D8D2E5"/>
                      </a:solidFill>
                      <a:prstDash val="solid"/>
                    </a:lnL>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875" b="0">
                          <a:solidFill>
                            <a:srgbClr val="242039"/>
                          </a:solidFill>
                          <a:latin typeface="Arial"/>
                          <a:ea typeface="Arial"/>
                          <a:cs typeface="Arial"/>
                        </a:rPr>
                        <a:t>£0</a:t>
                      </a:r>
                    </a:p>
                  </a:txBody>
                  <a:tcPr marL="91440" marR="91440" marT="45720" marB="45720" anchor="ctr">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875" b="0">
                          <a:solidFill>
                            <a:srgbClr val="242039"/>
                          </a:solidFill>
                          <a:latin typeface="Arial"/>
                          <a:ea typeface="Arial"/>
                          <a:cs typeface="Arial"/>
                        </a:rPr>
                        <a:t>240 min</a:t>
                      </a:r>
                    </a:p>
                  </a:txBody>
                  <a:tcPr marL="91440" marR="91440" marT="45720" marB="45720" anchor="ctr">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875" b="0">
                          <a:solidFill>
                            <a:srgbClr val="242039"/>
                          </a:solidFill>
                          <a:latin typeface="Arial"/>
                          <a:ea typeface="Arial"/>
                          <a:cs typeface="Arial"/>
                        </a:rPr>
                        <a:t>0.3 kg CO2e</a:t>
                      </a:r>
                    </a:p>
                  </a:txBody>
                  <a:tcPr marL="91440" marR="91440" marT="45720" marB="45720" anchor="ctr">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875" b="0">
                          <a:solidFill>
                            <a:srgbClr val="242039"/>
                          </a:solidFill>
                          <a:latin typeface="Arial"/>
                          <a:ea typeface="Arial"/>
                          <a:cs typeface="Arial"/>
                        </a:rPr>
                        <a:t>Over time</a:t>
                      </a:r>
                    </a:p>
                  </a:txBody>
                  <a:tcPr marL="91440" marR="91440" marT="45720" marB="45720" anchor="ctr">
                    <a:lnR w="6668">
                      <a:solidFill>
                        <a:srgbClr val="D8D2E5"/>
                      </a:solidFill>
                      <a:prstDash val="solid"/>
                    </a:lnR>
                    <a:lnB w="6668">
                      <a:solidFill>
                        <a:srgbClr val="D8D2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767B877-C84C-44E6-A796-B06CCFD12EA5}"/>
              </a:ext>
            </a:extLst>
          </p:cNvPr>
          <p:cNvSpPr>
            <a:spLocks xmlns:a="http://schemas.openxmlformats.org/drawingml/2006/main" noGrp="1"/>
          </p:cNvSpPr>
          <p:nvPr/>
        </p:nvSpPr>
        <p:spPr>
          <a:xfrm xmlns:a="http://schemas.openxmlformats.org/drawingml/2006/main">
            <a:off x="762000" y="57435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42039"/>
                </a:solidFill>
                <a:latin typeface="Arial"/>
                <a:ea typeface="Arial"/>
                <a:cs typeface="Arial"/>
              </a:defRPr>
            </a:defPPr>
            <a:lvl1pPr>
              <a:defRPr sz="2100" b="1">
                <a:solidFill>
                  <a:srgbClr val="242039"/>
                </a:solidFill>
                <a:latin typeface="Arial"/>
                <a:ea typeface="Arial"/>
                <a:cs typeface="Arial"/>
              </a:defRPr>
            </a:lvl1pPr>
            <a:lvl2pPr>
              <a:defRPr sz="2100" b="1">
                <a:solidFill>
                  <a:srgbClr val="242039"/>
                </a:solidFill>
                <a:latin typeface="Arial"/>
                <a:ea typeface="Arial"/>
                <a:cs typeface="Arial"/>
              </a:defRPr>
            </a:lvl2pPr>
            <a:lvl3pPr>
              <a:defRPr sz="2100" b="1">
                <a:solidFill>
                  <a:srgbClr val="242039"/>
                </a:solidFill>
                <a:latin typeface="Arial"/>
                <a:ea typeface="Arial"/>
                <a:cs typeface="Arial"/>
              </a:defRPr>
            </a:lvl3pPr>
            <a:lvl4pPr>
              <a:defRPr sz="2100" b="1">
                <a:solidFill>
                  <a:srgbClr val="242039"/>
                </a:solidFill>
                <a:latin typeface="Arial"/>
                <a:ea typeface="Arial"/>
                <a:cs typeface="Arial"/>
              </a:defRPr>
            </a:lvl4pPr>
            <a:lvl5pPr>
              <a:defRPr sz="2100" b="1">
                <a:solidFill>
                  <a:srgbClr val="242039"/>
                </a:solidFill>
                <a:latin typeface="Arial"/>
                <a:ea typeface="Arial"/>
                <a:cs typeface="Arial"/>
              </a:defRPr>
            </a:lvl5pPr>
            <a:lvl6pPr>
              <a:defRPr sz="2100" b="1">
                <a:solidFill>
                  <a:srgbClr val="242039"/>
                </a:solidFill>
                <a:latin typeface="Arial"/>
                <a:ea typeface="Arial"/>
                <a:cs typeface="Arial"/>
              </a:defRPr>
            </a:lvl6pPr>
            <a:lvl7pPr>
              <a:defRPr sz="2100" b="1">
                <a:solidFill>
                  <a:srgbClr val="242039"/>
                </a:solidFill>
                <a:latin typeface="Arial"/>
                <a:ea typeface="Arial"/>
                <a:cs typeface="Arial"/>
              </a:defRPr>
            </a:lvl7pPr>
            <a:lvl8pPr>
              <a:defRPr sz="2100" b="1">
                <a:solidFill>
                  <a:srgbClr val="242039"/>
                </a:solidFill>
                <a:latin typeface="Arial"/>
                <a:ea typeface="Arial"/>
                <a:cs typeface="Arial"/>
              </a:defRPr>
            </a:lvl8pPr>
            <a:lvl9pPr>
              <a:defRPr sz="2100" b="1">
                <a:solidFill>
                  <a:srgbClr val="242039"/>
                </a:solidFill>
                <a:latin typeface="Arial"/>
                <a:ea typeface="Arial"/>
                <a:cs typeface="Arial"/>
              </a:defRPr>
            </a:lvl9pPr>
          </a:lstStyle>
          <a:p xmlns:a="http://schemas.openxmlformats.org/drawingml/2006/main">
            <a:pPr>
              <a:defRPr sz="2100" b="1">
                <a:solidFill>
                  <a:srgbClr val="242039"/>
                </a:solidFill>
                <a:latin typeface="Arial"/>
                <a:ea typeface="Arial"/>
                <a:cs typeface="Arial"/>
              </a:defRPr>
            </a:pPr>
            <a:r>
              <a:rPr sz="2100" b="1">
                <a:solidFill>
                  <a:srgbClr val="242039"/>
                </a:solidFill>
                <a:latin typeface="Arial"/>
                <a:ea typeface="Arial"/>
                <a:cs typeface="Arial"/>
              </a:rPr>
              <a:t>Hard limits filter first. Your priorities rank what remains.</a:t>
            </a:r>
          </a:p>
        </p:txBody>
      </p:sp>
      <p:sp>
        <p:nvSpPr>
          <p:cNvPr id="5" name="">
            <a:extLst xmlns:a="http://schemas.openxmlformats.org/drawingml/2006/main">
              <a:ext uri="{FF2B5EF4-FFF2-40B4-BE49-F238E27FC236}">
                <a16:creationId xmlns:a16="http://schemas.microsoft.com/office/drawing/2014/main" id="{FDCB6E7A-7098-4072-895A-6686830098EF}"/>
              </a:ext>
            </a:extLst>
          </p:cNvPr>
          <p:cNvSpPr>
            <a:spLocks xmlns:a="http://schemas.openxmlformats.org/drawingml/2006/main" noGrp="1"/>
          </p:cNvSpPr>
          <p:nvPr/>
        </p:nvSpPr>
        <p:spPr>
          <a:xfrm xmlns:a="http://schemas.openxmlformats.org/drawingml/2006/main">
            <a:off x="762000" y="6343650"/>
            <a:ext cx="10668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25B74"/>
                </a:solidFill>
                <a:latin typeface="Arial"/>
                <a:ea typeface="Arial"/>
                <a:cs typeface="Arial"/>
              </a:defRPr>
            </a:defPPr>
            <a:lvl1pPr>
              <a:defRPr sz="1575" b="0">
                <a:solidFill>
                  <a:srgbClr val="625B74"/>
                </a:solidFill>
                <a:latin typeface="Arial"/>
                <a:ea typeface="Arial"/>
                <a:cs typeface="Arial"/>
              </a:defRPr>
            </a:lvl1pPr>
            <a:lvl2pPr>
              <a:defRPr sz="1575" b="0">
                <a:solidFill>
                  <a:srgbClr val="625B74"/>
                </a:solidFill>
                <a:latin typeface="Arial"/>
                <a:ea typeface="Arial"/>
                <a:cs typeface="Arial"/>
              </a:defRPr>
            </a:lvl2pPr>
            <a:lvl3pPr>
              <a:defRPr sz="1575" b="0">
                <a:solidFill>
                  <a:srgbClr val="625B74"/>
                </a:solidFill>
                <a:latin typeface="Arial"/>
                <a:ea typeface="Arial"/>
                <a:cs typeface="Arial"/>
              </a:defRPr>
            </a:lvl3pPr>
            <a:lvl4pPr>
              <a:defRPr sz="1575" b="0">
                <a:solidFill>
                  <a:srgbClr val="625B74"/>
                </a:solidFill>
                <a:latin typeface="Arial"/>
                <a:ea typeface="Arial"/>
                <a:cs typeface="Arial"/>
              </a:defRPr>
            </a:lvl4pPr>
            <a:lvl5pPr>
              <a:defRPr sz="1575" b="0">
                <a:solidFill>
                  <a:srgbClr val="625B74"/>
                </a:solidFill>
                <a:latin typeface="Arial"/>
                <a:ea typeface="Arial"/>
                <a:cs typeface="Arial"/>
              </a:defRPr>
            </a:lvl5pPr>
            <a:lvl6pPr>
              <a:defRPr sz="1575" b="0">
                <a:solidFill>
                  <a:srgbClr val="625B74"/>
                </a:solidFill>
                <a:latin typeface="Arial"/>
                <a:ea typeface="Arial"/>
                <a:cs typeface="Arial"/>
              </a:defRPr>
            </a:lvl6pPr>
            <a:lvl7pPr>
              <a:defRPr sz="1575" b="0">
                <a:solidFill>
                  <a:srgbClr val="625B74"/>
                </a:solidFill>
                <a:latin typeface="Arial"/>
                <a:ea typeface="Arial"/>
                <a:cs typeface="Arial"/>
              </a:defRPr>
            </a:lvl7pPr>
            <a:lvl8pPr>
              <a:defRPr sz="1575" b="0">
                <a:solidFill>
                  <a:srgbClr val="625B74"/>
                </a:solidFill>
                <a:latin typeface="Arial"/>
                <a:ea typeface="Arial"/>
                <a:cs typeface="Arial"/>
              </a:defRPr>
            </a:lvl8pPr>
            <a:lvl9pPr>
              <a:defRPr sz="1575" b="0">
                <a:solidFill>
                  <a:srgbClr val="625B74"/>
                </a:solidFill>
                <a:latin typeface="Arial"/>
                <a:ea typeface="Arial"/>
                <a:cs typeface="Arial"/>
              </a:defRPr>
            </a:lvl9pPr>
          </a:lstStyle>
          <a:p xmlns:a="http://schemas.openxmlformats.org/drawingml/2006/main">
            <a:pPr>
              <a:defRPr sz="1575" b="0">
                <a:solidFill>
                  <a:srgbClr val="625B74"/>
                </a:solidFill>
                <a:latin typeface="Arial"/>
                <a:ea typeface="Arial"/>
                <a:cs typeface="Arial"/>
              </a:defRPr>
            </a:pPr>
            <a:r>
              <a:rPr sz="1575" b="0">
                <a:solidFill>
                  <a:srgbClr val="625B74"/>
                </a:solidFill>
                <a:latin typeface="Arial"/>
                <a:ea typeface="Arial"/>
                <a:cs typeface="Arial"/>
              </a:rPr>
              <a:t>Simulated journeys and emissions. Scores measure relative preference fit.</a:t>
            </a:r>
          </a:p>
        </p:txBody>
      </p:sp>
    </p:spTree>
    <p:extLst>
      <p:ext uri="{BB962C8B-B14F-4D97-AF65-F5344CB8AC3E}">
        <p14:creationId xmlns:p14="http://schemas.microsoft.com/office/powerpoint/2010/main" val="793204863"/>
      </p:ext>
    </p:extLst>
  </p:cSld>
</p:sld>
</file>

<file path=ppt/slides/slide5.xml><?xml version="1.0" encoding="utf-8"?>
<p:sld xmlns:p="http://schemas.openxmlformats.org/presentationml/2006/main">
  <p:cSld>
    <p:bg>
      <p:bgPr>
        <a:solidFill xmlns:a="http://schemas.openxmlformats.org/drawingml/2006/main">
          <a:srgbClr val="24203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32C497E-57A1-49AE-BD40-5DB2A434024B}"/>
              </a:ext>
            </a:extLst>
          </p:cNvPr>
          <p:cNvSpPr>
            <a:spLocks xmlns:a="http://schemas.openxmlformats.org/drawingml/2006/main" noGrp="1"/>
          </p:cNvSpPr>
          <p:nvPr/>
        </p:nvSpPr>
        <p:spPr>
          <a:xfrm xmlns:a="http://schemas.openxmlformats.org/drawingml/2006/main">
            <a:off x="685800" y="514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AI with a source you can open</a:t>
            </a:r>
          </a:p>
        </p:txBody>
      </p:sp>
      <p:sp>
        <p:nvSpPr>
          <p:cNvPr id="2" name="">
            <a:extLst xmlns:a="http://schemas.openxmlformats.org/drawingml/2006/main">
              <a:ext uri="{FF2B5EF4-FFF2-40B4-BE49-F238E27FC236}">
                <a16:creationId xmlns:a16="http://schemas.microsoft.com/office/drawing/2014/main" id="{4AD948D8-D5AF-4780-A455-C1CBF5B34414}"/>
              </a:ext>
            </a:extLst>
          </p:cNvPr>
          <p:cNvSpPr>
            <a:spLocks xmlns:a="http://schemas.openxmlformats.org/drawingml/2006/main" noGrp="1"/>
          </p:cNvSpPr>
          <p:nvPr/>
        </p:nvSpPr>
        <p:spPr>
          <a:xfrm xmlns:a="http://schemas.openxmlformats.org/drawingml/2006/main">
            <a:off x="762000" y="1962150"/>
            <a:ext cx="633412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FFFFFF"/>
                </a:solidFill>
                <a:latin typeface="Arial"/>
                <a:ea typeface="Arial"/>
                <a:cs typeface="Arial"/>
              </a:defRPr>
            </a:defPPr>
            <a:lvl1pPr>
              <a:defRPr sz="3225" b="1">
                <a:solidFill>
                  <a:srgbClr val="FFFFFF"/>
                </a:solidFill>
                <a:latin typeface="Arial"/>
                <a:ea typeface="Arial"/>
                <a:cs typeface="Arial"/>
              </a:defRPr>
            </a:lvl1pPr>
            <a:lvl2pPr>
              <a:defRPr sz="3225" b="1">
                <a:solidFill>
                  <a:srgbClr val="FFFFFF"/>
                </a:solidFill>
                <a:latin typeface="Arial"/>
                <a:ea typeface="Arial"/>
                <a:cs typeface="Arial"/>
              </a:defRPr>
            </a:lvl2pPr>
            <a:lvl3pPr>
              <a:defRPr sz="3225" b="1">
                <a:solidFill>
                  <a:srgbClr val="FFFFFF"/>
                </a:solidFill>
                <a:latin typeface="Arial"/>
                <a:ea typeface="Arial"/>
                <a:cs typeface="Arial"/>
              </a:defRPr>
            </a:lvl3pPr>
            <a:lvl4pPr>
              <a:defRPr sz="3225" b="1">
                <a:solidFill>
                  <a:srgbClr val="FFFFFF"/>
                </a:solidFill>
                <a:latin typeface="Arial"/>
                <a:ea typeface="Arial"/>
                <a:cs typeface="Arial"/>
              </a:defRPr>
            </a:lvl4pPr>
            <a:lvl5pPr>
              <a:defRPr sz="3225" b="1">
                <a:solidFill>
                  <a:srgbClr val="FFFFFF"/>
                </a:solidFill>
                <a:latin typeface="Arial"/>
                <a:ea typeface="Arial"/>
                <a:cs typeface="Arial"/>
              </a:defRPr>
            </a:lvl5pPr>
            <a:lvl6pPr>
              <a:defRPr sz="3225" b="1">
                <a:solidFill>
                  <a:srgbClr val="FFFFFF"/>
                </a:solidFill>
                <a:latin typeface="Arial"/>
                <a:ea typeface="Arial"/>
                <a:cs typeface="Arial"/>
              </a:defRPr>
            </a:lvl6pPr>
            <a:lvl7pPr>
              <a:defRPr sz="3225" b="1">
                <a:solidFill>
                  <a:srgbClr val="FFFFFF"/>
                </a:solidFill>
                <a:latin typeface="Arial"/>
                <a:ea typeface="Arial"/>
                <a:cs typeface="Arial"/>
              </a:defRPr>
            </a:lvl7pPr>
            <a:lvl8pPr>
              <a:defRPr sz="3225" b="1">
                <a:solidFill>
                  <a:srgbClr val="FFFFFF"/>
                </a:solidFill>
                <a:latin typeface="Arial"/>
                <a:ea typeface="Arial"/>
                <a:cs typeface="Arial"/>
              </a:defRPr>
            </a:lvl8pPr>
            <a:lvl9pPr>
              <a:defRPr sz="3225" b="1">
                <a:solidFill>
                  <a:srgbClr val="FFFFFF"/>
                </a:solidFill>
                <a:latin typeface="Arial"/>
                <a:ea typeface="Arial"/>
                <a:cs typeface="Arial"/>
              </a:defRPr>
            </a:lvl9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“The fictional museum opens at 11:00. The entrance has a ramp.”</a:t>
            </a:r>
          </a:p>
        </p:txBody>
      </p:sp>
      <p:sp>
        <p:nvSpPr>
          <p:cNvPr id="3" name="">
            <a:extLst xmlns:a="http://schemas.openxmlformats.org/drawingml/2006/main">
              <a:ext uri="{FF2B5EF4-FFF2-40B4-BE49-F238E27FC236}">
                <a16:creationId xmlns:a16="http://schemas.microsoft.com/office/drawing/2014/main" id="{35F74993-F9F1-47C7-999F-6730A69CD7D7}"/>
              </a:ext>
            </a:extLst>
          </p:cNvPr>
          <p:cNvSpPr>
            <a:spLocks xmlns:a="http://schemas.openxmlformats.org/drawingml/2006/main" noGrp="1"/>
          </p:cNvSpPr>
          <p:nvPr/>
        </p:nvSpPr>
        <p:spPr>
          <a:xfrm xmlns:a="http://schemas.openxmlformats.org/drawingml/2006/main">
            <a:off x="762000" y="4714875"/>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E9C779"/>
                </a:solidFill>
                <a:latin typeface="Arial"/>
                <a:ea typeface="Arial"/>
                <a:cs typeface="Arial"/>
              </a:defRPr>
            </a:defPPr>
            <a:lvl1pPr>
              <a:defRPr sz="1800" b="0">
                <a:solidFill>
                  <a:srgbClr val="E9C779"/>
                </a:solidFill>
                <a:latin typeface="Arial"/>
                <a:ea typeface="Arial"/>
                <a:cs typeface="Arial"/>
              </a:defRPr>
            </a:lvl1pPr>
            <a:lvl2pPr>
              <a:defRPr sz="1800" b="0">
                <a:solidFill>
                  <a:srgbClr val="E9C779"/>
                </a:solidFill>
                <a:latin typeface="Arial"/>
                <a:ea typeface="Arial"/>
                <a:cs typeface="Arial"/>
              </a:defRPr>
            </a:lvl2pPr>
            <a:lvl3pPr>
              <a:defRPr sz="1800" b="0">
                <a:solidFill>
                  <a:srgbClr val="E9C779"/>
                </a:solidFill>
                <a:latin typeface="Arial"/>
                <a:ea typeface="Arial"/>
                <a:cs typeface="Arial"/>
              </a:defRPr>
            </a:lvl3pPr>
            <a:lvl4pPr>
              <a:defRPr sz="1800" b="0">
                <a:solidFill>
                  <a:srgbClr val="E9C779"/>
                </a:solidFill>
                <a:latin typeface="Arial"/>
                <a:ea typeface="Arial"/>
                <a:cs typeface="Arial"/>
              </a:defRPr>
            </a:lvl4pPr>
            <a:lvl5pPr>
              <a:defRPr sz="1800" b="0">
                <a:solidFill>
                  <a:srgbClr val="E9C779"/>
                </a:solidFill>
                <a:latin typeface="Arial"/>
                <a:ea typeface="Arial"/>
                <a:cs typeface="Arial"/>
              </a:defRPr>
            </a:lvl5pPr>
            <a:lvl6pPr>
              <a:defRPr sz="1800" b="0">
                <a:solidFill>
                  <a:srgbClr val="E9C779"/>
                </a:solidFill>
                <a:latin typeface="Arial"/>
                <a:ea typeface="Arial"/>
                <a:cs typeface="Arial"/>
              </a:defRPr>
            </a:lvl6pPr>
            <a:lvl7pPr>
              <a:defRPr sz="1800" b="0">
                <a:solidFill>
                  <a:srgbClr val="E9C779"/>
                </a:solidFill>
                <a:latin typeface="Arial"/>
                <a:ea typeface="Arial"/>
                <a:cs typeface="Arial"/>
              </a:defRPr>
            </a:lvl7pPr>
            <a:lvl8pPr>
              <a:defRPr sz="1800" b="0">
                <a:solidFill>
                  <a:srgbClr val="E9C779"/>
                </a:solidFill>
                <a:latin typeface="Arial"/>
                <a:ea typeface="Arial"/>
                <a:cs typeface="Arial"/>
              </a:defRPr>
            </a:lvl8pPr>
            <a:lvl9pPr>
              <a:defRPr sz="1800" b="0">
                <a:solidFill>
                  <a:srgbClr val="E9C779"/>
                </a:solidFill>
                <a:latin typeface="Arial"/>
                <a:ea typeface="Arial"/>
                <a:cs typeface="Arial"/>
              </a:defRPr>
            </a:lvl9pPr>
          </a:lstStyle>
          <a:p xmlns:a="http://schemas.openxmlformats.org/drawingml/2006/main">
            <a:pPr>
              <a:defRPr sz="1800" b="0">
                <a:solidFill>
                  <a:srgbClr val="E9C779"/>
                </a:solidFill>
                <a:latin typeface="Arial"/>
                <a:ea typeface="Arial"/>
                <a:cs typeface="Arial"/>
              </a:defRPr>
            </a:pPr>
            <a:r>
              <a:rPr sz="1800" b="0">
                <a:solidFill>
                  <a:srgbClr val="E9C779"/>
                </a:solidFill>
                <a:latin typeface="Arial"/>
                <a:ea typeface="Arial"/>
                <a:cs typeface="Arial"/>
              </a:rPr>
              <a:t>Fictional museum guide</a:t>
            </a:r>
          </a:p>
          <a:p xmlns:a="http://schemas.openxmlformats.org/drawingml/2006/main">
            <a:pPr>
              <a:defRPr sz="1800" b="0">
                <a:solidFill>
                  <a:srgbClr val="E9C779"/>
                </a:solidFill>
                <a:latin typeface="Arial"/>
                <a:ea typeface="Arial"/>
                <a:cs typeface="Arial"/>
              </a:defRPr>
            </a:pPr>
            <a:r>
              <a:rPr sz="1800" b="0">
                <a:solidFill>
                  <a:srgbClr val="E9C779"/>
                </a:solidFill>
                <a:latin typeface="Arial"/>
                <a:ea typeface="Arial"/>
                <a:cs typeface="Arial"/>
              </a:rPr>
              <a:t>Mocked-provider example</a:t>
            </a:r>
          </a:p>
        </p:txBody>
      </p:sp>
      <p:sp>
        <p:nvSpPr>
          <p:cNvPr id="4" name="">
            <a:extLst xmlns:a="http://schemas.openxmlformats.org/drawingml/2006/main">
              <a:ext uri="{FF2B5EF4-FFF2-40B4-BE49-F238E27FC236}">
                <a16:creationId xmlns:a16="http://schemas.microsoft.com/office/drawing/2014/main" id="{49C886CC-BD3D-486D-BB84-D3C48D4B6D16}"/>
              </a:ext>
            </a:extLst>
          </p:cNvPr>
          <p:cNvSpPr>
            <a:spLocks xmlns:a="http://schemas.openxmlformats.org/drawingml/2006/main" noGrp="1"/>
          </p:cNvSpPr>
          <p:nvPr/>
        </p:nvSpPr>
        <p:spPr>
          <a:xfrm xmlns:a="http://schemas.openxmlformats.org/drawingml/2006/main">
            <a:off x="7810500" y="1876425"/>
            <a:ext cx="342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E9C779"/>
                </a:solidFill>
                <a:latin typeface="Arial"/>
                <a:ea typeface="Arial"/>
                <a:cs typeface="Arial"/>
              </a:defRPr>
            </a:defPPr>
            <a:lvl1pPr>
              <a:defRPr sz="2400" b="1">
                <a:solidFill>
                  <a:srgbClr val="E9C779"/>
                </a:solidFill>
                <a:latin typeface="Arial"/>
                <a:ea typeface="Arial"/>
                <a:cs typeface="Arial"/>
              </a:defRPr>
            </a:lvl1pPr>
            <a:lvl2pPr>
              <a:defRPr sz="2400" b="1">
                <a:solidFill>
                  <a:srgbClr val="E9C779"/>
                </a:solidFill>
                <a:latin typeface="Arial"/>
                <a:ea typeface="Arial"/>
                <a:cs typeface="Arial"/>
              </a:defRPr>
            </a:lvl2pPr>
            <a:lvl3pPr>
              <a:defRPr sz="2400" b="1">
                <a:solidFill>
                  <a:srgbClr val="E9C779"/>
                </a:solidFill>
                <a:latin typeface="Arial"/>
                <a:ea typeface="Arial"/>
                <a:cs typeface="Arial"/>
              </a:defRPr>
            </a:lvl3pPr>
            <a:lvl4pPr>
              <a:defRPr sz="2400" b="1">
                <a:solidFill>
                  <a:srgbClr val="E9C779"/>
                </a:solidFill>
                <a:latin typeface="Arial"/>
                <a:ea typeface="Arial"/>
                <a:cs typeface="Arial"/>
              </a:defRPr>
            </a:lvl4pPr>
            <a:lvl5pPr>
              <a:defRPr sz="2400" b="1">
                <a:solidFill>
                  <a:srgbClr val="E9C779"/>
                </a:solidFill>
                <a:latin typeface="Arial"/>
                <a:ea typeface="Arial"/>
                <a:cs typeface="Arial"/>
              </a:defRPr>
            </a:lvl5pPr>
            <a:lvl6pPr>
              <a:defRPr sz="2400" b="1">
                <a:solidFill>
                  <a:srgbClr val="E9C779"/>
                </a:solidFill>
                <a:latin typeface="Arial"/>
                <a:ea typeface="Arial"/>
                <a:cs typeface="Arial"/>
              </a:defRPr>
            </a:lvl6pPr>
            <a:lvl7pPr>
              <a:defRPr sz="2400" b="1">
                <a:solidFill>
                  <a:srgbClr val="E9C779"/>
                </a:solidFill>
                <a:latin typeface="Arial"/>
                <a:ea typeface="Arial"/>
                <a:cs typeface="Arial"/>
              </a:defRPr>
            </a:lvl7pPr>
            <a:lvl8pPr>
              <a:defRPr sz="2400" b="1">
                <a:solidFill>
                  <a:srgbClr val="E9C779"/>
                </a:solidFill>
                <a:latin typeface="Arial"/>
                <a:ea typeface="Arial"/>
                <a:cs typeface="Arial"/>
              </a:defRPr>
            </a:lvl8pPr>
            <a:lvl9pPr>
              <a:defRPr sz="2400" b="1">
                <a:solidFill>
                  <a:srgbClr val="E9C779"/>
                </a:solidFill>
                <a:latin typeface="Arial"/>
                <a:ea typeface="Arial"/>
                <a:cs typeface="Arial"/>
              </a:defRPr>
            </a:lvl9pPr>
          </a:lstStyle>
          <a:p xmlns:a="http://schemas.openxmlformats.org/drawingml/2006/main">
            <a:pPr>
              <a:defRPr sz="2400" b="1">
                <a:solidFill>
                  <a:srgbClr val="E9C779"/>
                </a:solidFill>
                <a:latin typeface="Arial"/>
                <a:ea typeface="Arial"/>
                <a:cs typeface="Arial"/>
              </a:defRPr>
            </a:pPr>
            <a:r>
              <a:rPr sz="2400" b="1">
                <a:solidFill>
                  <a:srgbClr val="E9C779"/>
                </a:solidFill>
                <a:latin typeface="Arial"/>
                <a:ea typeface="Arial"/>
                <a:cs typeface="Arial"/>
              </a:rPr>
              <a:t>Your selected evidence</a:t>
            </a:r>
          </a:p>
        </p:txBody>
      </p:sp>
      <p:sp>
        <p:nvSpPr>
          <p:cNvPr id="5" name="">
            <a:extLst xmlns:a="http://schemas.openxmlformats.org/drawingml/2006/main">
              <a:ext uri="{FF2B5EF4-FFF2-40B4-BE49-F238E27FC236}">
                <a16:creationId xmlns:a16="http://schemas.microsoft.com/office/drawing/2014/main" id="{3FC7CDAF-8BF8-4AAF-96BF-52D3D258ED5E}"/>
              </a:ext>
            </a:extLst>
          </p:cNvPr>
          <p:cNvSpPr>
            <a:spLocks xmlns:a="http://schemas.openxmlformats.org/drawingml/2006/main" noGrp="1"/>
          </p:cNvSpPr>
          <p:nvPr/>
        </p:nvSpPr>
        <p:spPr>
          <a:xfrm xmlns:a="http://schemas.openxmlformats.org/drawingml/2006/main">
            <a:off x="7810500" y="2962275"/>
            <a:ext cx="34290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FFFFF"/>
                </a:solidFill>
                <a:latin typeface="Arial"/>
                <a:ea typeface="Arial"/>
                <a:cs typeface="Arial"/>
              </a:defRPr>
            </a:defPPr>
            <a:lvl1pPr>
              <a:defRPr sz="2100" b="0">
                <a:solidFill>
                  <a:srgbClr val="FFFFFF"/>
                </a:solidFill>
                <a:latin typeface="Arial"/>
                <a:ea typeface="Arial"/>
                <a:cs typeface="Arial"/>
              </a:defRPr>
            </a:lvl1pPr>
            <a:lvl2pPr>
              <a:defRPr sz="2100" b="0">
                <a:solidFill>
                  <a:srgbClr val="FFFFFF"/>
                </a:solidFill>
                <a:latin typeface="Arial"/>
                <a:ea typeface="Arial"/>
                <a:cs typeface="Arial"/>
              </a:defRPr>
            </a:lvl2pPr>
            <a:lvl3pPr>
              <a:defRPr sz="2100" b="0">
                <a:solidFill>
                  <a:srgbClr val="FFFFFF"/>
                </a:solidFill>
                <a:latin typeface="Arial"/>
                <a:ea typeface="Arial"/>
                <a:cs typeface="Arial"/>
              </a:defRPr>
            </a:lvl3pPr>
            <a:lvl4pPr>
              <a:defRPr sz="2100" b="0">
                <a:solidFill>
                  <a:srgbClr val="FFFFFF"/>
                </a:solidFill>
                <a:latin typeface="Arial"/>
                <a:ea typeface="Arial"/>
                <a:cs typeface="Arial"/>
              </a:defRPr>
            </a:lvl4pPr>
            <a:lvl5pPr>
              <a:defRPr sz="2100" b="0">
                <a:solidFill>
                  <a:srgbClr val="FFFFFF"/>
                </a:solidFill>
                <a:latin typeface="Arial"/>
                <a:ea typeface="Arial"/>
                <a:cs typeface="Arial"/>
              </a:defRPr>
            </a:lvl5pPr>
            <a:lvl6pPr>
              <a:defRPr sz="2100" b="0">
                <a:solidFill>
                  <a:srgbClr val="FFFFFF"/>
                </a:solidFill>
                <a:latin typeface="Arial"/>
                <a:ea typeface="Arial"/>
                <a:cs typeface="Arial"/>
              </a:defRPr>
            </a:lvl6pPr>
            <a:lvl7pPr>
              <a:defRPr sz="2100" b="0">
                <a:solidFill>
                  <a:srgbClr val="FFFFFF"/>
                </a:solidFill>
                <a:latin typeface="Arial"/>
                <a:ea typeface="Arial"/>
                <a:cs typeface="Arial"/>
              </a:defRPr>
            </a:lvl7pPr>
            <a:lvl8pPr>
              <a:defRPr sz="2100" b="0">
                <a:solidFill>
                  <a:srgbClr val="FFFFFF"/>
                </a:solidFill>
                <a:latin typeface="Arial"/>
                <a:ea typeface="Arial"/>
                <a:cs typeface="Arial"/>
              </a:defRPr>
            </a:lvl8pPr>
            <a:lvl9pPr>
              <a:defRPr sz="2100" b="0">
                <a:solidFill>
                  <a:srgbClr val="FFFFFF"/>
                </a:solidFill>
                <a:latin typeface="Arial"/>
                <a:ea typeface="Arial"/>
                <a:cs typeface="Arial"/>
              </a:defRPr>
            </a:lvl9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Ask a question or request options.</a:t>
            </a:r>
          </a:p>
          <a:p xmlns:a="http://schemas.openxmlformats.org/drawingml/2006/main">
            <a:r>
              <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Open the exact quote in its original context.</a:t>
            </a:r>
          </a:p>
        </p:txBody>
      </p:sp>
      <p:sp>
        <p:nvSpPr>
          <p:cNvPr id="6" name="">
            <a:extLst xmlns:a="http://schemas.openxmlformats.org/drawingml/2006/main">
              <a:ext uri="{FF2B5EF4-FFF2-40B4-BE49-F238E27FC236}">
                <a16:creationId xmlns:a16="http://schemas.microsoft.com/office/drawing/2014/main" id="{F165E565-90A9-4DFC-9F24-C31DE32A05EA}"/>
              </a:ext>
            </a:extLst>
          </p:cNvPr>
          <p:cNvSpPr>
            <a:spLocks xmlns:a="http://schemas.openxmlformats.org/drawingml/2006/main" noGrp="1"/>
          </p:cNvSpPr>
          <p:nvPr/>
        </p:nvSpPr>
        <p:spPr>
          <a:xfrm xmlns:a="http://schemas.openxmlformats.org/drawingml/2006/main">
            <a:off x="762000" y="5991225"/>
            <a:ext cx="1066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FFFFF"/>
                </a:solidFill>
                <a:latin typeface="Arial"/>
                <a:ea typeface="Arial"/>
                <a:cs typeface="Arial"/>
              </a:defRPr>
            </a:defPPr>
            <a:lvl1pPr>
              <a:defRPr sz="1875" b="0">
                <a:solidFill>
                  <a:srgbClr val="FFFFFF"/>
                </a:solidFill>
                <a:latin typeface="Arial"/>
                <a:ea typeface="Arial"/>
                <a:cs typeface="Arial"/>
              </a:defRPr>
            </a:lvl1pPr>
            <a:lvl2pPr>
              <a:defRPr sz="1875" b="0">
                <a:solidFill>
                  <a:srgbClr val="FFFFFF"/>
                </a:solidFill>
                <a:latin typeface="Arial"/>
                <a:ea typeface="Arial"/>
                <a:cs typeface="Arial"/>
              </a:defRPr>
            </a:lvl2pPr>
            <a:lvl3pPr>
              <a:defRPr sz="1875" b="0">
                <a:solidFill>
                  <a:srgbClr val="FFFFFF"/>
                </a:solidFill>
                <a:latin typeface="Arial"/>
                <a:ea typeface="Arial"/>
                <a:cs typeface="Arial"/>
              </a:defRPr>
            </a:lvl3pPr>
            <a:lvl4pPr>
              <a:defRPr sz="1875" b="0">
                <a:solidFill>
                  <a:srgbClr val="FFFFFF"/>
                </a:solidFill>
                <a:latin typeface="Arial"/>
                <a:ea typeface="Arial"/>
                <a:cs typeface="Arial"/>
              </a:defRPr>
            </a:lvl4pPr>
            <a:lvl5pPr>
              <a:defRPr sz="1875" b="0">
                <a:solidFill>
                  <a:srgbClr val="FFFFFF"/>
                </a:solidFill>
                <a:latin typeface="Arial"/>
                <a:ea typeface="Arial"/>
                <a:cs typeface="Arial"/>
              </a:defRPr>
            </a:lvl5pPr>
            <a:lvl6pPr>
              <a:defRPr sz="1875" b="0">
                <a:solidFill>
                  <a:srgbClr val="FFFFFF"/>
                </a:solidFill>
                <a:latin typeface="Arial"/>
                <a:ea typeface="Arial"/>
                <a:cs typeface="Arial"/>
              </a:defRPr>
            </a:lvl6pPr>
            <a:lvl7pPr>
              <a:defRPr sz="1875" b="0">
                <a:solidFill>
                  <a:srgbClr val="FFFFFF"/>
                </a:solidFill>
                <a:latin typeface="Arial"/>
                <a:ea typeface="Arial"/>
                <a:cs typeface="Arial"/>
              </a:defRPr>
            </a:lvl7pPr>
            <a:lvl8pPr>
              <a:defRPr sz="1875" b="0">
                <a:solidFill>
                  <a:srgbClr val="FFFFFF"/>
                </a:solidFill>
                <a:latin typeface="Arial"/>
                <a:ea typeface="Arial"/>
                <a:cs typeface="Arial"/>
              </a:defRPr>
            </a:lvl8pPr>
            <a:lvl9pPr>
              <a:defRPr sz="1875" b="0">
                <a:solidFill>
                  <a:srgbClr val="FFFFFF"/>
                </a:solidFill>
                <a:latin typeface="Arial"/>
                <a:ea typeface="Arial"/>
                <a:cs typeface="Arial"/>
              </a:defRPr>
            </a:lvl9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Quote validation checks source membership. People still judge the answer.</a:t>
            </a:r>
          </a:p>
        </p:txBody>
      </p:sp>
    </p:spTree>
    <p:extLst>
      <p:ext uri="{BB962C8B-B14F-4D97-AF65-F5344CB8AC3E}">
        <p14:creationId xmlns:p14="http://schemas.microsoft.com/office/powerpoint/2010/main" val="1437817060"/>
      </p:ext>
    </p:extLst>
  </p:cSld>
</p:sld>
</file>

<file path=ppt/slides/slide6.xml><?xml version="1.0" encoding="utf-8"?>
<p:sld xmlns:p="http://schemas.openxmlformats.org/presentationml/2006/main">
  <p:cSld>
    <p:bg>
      <p:bgPr>
        <a:solidFill xmlns:a="http://schemas.openxmlformats.org/drawingml/2006/main">
          <a:srgbClr val="F7F6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7AC5B36-F273-4A9E-BF99-884F22713E1B}"/>
              </a:ext>
            </a:extLst>
          </p:cNvPr>
          <p:cNvSpPr>
            <a:spLocks xmlns:a="http://schemas.openxmlformats.org/drawingml/2006/main" noGrp="1"/>
          </p:cNvSpPr>
          <p:nvPr/>
        </p:nvSpPr>
        <p:spPr>
          <a:xfrm xmlns:a="http://schemas.openxmlformats.org/drawingml/2006/main">
            <a:off x="685800" y="514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42039"/>
                </a:solidFill>
                <a:latin typeface="Arial"/>
                <a:ea typeface="Arial"/>
                <a:cs typeface="Arial"/>
              </a:defRPr>
            </a:defPPr>
            <a:lvl1pPr>
              <a:defRPr sz="3450" b="1">
                <a:solidFill>
                  <a:srgbClr val="242039"/>
                </a:solidFill>
                <a:latin typeface="Arial"/>
                <a:ea typeface="Arial"/>
                <a:cs typeface="Arial"/>
              </a:defRPr>
            </a:lvl1pPr>
            <a:lvl2pPr>
              <a:defRPr sz="3450" b="1">
                <a:solidFill>
                  <a:srgbClr val="242039"/>
                </a:solidFill>
                <a:latin typeface="Arial"/>
                <a:ea typeface="Arial"/>
                <a:cs typeface="Arial"/>
              </a:defRPr>
            </a:lvl2pPr>
            <a:lvl3pPr>
              <a:defRPr sz="3450" b="1">
                <a:solidFill>
                  <a:srgbClr val="242039"/>
                </a:solidFill>
                <a:latin typeface="Arial"/>
                <a:ea typeface="Arial"/>
                <a:cs typeface="Arial"/>
              </a:defRPr>
            </a:lvl3pPr>
            <a:lvl4pPr>
              <a:defRPr sz="3450" b="1">
                <a:solidFill>
                  <a:srgbClr val="242039"/>
                </a:solidFill>
                <a:latin typeface="Arial"/>
                <a:ea typeface="Arial"/>
                <a:cs typeface="Arial"/>
              </a:defRPr>
            </a:lvl4pPr>
            <a:lvl5pPr>
              <a:defRPr sz="3450" b="1">
                <a:solidFill>
                  <a:srgbClr val="242039"/>
                </a:solidFill>
                <a:latin typeface="Arial"/>
                <a:ea typeface="Arial"/>
                <a:cs typeface="Arial"/>
              </a:defRPr>
            </a:lvl5pPr>
            <a:lvl6pPr>
              <a:defRPr sz="3450" b="1">
                <a:solidFill>
                  <a:srgbClr val="242039"/>
                </a:solidFill>
                <a:latin typeface="Arial"/>
                <a:ea typeface="Arial"/>
                <a:cs typeface="Arial"/>
              </a:defRPr>
            </a:lvl6pPr>
            <a:lvl7pPr>
              <a:defRPr sz="3450" b="1">
                <a:solidFill>
                  <a:srgbClr val="242039"/>
                </a:solidFill>
                <a:latin typeface="Arial"/>
                <a:ea typeface="Arial"/>
                <a:cs typeface="Arial"/>
              </a:defRPr>
            </a:lvl7pPr>
            <a:lvl8pPr>
              <a:defRPr sz="3450" b="1">
                <a:solidFill>
                  <a:srgbClr val="242039"/>
                </a:solidFill>
                <a:latin typeface="Arial"/>
                <a:ea typeface="Arial"/>
                <a:cs typeface="Arial"/>
              </a:defRPr>
            </a:lvl8pPr>
            <a:lvl9pPr>
              <a:defRPr sz="3450" b="1">
                <a:solidFill>
                  <a:srgbClr val="242039"/>
                </a:solidFill>
                <a:latin typeface="Arial"/>
                <a:ea typeface="Arial"/>
                <a:cs typeface="Arial"/>
              </a:defRPr>
            </a:lvl9pPr>
          </a:lstStyle>
          <a:p xmlns:a="http://schemas.openxmlformats.org/drawingml/2006/main">
            <a:pPr>
              <a:defRPr sz="3450" b="1">
                <a:solidFill>
                  <a:srgbClr val="242039"/>
                </a:solidFill>
                <a:latin typeface="Arial"/>
                <a:ea typeface="Arial"/>
                <a:cs typeface="Arial"/>
              </a:defRPr>
            </a:pPr>
            <a:r>
              <a:rPr sz="3450" b="1">
                <a:solidFill>
                  <a:srgbClr val="242039"/>
                </a:solidFill>
                <a:latin typeface="Arial"/>
                <a:ea typeface="Arial"/>
                <a:cs typeface="Arial"/>
              </a:rPr>
              <a:t>One interface, two editions</a:t>
            </a:r>
          </a:p>
        </p:txBody>
      </p:sp>
      <p:graphicFrame>
        <p:nvGraphicFramePr>
          <p:cNvPr id="2" name="">
            <a:extLst xmlns:a="http://schemas.openxmlformats.org/drawingml/2006/main">
              <a:ext uri="{FF2B5EF4-FFF2-40B4-BE49-F238E27FC236}">
                <a16:creationId xmlns:a16="http://schemas.microsoft.com/office/drawing/2014/main" id="{CDC35F40-ADD6-4873-836E-0626F5F0C266}"/>
              </a:ext>
            </a:extLst>
          </p:cNvPr>
          <p:cNvGraphicFramePr/>
          <p:nvPr/>
        </p:nvGraphicFramePr>
        <p:xfrm>
          <a:off xmlns:a="http://schemas.openxmlformats.org/drawingml/2006/main" x="762000" y="1676400"/>
          <a:ext xmlns:a="http://schemas.openxmlformats.org/drawingml/2006/main" cx="10668000" cy="3333750"/>
        </p:xfrm>
        <a:graphic xmlns:a="http://schemas.openxmlformats.org/drawingml/2006/main">
          <a:graphicData uri="http://schemas.openxmlformats.org/drawingml/2006/table">
            <a:tbl>
              <a:tblPr/>
              <a:tblGrid>
                <a:gridCol w="2286000"/>
                <a:gridCol w="4191000"/>
                <a:gridCol w="4191000"/>
              </a:tblGrid>
              <a:tr h="666750">
                <a:tc>
                  <a:txBody>
                    <a:bodyPr lIns="133350" tIns="133350" rIns="133350" bIns="133350"/>
                    <a:lstStyle/>
                    <a:p>
                      <a:r>
                        <a:rPr sz="1875" b="1">
                          <a:solidFill>
                            <a:srgbClr val="FFFFFF"/>
                          </a:solidFill>
                          <a:latin typeface="Arial"/>
                          <a:ea typeface="Arial"/>
                          <a:cs typeface="Arial"/>
                        </a:rPr>
                        <a:t/>
                      </a:r>
                    </a:p>
                  </a:txBody>
                  <a:tcPr marL="91440" marR="91440" marT="45720" marB="45720" anchor="ctr">
                    <a:lnL w="6668">
                      <a:solidFill>
                        <a:srgbClr val="D8D2E5"/>
                      </a:solidFill>
                      <a:prstDash val="solid"/>
                    </a:lnL>
                    <a:lnR w="6668">
                      <a:solidFill>
                        <a:srgbClr val="D8D2E5"/>
                      </a:solidFill>
                      <a:prstDash val="solid"/>
                    </a:lnR>
                    <a:lnT w="6668">
                      <a:solidFill>
                        <a:srgbClr val="D8D2E5"/>
                      </a:solidFill>
                      <a:prstDash val="solid"/>
                    </a:lnT>
                    <a:lnB w="6668">
                      <a:solidFill>
                        <a:srgbClr val="D8D2E5"/>
                      </a:solidFill>
                      <a:prstDash val="solid"/>
                    </a:lnB>
                    <a:solidFill>
                      <a:srgbClr val="58458D"/>
                    </a:solidFill>
                  </a:tcPr>
                </a:tc>
                <a:tc>
                  <a:txBody>
                    <a:bodyPr lIns="133350" tIns="133350" rIns="133350" bIns="133350"/>
                    <a:lstStyle/>
                    <a:p>
                      <a:r>
                        <a:rPr sz="1875" b="1">
                          <a:solidFill>
                            <a:srgbClr val="FFFFFF"/>
                          </a:solidFill>
                          <a:latin typeface="Arial"/>
                          <a:ea typeface="Arial"/>
                          <a:cs typeface="Arial"/>
                        </a:rPr>
                        <a:t>Browser</a:t>
                      </a:r>
                    </a:p>
                  </a:txBody>
                  <a:tcPr marL="91440" marR="91440" marT="45720" marB="45720" anchor="ctr">
                    <a:lnR w="6668">
                      <a:solidFill>
                        <a:srgbClr val="D8D2E5"/>
                      </a:solidFill>
                      <a:prstDash val="solid"/>
                    </a:lnR>
                    <a:lnT w="6668">
                      <a:solidFill>
                        <a:srgbClr val="D8D2E5"/>
                      </a:solidFill>
                      <a:prstDash val="solid"/>
                    </a:lnT>
                    <a:lnB w="6668">
                      <a:solidFill>
                        <a:srgbClr val="D8D2E5"/>
                      </a:solidFill>
                      <a:prstDash val="solid"/>
                    </a:lnB>
                    <a:solidFill>
                      <a:srgbClr val="58458D"/>
                    </a:solidFill>
                  </a:tcPr>
                </a:tc>
                <a:tc>
                  <a:txBody>
                    <a:bodyPr lIns="133350" tIns="133350" rIns="133350" bIns="133350"/>
                    <a:lstStyle/>
                    <a:p>
                      <a:r>
                        <a:rPr sz="1875" b="1">
                          <a:solidFill>
                            <a:srgbClr val="FFFFFF"/>
                          </a:solidFill>
                          <a:latin typeface="Arial"/>
                          <a:ea typeface="Arial"/>
                          <a:cs typeface="Arial"/>
                        </a:rPr>
                        <a:t>Electron desktop</a:t>
                      </a:r>
                    </a:p>
                  </a:txBody>
                  <a:tcPr marL="91440" marR="91440" marT="45720" marB="45720" anchor="ctr">
                    <a:lnR w="6668">
                      <a:solidFill>
                        <a:srgbClr val="D8D2E5"/>
                      </a:solidFill>
                      <a:prstDash val="solid"/>
                    </a:lnR>
                    <a:lnT w="6668">
                      <a:solidFill>
                        <a:srgbClr val="D8D2E5"/>
                      </a:solidFill>
                      <a:prstDash val="solid"/>
                    </a:lnT>
                    <a:lnB w="6668">
                      <a:solidFill>
                        <a:srgbClr val="D8D2E5"/>
                      </a:solidFill>
                      <a:prstDash val="solid"/>
                    </a:lnB>
                    <a:solidFill>
                      <a:srgbClr val="58458D"/>
                    </a:solidFill>
                  </a:tcPr>
                </a:tc>
              </a:tr>
              <a:tr h="666750">
                <a:tc>
                  <a:txBody>
                    <a:bodyPr lIns="133350" tIns="133350" rIns="133350" bIns="133350"/>
                    <a:lstStyle/>
                    <a:p>
                      <a:r>
                        <a:rPr sz="1950" b="0">
                          <a:solidFill>
                            <a:srgbClr val="242039"/>
                          </a:solidFill>
                          <a:latin typeface="Arial"/>
                          <a:ea typeface="Arial"/>
                          <a:cs typeface="Arial"/>
                        </a:rPr>
                        <a:t>Interface</a:t>
                      </a:r>
                    </a:p>
                  </a:txBody>
                  <a:tcPr marL="91440" marR="91440" marT="45720" marB="45720" anchor="ctr">
                    <a:lnL w="6668">
                      <a:solidFill>
                        <a:srgbClr val="D8D2E5"/>
                      </a:solidFill>
                      <a:prstDash val="solid"/>
                    </a:lnL>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950" b="0">
                          <a:solidFill>
                            <a:srgbClr val="242039"/>
                          </a:solidFill>
                          <a:latin typeface="Arial"/>
                          <a:ea typeface="Arial"/>
                          <a:cs typeface="Arial"/>
                        </a:rPr>
                        <a:t>Shared web interface</a:t>
                      </a:r>
                    </a:p>
                  </a:txBody>
                  <a:tcPr marL="91440" marR="91440" marT="45720" marB="45720" anchor="ctr">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950" b="0">
                          <a:solidFill>
                            <a:srgbClr val="242039"/>
                          </a:solidFill>
                          <a:latin typeface="Arial"/>
                          <a:ea typeface="Arial"/>
                          <a:cs typeface="Arial"/>
                        </a:rPr>
                        <a:t>Shared web interface</a:t>
                      </a:r>
                    </a:p>
                  </a:txBody>
                  <a:tcPr marL="91440" marR="91440" marT="45720" marB="45720" anchor="ctr">
                    <a:lnR w="6668">
                      <a:solidFill>
                        <a:srgbClr val="D8D2E5"/>
                      </a:solidFill>
                      <a:prstDash val="solid"/>
                    </a:lnR>
                    <a:lnB w="6668">
                      <a:solidFill>
                        <a:srgbClr val="D8D2E5"/>
                      </a:solidFill>
                      <a:prstDash val="solid"/>
                    </a:lnB>
                    <a:solidFill>
                      <a:srgbClr val="FFFFFF"/>
                    </a:solidFill>
                  </a:tcPr>
                </a:tc>
              </a:tr>
              <a:tr h="666750">
                <a:tc>
                  <a:txBody>
                    <a:bodyPr lIns="133350" tIns="133350" rIns="133350" bIns="133350"/>
                    <a:lstStyle/>
                    <a:p>
                      <a:r>
                        <a:rPr sz="1950" b="0">
                          <a:solidFill>
                            <a:srgbClr val="242039"/>
                          </a:solidFill>
                          <a:latin typeface="Arial"/>
                          <a:ea typeface="Arial"/>
                          <a:cs typeface="Arial"/>
                        </a:rPr>
                        <a:t>Calculation</a:t>
                      </a:r>
                    </a:p>
                  </a:txBody>
                  <a:tcPr marL="91440" marR="91440" marT="45720" marB="45720" anchor="ctr">
                    <a:lnL w="6668">
                      <a:solidFill>
                        <a:srgbClr val="D8D2E5"/>
                      </a:solidFill>
                      <a:prstDash val="solid"/>
                    </a:lnL>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1950" b="0">
                          <a:solidFill>
                            <a:srgbClr val="242039"/>
                          </a:solidFill>
                          <a:latin typeface="Arial"/>
                          <a:ea typeface="Arial"/>
                          <a:cs typeface="Arial"/>
                        </a:rPr>
                        <a:t>Equivalent JavaScript</a:t>
                      </a:r>
                    </a:p>
                  </a:txBody>
                  <a:tcPr marL="91440" marR="91440" marT="45720" marB="45720" anchor="ctr">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1950" b="0">
                          <a:solidFill>
                            <a:srgbClr val="242039"/>
                          </a:solidFill>
                          <a:latin typeface="Arial"/>
                          <a:ea typeface="Arial"/>
                          <a:cs typeface="Arial"/>
                        </a:rPr>
                        <a:t>Local Python API</a:t>
                      </a:r>
                    </a:p>
                  </a:txBody>
                  <a:tcPr marL="91440" marR="91440" marT="45720" marB="45720" anchor="ctr">
                    <a:lnR w="6668">
                      <a:solidFill>
                        <a:srgbClr val="D8D2E5"/>
                      </a:solidFill>
                      <a:prstDash val="solid"/>
                    </a:lnR>
                    <a:lnB w="6668">
                      <a:solidFill>
                        <a:srgbClr val="D8D2E5"/>
                      </a:solidFill>
                      <a:prstDash val="solid"/>
                    </a:lnB>
                    <a:solidFill>
                      <a:srgbClr val="ECE7F8"/>
                    </a:solidFill>
                  </a:tcPr>
                </a:tc>
              </a:tr>
              <a:tr h="666750">
                <a:tc>
                  <a:txBody>
                    <a:bodyPr lIns="133350" tIns="133350" rIns="133350" bIns="133350"/>
                    <a:lstStyle/>
                    <a:p>
                      <a:r>
                        <a:rPr sz="1950" b="0">
                          <a:solidFill>
                            <a:srgbClr val="242039"/>
                          </a:solidFill>
                          <a:latin typeface="Arial"/>
                          <a:ea typeface="Arial"/>
                          <a:cs typeface="Arial"/>
                        </a:rPr>
                        <a:t>Source library</a:t>
                      </a:r>
                    </a:p>
                  </a:txBody>
                  <a:tcPr marL="91440" marR="91440" marT="45720" marB="45720" anchor="ctr">
                    <a:lnL w="6668">
                      <a:solidFill>
                        <a:srgbClr val="D8D2E5"/>
                      </a:solidFill>
                      <a:prstDash val="solid"/>
                    </a:lnL>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950" b="0">
                          <a:solidFill>
                            <a:srgbClr val="242039"/>
                          </a:solidFill>
                          <a:latin typeface="Arial"/>
                          <a:ea typeface="Arial"/>
                          <a:cs typeface="Arial"/>
                        </a:rPr>
                        <a:t>Local IndexedDB</a:t>
                      </a:r>
                    </a:p>
                  </a:txBody>
                  <a:tcPr marL="91440" marR="91440" marT="45720" marB="45720" anchor="ctr">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950" b="0">
                          <a:solidFill>
                            <a:srgbClr val="242039"/>
                          </a:solidFill>
                          <a:latin typeface="Arial"/>
                          <a:ea typeface="Arial"/>
                          <a:cs typeface="Arial"/>
                        </a:rPr>
                        <a:t>Local SQLite</a:t>
                      </a:r>
                    </a:p>
                  </a:txBody>
                  <a:tcPr marL="91440" marR="91440" marT="45720" marB="45720" anchor="ctr">
                    <a:lnR w="6668">
                      <a:solidFill>
                        <a:srgbClr val="D8D2E5"/>
                      </a:solidFill>
                      <a:prstDash val="solid"/>
                    </a:lnR>
                    <a:lnB w="6668">
                      <a:solidFill>
                        <a:srgbClr val="D8D2E5"/>
                      </a:solidFill>
                      <a:prstDash val="solid"/>
                    </a:lnB>
                    <a:solidFill>
                      <a:srgbClr val="FFFFFF"/>
                    </a:solidFill>
                  </a:tcPr>
                </a:tc>
              </a:tr>
              <a:tr h="666750">
                <a:tc>
                  <a:txBody>
                    <a:bodyPr lIns="133350" tIns="133350" rIns="133350" bIns="133350"/>
                    <a:lstStyle/>
                    <a:p>
                      <a:r>
                        <a:rPr sz="1950" b="0">
                          <a:solidFill>
                            <a:srgbClr val="242039"/>
                          </a:solidFill>
                          <a:latin typeface="Arial"/>
                          <a:ea typeface="Arial"/>
                          <a:cs typeface="Arial"/>
                        </a:rPr>
                        <a:t>Evidence help</a:t>
                      </a:r>
                    </a:p>
                  </a:txBody>
                  <a:tcPr marL="91440" marR="91440" marT="45720" marB="45720" anchor="ctr">
                    <a:lnL w="6668">
                      <a:solidFill>
                        <a:srgbClr val="D8D2E5"/>
                      </a:solidFill>
                      <a:prstDash val="solid"/>
                    </a:lnL>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1950" b="0">
                          <a:solidFill>
                            <a:srgbClr val="242039"/>
                          </a:solidFill>
                          <a:latin typeface="Arial"/>
                          <a:ea typeface="Arial"/>
                          <a:cs typeface="Arial"/>
                        </a:rPr>
                        <a:t>Original passage search</a:t>
                      </a:r>
                    </a:p>
                  </a:txBody>
                  <a:tcPr marL="91440" marR="91440" marT="45720" marB="45720" anchor="ctr">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1950" b="0">
                          <a:solidFill>
                            <a:srgbClr val="242039"/>
                          </a:solidFill>
                          <a:latin typeface="Arial"/>
                          <a:ea typeface="Arial"/>
                          <a:cs typeface="Arial"/>
                        </a:rPr>
                        <a:t>Optional cited cloud AI</a:t>
                      </a:r>
                    </a:p>
                  </a:txBody>
                  <a:tcPr marL="91440" marR="91440" marT="45720" marB="45720" anchor="ctr">
                    <a:lnR w="6668">
                      <a:solidFill>
                        <a:srgbClr val="D8D2E5"/>
                      </a:solidFill>
                      <a:prstDash val="solid"/>
                    </a:lnR>
                    <a:lnB w="6668">
                      <a:solidFill>
                        <a:srgbClr val="D8D2E5"/>
                      </a:solidFill>
                      <a:prstDash val="solid"/>
                    </a:lnB>
                    <a:solidFill>
                      <a:srgbClr val="ECE7F8"/>
                    </a:solidFill>
                  </a:tcPr>
                </a:tc>
              </a:tr>
            </a:tbl>
          </a:graphicData>
        </a:graphic>
      </p:graphicFrame>
      <p:sp>
        <p:nvSpPr>
          <p:cNvPr id="3" name="">
            <a:extLst xmlns:a="http://schemas.openxmlformats.org/drawingml/2006/main">
              <a:ext uri="{FF2B5EF4-FFF2-40B4-BE49-F238E27FC236}">
                <a16:creationId xmlns:a16="http://schemas.microsoft.com/office/drawing/2014/main" id="{64CED26C-E606-498E-92A8-7976D61586EE}"/>
              </a:ext>
            </a:extLst>
          </p:cNvPr>
          <p:cNvSpPr>
            <a:spLocks xmlns:a="http://schemas.openxmlformats.org/drawingml/2006/main" noGrp="1"/>
          </p:cNvSpPr>
          <p:nvPr/>
        </p:nvSpPr>
        <p:spPr>
          <a:xfrm xmlns:a="http://schemas.openxmlformats.org/drawingml/2006/main">
            <a:off x="762000" y="5362575"/>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58458D"/>
                </a:solidFill>
                <a:latin typeface="Arial"/>
                <a:ea typeface="Arial"/>
                <a:cs typeface="Arial"/>
              </a:defRPr>
            </a:defPPr>
            <a:lvl1pPr>
              <a:defRPr sz="1950" b="1">
                <a:solidFill>
                  <a:srgbClr val="58458D"/>
                </a:solidFill>
                <a:latin typeface="Arial"/>
                <a:ea typeface="Arial"/>
                <a:cs typeface="Arial"/>
              </a:defRPr>
            </a:lvl1pPr>
            <a:lvl2pPr>
              <a:defRPr sz="1950" b="1">
                <a:solidFill>
                  <a:srgbClr val="58458D"/>
                </a:solidFill>
                <a:latin typeface="Arial"/>
                <a:ea typeface="Arial"/>
                <a:cs typeface="Arial"/>
              </a:defRPr>
            </a:lvl2pPr>
            <a:lvl3pPr>
              <a:defRPr sz="1950" b="1">
                <a:solidFill>
                  <a:srgbClr val="58458D"/>
                </a:solidFill>
                <a:latin typeface="Arial"/>
                <a:ea typeface="Arial"/>
                <a:cs typeface="Arial"/>
              </a:defRPr>
            </a:lvl3pPr>
            <a:lvl4pPr>
              <a:defRPr sz="1950" b="1">
                <a:solidFill>
                  <a:srgbClr val="58458D"/>
                </a:solidFill>
                <a:latin typeface="Arial"/>
                <a:ea typeface="Arial"/>
                <a:cs typeface="Arial"/>
              </a:defRPr>
            </a:lvl4pPr>
            <a:lvl5pPr>
              <a:defRPr sz="1950" b="1">
                <a:solidFill>
                  <a:srgbClr val="58458D"/>
                </a:solidFill>
                <a:latin typeface="Arial"/>
                <a:ea typeface="Arial"/>
                <a:cs typeface="Arial"/>
              </a:defRPr>
            </a:lvl5pPr>
            <a:lvl6pPr>
              <a:defRPr sz="1950" b="1">
                <a:solidFill>
                  <a:srgbClr val="58458D"/>
                </a:solidFill>
                <a:latin typeface="Arial"/>
                <a:ea typeface="Arial"/>
                <a:cs typeface="Arial"/>
              </a:defRPr>
            </a:lvl6pPr>
            <a:lvl7pPr>
              <a:defRPr sz="1950" b="1">
                <a:solidFill>
                  <a:srgbClr val="58458D"/>
                </a:solidFill>
                <a:latin typeface="Arial"/>
                <a:ea typeface="Arial"/>
                <a:cs typeface="Arial"/>
              </a:defRPr>
            </a:lvl7pPr>
            <a:lvl8pPr>
              <a:defRPr sz="1950" b="1">
                <a:solidFill>
                  <a:srgbClr val="58458D"/>
                </a:solidFill>
                <a:latin typeface="Arial"/>
                <a:ea typeface="Arial"/>
                <a:cs typeface="Arial"/>
              </a:defRPr>
            </a:lvl8pPr>
            <a:lvl9pPr>
              <a:defRPr sz="1950" b="1">
                <a:solidFill>
                  <a:srgbClr val="58458D"/>
                </a:solidFill>
                <a:latin typeface="Arial"/>
                <a:ea typeface="Arial"/>
                <a:cs typeface="Arial"/>
              </a:defRPr>
            </a:lvl9pPr>
          </a:lstStyle>
          <a:p xmlns:a="http://schemas.openxmlformats.org/drawingml/2006/main">
            <a:pPr>
              <a:defRPr sz="1950" b="1">
                <a:solidFill>
                  <a:srgbClr val="58458D"/>
                </a:solidFill>
                <a:latin typeface="Arial"/>
                <a:ea typeface="Arial"/>
                <a:cs typeface="Arial"/>
              </a:defRPr>
            </a:pPr>
            <a:r>
              <a:rPr sz="1950" b="1">
                <a:solidFill>
                  <a:srgbClr val="58458D"/>
                </a:solidFill>
                <a:latin typeface="Arial"/>
                <a:ea typeface="Arial"/>
                <a:cs typeface="Arial"/>
              </a:rPr>
              <a:t>The desktop identifies the selected AI recipient. Keys are encrypted on this device.</a:t>
            </a:r>
          </a:p>
          <a:p xmlns:a="http://schemas.openxmlformats.org/drawingml/2006/main">
            <a:pPr>
              <a:defRPr sz="1950" b="1">
                <a:solidFill>
                  <a:srgbClr val="58458D"/>
                </a:solidFill>
                <a:latin typeface="Arial"/>
                <a:ea typeface="Arial"/>
                <a:cs typeface="Arial"/>
              </a:defRPr>
            </a:pPr>
            <a:r>
              <a:rPr sz="1950" b="1">
                <a:solidFill>
                  <a:srgbClr val="58458D"/>
                </a:solidFill>
                <a:latin typeface="Arial"/>
                <a:ea typeface="Arial"/>
                <a:cs typeface="Arial"/>
              </a:rPr>
              <a:t>Calculated comparisons stay available when AI fails.</a:t>
            </a:r>
          </a:p>
        </p:txBody>
      </p:sp>
      <p:sp>
        <p:nvSpPr>
          <p:cNvPr id="4" name="">
            <a:extLst xmlns:a="http://schemas.openxmlformats.org/drawingml/2006/main">
              <a:ext uri="{FF2B5EF4-FFF2-40B4-BE49-F238E27FC236}">
                <a16:creationId xmlns:a16="http://schemas.microsoft.com/office/drawing/2014/main" id="{92990425-6109-48E3-877E-21883B33F204}"/>
              </a:ext>
            </a:extLst>
          </p:cNvPr>
          <p:cNvSpPr>
            <a:spLocks xmlns:a="http://schemas.openxmlformats.org/drawingml/2006/main" noGrp="1"/>
          </p:cNvSpPr>
          <p:nvPr/>
        </p:nvSpPr>
        <p:spPr>
          <a:xfrm xmlns:a="http://schemas.openxmlformats.org/drawingml/2006/main">
            <a:off x="762000" y="6334125"/>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25B74"/>
                </a:solidFill>
                <a:latin typeface="Arial"/>
                <a:ea typeface="Arial"/>
                <a:cs typeface="Arial"/>
              </a:defRPr>
            </a:defPPr>
            <a:lvl1pPr>
              <a:defRPr sz="1725" b="0">
                <a:solidFill>
                  <a:srgbClr val="625B74"/>
                </a:solidFill>
                <a:latin typeface="Arial"/>
                <a:ea typeface="Arial"/>
                <a:cs typeface="Arial"/>
              </a:defRPr>
            </a:lvl1pPr>
            <a:lvl2pPr>
              <a:defRPr sz="1725" b="0">
                <a:solidFill>
                  <a:srgbClr val="625B74"/>
                </a:solidFill>
                <a:latin typeface="Arial"/>
                <a:ea typeface="Arial"/>
                <a:cs typeface="Arial"/>
              </a:defRPr>
            </a:lvl2pPr>
            <a:lvl3pPr>
              <a:defRPr sz="1725" b="0">
                <a:solidFill>
                  <a:srgbClr val="625B74"/>
                </a:solidFill>
                <a:latin typeface="Arial"/>
                <a:ea typeface="Arial"/>
                <a:cs typeface="Arial"/>
              </a:defRPr>
            </a:lvl3pPr>
            <a:lvl4pPr>
              <a:defRPr sz="1725" b="0">
                <a:solidFill>
                  <a:srgbClr val="625B74"/>
                </a:solidFill>
                <a:latin typeface="Arial"/>
                <a:ea typeface="Arial"/>
                <a:cs typeface="Arial"/>
              </a:defRPr>
            </a:lvl4pPr>
            <a:lvl5pPr>
              <a:defRPr sz="1725" b="0">
                <a:solidFill>
                  <a:srgbClr val="625B74"/>
                </a:solidFill>
                <a:latin typeface="Arial"/>
                <a:ea typeface="Arial"/>
                <a:cs typeface="Arial"/>
              </a:defRPr>
            </a:lvl5pPr>
            <a:lvl6pPr>
              <a:defRPr sz="1725" b="0">
                <a:solidFill>
                  <a:srgbClr val="625B74"/>
                </a:solidFill>
                <a:latin typeface="Arial"/>
                <a:ea typeface="Arial"/>
                <a:cs typeface="Arial"/>
              </a:defRPr>
            </a:lvl6pPr>
            <a:lvl7pPr>
              <a:defRPr sz="1725" b="0">
                <a:solidFill>
                  <a:srgbClr val="625B74"/>
                </a:solidFill>
                <a:latin typeface="Arial"/>
                <a:ea typeface="Arial"/>
                <a:cs typeface="Arial"/>
              </a:defRPr>
            </a:lvl7pPr>
            <a:lvl8pPr>
              <a:defRPr sz="1725" b="0">
                <a:solidFill>
                  <a:srgbClr val="625B74"/>
                </a:solidFill>
                <a:latin typeface="Arial"/>
                <a:ea typeface="Arial"/>
                <a:cs typeface="Arial"/>
              </a:defRPr>
            </a:lvl8pPr>
            <a:lvl9pPr>
              <a:defRPr sz="1725" b="0">
                <a:solidFill>
                  <a:srgbClr val="625B74"/>
                </a:solidFill>
                <a:latin typeface="Arial"/>
                <a:ea typeface="Arial"/>
                <a:cs typeface="Arial"/>
              </a:defRPr>
            </a:lvl9pPr>
          </a:lstStyle>
          <a:p xmlns:a="http://schemas.openxmlformats.org/drawingml/2006/main">
            <a:pPr>
              <a:defRPr sz="1725" b="0">
                <a:solidFill>
                  <a:srgbClr val="625B74"/>
                </a:solidFill>
                <a:latin typeface="Arial"/>
                <a:ea typeface="Arial"/>
                <a:cs typeface="Arial"/>
              </a:defRPr>
            </a:pPr>
            <a:r>
              <a:rPr sz="1725" b="0">
                <a:solidFill>
                  <a:srgbClr val="625B74"/>
                </a:solidFill>
                <a:latin typeface="Arial"/>
                <a:ea typeface="Arial"/>
                <a:cs typeface="Arial"/>
              </a:rPr>
              <a:t>Theo: backend     Wahab: frontend and desktop interface</a:t>
            </a:r>
          </a:p>
        </p:txBody>
      </p:sp>
    </p:spTree>
    <p:extLst>
      <p:ext uri="{BB962C8B-B14F-4D97-AF65-F5344CB8AC3E}">
        <p14:creationId xmlns:p14="http://schemas.microsoft.com/office/powerpoint/2010/main" val="510552264"/>
      </p:ext>
    </p:extLst>
  </p:cSld>
</p:sld>
</file>

<file path=ppt/slides/slide7.xml><?xml version="1.0" encoding="utf-8"?>
<p:sld xmlns:p="http://schemas.openxmlformats.org/presentationml/2006/main">
  <p:cSld>
    <p:bg>
      <p:bgPr>
        <a:solidFill xmlns:a="http://schemas.openxmlformats.org/drawingml/2006/main">
          <a:srgbClr val="24203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44B4258-F491-4154-918E-8233F4CAE546}"/>
              </a:ext>
            </a:extLst>
          </p:cNvPr>
          <p:cNvSpPr>
            <a:spLocks xmlns:a="http://schemas.openxmlformats.org/drawingml/2006/main" noGrp="1"/>
          </p:cNvSpPr>
          <p:nvPr/>
        </p:nvSpPr>
        <p:spPr>
          <a:xfrm xmlns:a="http://schemas.openxmlformats.org/drawingml/2006/main">
            <a:off x="685800" y="514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Maya's choice and its trade-offs</a:t>
            </a:r>
          </a:p>
        </p:txBody>
      </p:sp>
      <p:sp>
        <p:nvSpPr>
          <p:cNvPr id="2" name="">
            <a:extLst xmlns:a="http://schemas.openxmlformats.org/drawingml/2006/main">
              <a:ext uri="{FF2B5EF4-FFF2-40B4-BE49-F238E27FC236}">
                <a16:creationId xmlns:a16="http://schemas.microsoft.com/office/drawing/2014/main" id="{A11D7B20-E624-4256-8D7C-6E5C98466950}"/>
              </a:ext>
            </a:extLst>
          </p:cNvPr>
          <p:cNvSpPr>
            <a:spLocks xmlns:a="http://schemas.openxmlformats.org/drawingml/2006/main" noGrp="1"/>
          </p:cNvSpPr>
          <p:nvPr/>
        </p:nvSpPr>
        <p:spPr>
          <a:xfrm xmlns:a="http://schemas.openxmlformats.org/drawingml/2006/main">
            <a:off x="762000" y="1666875"/>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E9C779"/>
                </a:solidFill>
                <a:latin typeface="Arial"/>
                <a:ea typeface="Arial"/>
                <a:cs typeface="Arial"/>
              </a:defRPr>
            </a:defPPr>
            <a:lvl1pPr>
              <a:defRPr sz="2700" b="1">
                <a:solidFill>
                  <a:srgbClr val="E9C779"/>
                </a:solidFill>
                <a:latin typeface="Arial"/>
                <a:ea typeface="Arial"/>
                <a:cs typeface="Arial"/>
              </a:defRPr>
            </a:lvl1pPr>
            <a:lvl2pPr>
              <a:defRPr sz="2700" b="1">
                <a:solidFill>
                  <a:srgbClr val="E9C779"/>
                </a:solidFill>
                <a:latin typeface="Arial"/>
                <a:ea typeface="Arial"/>
                <a:cs typeface="Arial"/>
              </a:defRPr>
            </a:lvl2pPr>
            <a:lvl3pPr>
              <a:defRPr sz="2700" b="1">
                <a:solidFill>
                  <a:srgbClr val="E9C779"/>
                </a:solidFill>
                <a:latin typeface="Arial"/>
                <a:ea typeface="Arial"/>
                <a:cs typeface="Arial"/>
              </a:defRPr>
            </a:lvl3pPr>
            <a:lvl4pPr>
              <a:defRPr sz="2700" b="1">
                <a:solidFill>
                  <a:srgbClr val="E9C779"/>
                </a:solidFill>
                <a:latin typeface="Arial"/>
                <a:ea typeface="Arial"/>
                <a:cs typeface="Arial"/>
              </a:defRPr>
            </a:lvl4pPr>
            <a:lvl5pPr>
              <a:defRPr sz="2700" b="1">
                <a:solidFill>
                  <a:srgbClr val="E9C779"/>
                </a:solidFill>
                <a:latin typeface="Arial"/>
                <a:ea typeface="Arial"/>
                <a:cs typeface="Arial"/>
              </a:defRPr>
            </a:lvl5pPr>
            <a:lvl6pPr>
              <a:defRPr sz="2700" b="1">
                <a:solidFill>
                  <a:srgbClr val="E9C779"/>
                </a:solidFill>
                <a:latin typeface="Arial"/>
                <a:ea typeface="Arial"/>
                <a:cs typeface="Arial"/>
              </a:defRPr>
            </a:lvl6pPr>
            <a:lvl7pPr>
              <a:defRPr sz="2700" b="1">
                <a:solidFill>
                  <a:srgbClr val="E9C779"/>
                </a:solidFill>
                <a:latin typeface="Arial"/>
                <a:ea typeface="Arial"/>
                <a:cs typeface="Arial"/>
              </a:defRPr>
            </a:lvl7pPr>
            <a:lvl8pPr>
              <a:defRPr sz="2700" b="1">
                <a:solidFill>
                  <a:srgbClr val="E9C779"/>
                </a:solidFill>
                <a:latin typeface="Arial"/>
                <a:ea typeface="Arial"/>
                <a:cs typeface="Arial"/>
              </a:defRPr>
            </a:lvl8pPr>
            <a:lvl9pPr>
              <a:defRPr sz="2700" b="1">
                <a:solidFill>
                  <a:srgbClr val="E9C779"/>
                </a:solidFill>
                <a:latin typeface="Arial"/>
                <a:ea typeface="Arial"/>
                <a:cs typeface="Arial"/>
              </a:defRPr>
            </a:lvl9pPr>
          </a:lstStyle>
          <a:p xmlns:a="http://schemas.openxmlformats.org/drawingml/2006/main">
            <a:pPr>
              <a:defRPr sz="2700" b="1">
                <a:solidFill>
                  <a:srgbClr val="E9C779"/>
                </a:solidFill>
                <a:latin typeface="Arial"/>
                <a:ea typeface="Arial"/>
                <a:cs typeface="Arial"/>
              </a:defRPr>
            </a:pPr>
            <a:r>
              <a:rPr sz="2700" b="1">
                <a:solidFill>
                  <a:srgbClr val="E9C779"/>
                </a:solidFill>
                <a:latin typeface="Arial"/>
                <a:ea typeface="Arial"/>
                <a:cs typeface="Arial"/>
              </a:rPr>
              <a:t>Train: £18, 70 minutes, 2.2 kg CO2e</a:t>
            </a:r>
          </a:p>
          <a:p xmlns:a="http://schemas.openxmlformats.org/drawingml/2006/main">
            <a:pPr>
              <a:defRPr sz="2700" b="1">
                <a:solidFill>
                  <a:srgbClr val="E9C779"/>
                </a:solidFill>
                <a:latin typeface="Arial"/>
                <a:ea typeface="Arial"/>
                <a:cs typeface="Arial"/>
              </a:defRPr>
            </a:pPr>
            <a:r>
              <a:rPr sz="2700" b="1">
                <a:solidFill>
                  <a:srgbClr val="E9C779"/>
                </a:solidFill>
                <a:latin typeface="Arial"/>
                <a:ea typeface="Arial"/>
                <a:cs typeface="Arial"/>
              </a:rPr>
              <a:t>Coach: £8, 120 minutes, 5 kg CO2e</a:t>
            </a:r>
          </a:p>
        </p:txBody>
      </p:sp>
      <p:sp>
        <p:nvSpPr>
          <p:cNvPr id="3" name="">
            <a:extLst xmlns:a="http://schemas.openxmlformats.org/drawingml/2006/main">
              <a:ext uri="{FF2B5EF4-FFF2-40B4-BE49-F238E27FC236}">
                <a16:creationId xmlns:a16="http://schemas.microsoft.com/office/drawing/2014/main" id="{CAD23391-5C84-4C38-8C6D-FC140D8AE022}"/>
              </a:ext>
            </a:extLst>
          </p:cNvPr>
          <p:cNvSpPr>
            <a:spLocks xmlns:a="http://schemas.openxmlformats.org/drawingml/2006/main" noGrp="1"/>
          </p:cNvSpPr>
          <p:nvPr/>
        </p:nvSpPr>
        <p:spPr>
          <a:xfrm xmlns:a="http://schemas.openxmlformats.org/drawingml/2006/main">
            <a:off x="762000" y="319087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FFFFF"/>
                </a:solidFill>
                <a:latin typeface="Arial"/>
                <a:ea typeface="Arial"/>
                <a:cs typeface="Arial"/>
              </a:defRPr>
            </a:defPPr>
            <a:lvl1pPr>
              <a:defRPr sz="2400" b="0">
                <a:solidFill>
                  <a:srgbClr val="FFFFFF"/>
                </a:solidFill>
                <a:latin typeface="Arial"/>
                <a:ea typeface="Arial"/>
                <a:cs typeface="Arial"/>
              </a:defRPr>
            </a:lvl1pPr>
            <a:lvl2pPr>
              <a:defRPr sz="2400" b="0">
                <a:solidFill>
                  <a:srgbClr val="FFFFFF"/>
                </a:solidFill>
                <a:latin typeface="Arial"/>
                <a:ea typeface="Arial"/>
                <a:cs typeface="Arial"/>
              </a:defRPr>
            </a:lvl2pPr>
            <a:lvl3pPr>
              <a:defRPr sz="2400" b="0">
                <a:solidFill>
                  <a:srgbClr val="FFFFFF"/>
                </a:solidFill>
                <a:latin typeface="Arial"/>
                <a:ea typeface="Arial"/>
                <a:cs typeface="Arial"/>
              </a:defRPr>
            </a:lvl3pPr>
            <a:lvl4pPr>
              <a:defRPr sz="2400" b="0">
                <a:solidFill>
                  <a:srgbClr val="FFFFFF"/>
                </a:solidFill>
                <a:latin typeface="Arial"/>
                <a:ea typeface="Arial"/>
                <a:cs typeface="Arial"/>
              </a:defRPr>
            </a:lvl4pPr>
            <a:lvl5pPr>
              <a:defRPr sz="2400" b="0">
                <a:solidFill>
                  <a:srgbClr val="FFFFFF"/>
                </a:solidFill>
                <a:latin typeface="Arial"/>
                <a:ea typeface="Arial"/>
                <a:cs typeface="Arial"/>
              </a:defRPr>
            </a:lvl5pPr>
            <a:lvl6pPr>
              <a:defRPr sz="2400" b="0">
                <a:solidFill>
                  <a:srgbClr val="FFFFFF"/>
                </a:solidFill>
                <a:latin typeface="Arial"/>
                <a:ea typeface="Arial"/>
                <a:cs typeface="Arial"/>
              </a:defRPr>
            </a:lvl6pPr>
            <a:lvl7pPr>
              <a:defRPr sz="2400" b="0">
                <a:solidFill>
                  <a:srgbClr val="FFFFFF"/>
                </a:solidFill>
                <a:latin typeface="Arial"/>
                <a:ea typeface="Arial"/>
                <a:cs typeface="Arial"/>
              </a:defRPr>
            </a:lvl7pPr>
            <a:lvl8pPr>
              <a:defRPr sz="2400" b="0">
                <a:solidFill>
                  <a:srgbClr val="FFFFFF"/>
                </a:solidFill>
                <a:latin typeface="Arial"/>
                <a:ea typeface="Arial"/>
                <a:cs typeface="Arial"/>
              </a:defRPr>
            </a:lvl8pPr>
            <a:lvl9pPr>
              <a:defRPr sz="2400" b="0">
                <a:solidFill>
                  <a:srgbClr val="FFFFFF"/>
                </a:solidFill>
                <a:latin typeface="Arial"/>
                <a:ea typeface="Arial"/>
                <a:cs typeface="Arial"/>
              </a:defRPr>
            </a:lvl9pPr>
          </a:lstStyle>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Her hard limits make both feasible.</a:t>
            </a:r>
          </a:p>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Her priorities decide the ranking.</a:t>
            </a:r>
          </a:p>
        </p:txBody>
      </p:sp>
      <p:sp>
        <p:nvSpPr>
          <p:cNvPr id="4" name="">
            <a:extLst xmlns:a="http://schemas.openxmlformats.org/drawingml/2006/main">
              <a:ext uri="{FF2B5EF4-FFF2-40B4-BE49-F238E27FC236}">
                <a16:creationId xmlns:a16="http://schemas.microsoft.com/office/drawing/2014/main" id="{1C4A7CC1-2E42-4488-BFD0-6BD1AD58360B}"/>
              </a:ext>
            </a:extLst>
          </p:cNvPr>
          <p:cNvSpPr>
            <a:spLocks xmlns:a="http://schemas.openxmlformats.org/drawingml/2006/main" noGrp="1"/>
          </p:cNvSpPr>
          <p:nvPr/>
        </p:nvSpPr>
        <p:spPr>
          <a:xfrm xmlns:a="http://schemas.openxmlformats.org/drawingml/2006/main">
            <a:off x="762000" y="4419600"/>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FFFFF"/>
                </a:solidFill>
                <a:latin typeface="Arial"/>
                <a:ea typeface="Arial"/>
                <a:cs typeface="Arial"/>
              </a:defRPr>
            </a:defPPr>
            <a:lvl1pPr>
              <a:defRPr sz="1950" b="0">
                <a:solidFill>
                  <a:srgbClr val="FFFFFF"/>
                </a:solidFill>
                <a:latin typeface="Arial"/>
                <a:ea typeface="Arial"/>
                <a:cs typeface="Arial"/>
              </a:defRPr>
            </a:lvl1pPr>
            <a:lvl2pPr>
              <a:defRPr sz="1950" b="0">
                <a:solidFill>
                  <a:srgbClr val="FFFFFF"/>
                </a:solidFill>
                <a:latin typeface="Arial"/>
                <a:ea typeface="Arial"/>
                <a:cs typeface="Arial"/>
              </a:defRPr>
            </a:lvl2pPr>
            <a:lvl3pPr>
              <a:defRPr sz="1950" b="0">
                <a:solidFill>
                  <a:srgbClr val="FFFFFF"/>
                </a:solidFill>
                <a:latin typeface="Arial"/>
                <a:ea typeface="Arial"/>
                <a:cs typeface="Arial"/>
              </a:defRPr>
            </a:lvl3pPr>
            <a:lvl4pPr>
              <a:defRPr sz="1950" b="0">
                <a:solidFill>
                  <a:srgbClr val="FFFFFF"/>
                </a:solidFill>
                <a:latin typeface="Arial"/>
                <a:ea typeface="Arial"/>
                <a:cs typeface="Arial"/>
              </a:defRPr>
            </a:lvl4pPr>
            <a:lvl5pPr>
              <a:defRPr sz="1950" b="0">
                <a:solidFill>
                  <a:srgbClr val="FFFFFF"/>
                </a:solidFill>
                <a:latin typeface="Arial"/>
                <a:ea typeface="Arial"/>
                <a:cs typeface="Arial"/>
              </a:defRPr>
            </a:lvl5pPr>
            <a:lvl6pPr>
              <a:defRPr sz="1950" b="0">
                <a:solidFill>
                  <a:srgbClr val="FFFFFF"/>
                </a:solidFill>
                <a:latin typeface="Arial"/>
                <a:ea typeface="Arial"/>
                <a:cs typeface="Arial"/>
              </a:defRPr>
            </a:lvl6pPr>
            <a:lvl7pPr>
              <a:defRPr sz="1950" b="0">
                <a:solidFill>
                  <a:srgbClr val="FFFFFF"/>
                </a:solidFill>
                <a:latin typeface="Arial"/>
                <a:ea typeface="Arial"/>
                <a:cs typeface="Arial"/>
              </a:defRPr>
            </a:lvl7pPr>
            <a:lvl8pPr>
              <a:defRPr sz="1950" b="0">
                <a:solidFill>
                  <a:srgbClr val="FFFFFF"/>
                </a:solidFill>
                <a:latin typeface="Arial"/>
                <a:ea typeface="Arial"/>
                <a:cs typeface="Arial"/>
              </a:defRPr>
            </a:lvl8pPr>
            <a:lvl9pPr>
              <a:defRPr sz="1950" b="0">
                <a:solidFill>
                  <a:srgbClr val="FFFFFF"/>
                </a:solidFill>
                <a:latin typeface="Arial"/>
                <a:ea typeface="Arial"/>
                <a:cs typeface="Arial"/>
              </a:defRPr>
            </a:lvl9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The same core supports market, student, sustainability</a:t>
            </a:r>
          </a:p>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and custom examples.</a:t>
            </a:r>
          </a:p>
        </p:txBody>
      </p:sp>
      <p:sp>
        <p:nvSpPr>
          <p:cNvPr id="5" name="">
            <a:extLst xmlns:a="http://schemas.openxmlformats.org/drawingml/2006/main">
              <a:ext uri="{FF2B5EF4-FFF2-40B4-BE49-F238E27FC236}">
                <a16:creationId xmlns:a16="http://schemas.microsoft.com/office/drawing/2014/main" id="{3F243F83-D45C-4669-9279-D30772285B00}"/>
              </a:ext>
            </a:extLst>
          </p:cNvPr>
          <p:cNvSpPr>
            <a:spLocks xmlns:a="http://schemas.openxmlformats.org/drawingml/2006/main" noGrp="1"/>
          </p:cNvSpPr>
          <p:nvPr/>
        </p:nvSpPr>
        <p:spPr>
          <a:xfrm xmlns:a="http://schemas.openxmlformats.org/drawingml/2006/main">
            <a:off x="762000" y="5248275"/>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E9C779"/>
                </a:solidFill>
                <a:latin typeface="Arial"/>
                <a:ea typeface="Arial"/>
                <a:cs typeface="Arial"/>
              </a:defRPr>
            </a:defPPr>
            <a:lvl1pPr>
              <a:defRPr sz="1875" b="0">
                <a:solidFill>
                  <a:srgbClr val="E9C779"/>
                </a:solidFill>
                <a:latin typeface="Arial"/>
                <a:ea typeface="Arial"/>
                <a:cs typeface="Arial"/>
              </a:defRPr>
            </a:lvl1pPr>
            <a:lvl2pPr>
              <a:defRPr sz="1875" b="0">
                <a:solidFill>
                  <a:srgbClr val="E9C779"/>
                </a:solidFill>
                <a:latin typeface="Arial"/>
                <a:ea typeface="Arial"/>
                <a:cs typeface="Arial"/>
              </a:defRPr>
            </a:lvl2pPr>
            <a:lvl3pPr>
              <a:defRPr sz="1875" b="0">
                <a:solidFill>
                  <a:srgbClr val="E9C779"/>
                </a:solidFill>
                <a:latin typeface="Arial"/>
                <a:ea typeface="Arial"/>
                <a:cs typeface="Arial"/>
              </a:defRPr>
            </a:lvl3pPr>
            <a:lvl4pPr>
              <a:defRPr sz="1875" b="0">
                <a:solidFill>
                  <a:srgbClr val="E9C779"/>
                </a:solidFill>
                <a:latin typeface="Arial"/>
                <a:ea typeface="Arial"/>
                <a:cs typeface="Arial"/>
              </a:defRPr>
            </a:lvl4pPr>
            <a:lvl5pPr>
              <a:defRPr sz="1875" b="0">
                <a:solidFill>
                  <a:srgbClr val="E9C779"/>
                </a:solidFill>
                <a:latin typeface="Arial"/>
                <a:ea typeface="Arial"/>
                <a:cs typeface="Arial"/>
              </a:defRPr>
            </a:lvl5pPr>
            <a:lvl6pPr>
              <a:defRPr sz="1875" b="0">
                <a:solidFill>
                  <a:srgbClr val="E9C779"/>
                </a:solidFill>
                <a:latin typeface="Arial"/>
                <a:ea typeface="Arial"/>
                <a:cs typeface="Arial"/>
              </a:defRPr>
            </a:lvl6pPr>
            <a:lvl7pPr>
              <a:defRPr sz="1875" b="0">
                <a:solidFill>
                  <a:srgbClr val="E9C779"/>
                </a:solidFill>
                <a:latin typeface="Arial"/>
                <a:ea typeface="Arial"/>
                <a:cs typeface="Arial"/>
              </a:defRPr>
            </a:lvl7pPr>
            <a:lvl8pPr>
              <a:defRPr sz="1875" b="0">
                <a:solidFill>
                  <a:srgbClr val="E9C779"/>
                </a:solidFill>
                <a:latin typeface="Arial"/>
                <a:ea typeface="Arial"/>
                <a:cs typeface="Arial"/>
              </a:defRPr>
            </a:lvl8pPr>
            <a:lvl9pPr>
              <a:defRPr sz="1875" b="0">
                <a:solidFill>
                  <a:srgbClr val="E9C779"/>
                </a:solidFill>
                <a:latin typeface="Arial"/>
                <a:ea typeface="Arial"/>
                <a:cs typeface="Arial"/>
              </a:defRPr>
            </a:lvl9pPr>
          </a:lstStyle>
          <a:p xmlns:a="http://schemas.openxmlformats.org/drawingml/2006/main">
            <a:pPr>
              <a:defRPr sz="1875" b="0">
                <a:solidFill>
                  <a:srgbClr val="E9C779"/>
                </a:solidFill>
                <a:latin typeface="Arial"/>
                <a:ea typeface="Arial"/>
                <a:cs typeface="Arial"/>
              </a:defRPr>
            </a:pPr>
            <a:r>
              <a:rPr sz="1875" b="0">
                <a:solidFill>
                  <a:srgbClr val="E9C779"/>
                </a:solidFill>
                <a:latin typeface="Arial"/>
                <a:ea typeface="Arial"/>
                <a:cs typeface="Arial"/>
              </a:rPr>
              <a:t>Next: verified live data adapters and user testing</a:t>
            </a:r>
          </a:p>
        </p:txBody>
      </p:sp>
      <p:sp>
        <p:nvSpPr>
          <p:cNvPr id="6" name="">
            <a:extLst xmlns:a="http://schemas.openxmlformats.org/drawingml/2006/main">
              <a:ext uri="{FF2B5EF4-FFF2-40B4-BE49-F238E27FC236}">
                <a16:creationId xmlns:a16="http://schemas.microsoft.com/office/drawing/2014/main" id="{B8D3AE6A-0348-4A63-B064-A573B283EB09}"/>
              </a:ext>
            </a:extLst>
          </p:cNvPr>
          <p:cNvSpPr>
            <a:spLocks xmlns:a="http://schemas.openxmlformats.org/drawingml/2006/main" noGrp="1"/>
          </p:cNvSpPr>
          <p:nvPr/>
        </p:nvSpPr>
        <p:spPr>
          <a:xfrm xmlns:a="http://schemas.openxmlformats.org/drawingml/2006/main">
            <a:off x="762000" y="59531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FFFFFF"/>
                </a:solidFill>
                <a:latin typeface="Arial"/>
                <a:ea typeface="Arial"/>
                <a:cs typeface="Arial"/>
              </a:defRPr>
            </a:defPPr>
            <a:lvl1pPr>
              <a:defRPr sz="1725" b="0">
                <a:solidFill>
                  <a:srgbClr val="FFFFFF"/>
                </a:solidFill>
                <a:latin typeface="Arial"/>
                <a:ea typeface="Arial"/>
                <a:cs typeface="Arial"/>
              </a:defRPr>
            </a:lvl1pPr>
            <a:lvl2pPr>
              <a:defRPr sz="1725" b="0">
                <a:solidFill>
                  <a:srgbClr val="FFFFFF"/>
                </a:solidFill>
                <a:latin typeface="Arial"/>
                <a:ea typeface="Arial"/>
                <a:cs typeface="Arial"/>
              </a:defRPr>
            </a:lvl2pPr>
            <a:lvl3pPr>
              <a:defRPr sz="1725" b="0">
                <a:solidFill>
                  <a:srgbClr val="FFFFFF"/>
                </a:solidFill>
                <a:latin typeface="Arial"/>
                <a:ea typeface="Arial"/>
                <a:cs typeface="Arial"/>
              </a:defRPr>
            </a:lvl3pPr>
            <a:lvl4pPr>
              <a:defRPr sz="1725" b="0">
                <a:solidFill>
                  <a:srgbClr val="FFFFFF"/>
                </a:solidFill>
                <a:latin typeface="Arial"/>
                <a:ea typeface="Arial"/>
                <a:cs typeface="Arial"/>
              </a:defRPr>
            </a:lvl4pPr>
            <a:lvl5pPr>
              <a:defRPr sz="1725" b="0">
                <a:solidFill>
                  <a:srgbClr val="FFFFFF"/>
                </a:solidFill>
                <a:latin typeface="Arial"/>
                <a:ea typeface="Arial"/>
                <a:cs typeface="Arial"/>
              </a:defRPr>
            </a:lvl5pPr>
            <a:lvl6pPr>
              <a:defRPr sz="1725" b="0">
                <a:solidFill>
                  <a:srgbClr val="FFFFFF"/>
                </a:solidFill>
                <a:latin typeface="Arial"/>
                <a:ea typeface="Arial"/>
                <a:cs typeface="Arial"/>
              </a:defRPr>
            </a:lvl6pPr>
            <a:lvl7pPr>
              <a:defRPr sz="1725" b="0">
                <a:solidFill>
                  <a:srgbClr val="FFFFFF"/>
                </a:solidFill>
                <a:latin typeface="Arial"/>
                <a:ea typeface="Arial"/>
                <a:cs typeface="Arial"/>
              </a:defRPr>
            </a:lvl7pPr>
            <a:lvl8pPr>
              <a:defRPr sz="1725" b="0">
                <a:solidFill>
                  <a:srgbClr val="FFFFFF"/>
                </a:solidFill>
                <a:latin typeface="Arial"/>
                <a:ea typeface="Arial"/>
                <a:cs typeface="Arial"/>
              </a:defRPr>
            </a:lvl8pPr>
            <a:lvl9pPr>
              <a:defRPr sz="1725" b="0">
                <a:solidFill>
                  <a:srgbClr val="FFFFFF"/>
                </a:solidFill>
                <a:latin typeface="Arial"/>
                <a:ea typeface="Arial"/>
                <a:cs typeface="Arial"/>
              </a:defRPr>
            </a:lvl9pPr>
          </a:lstStyle>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github.com/wahab-linux/my-jinni</a:t>
            </a:r>
          </a:p>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Prototype with fictional presets</a:t>
            </a:r>
          </a:p>
        </p:txBody>
      </p:sp>
    </p:spTree>
    <p:extLst>
      <p:ext uri="{BB962C8B-B14F-4D97-AF65-F5344CB8AC3E}">
        <p14:creationId xmlns:p14="http://schemas.microsoft.com/office/powerpoint/2010/main" val="293817268"/>
      </p:ext>
    </p:extLst>
  </p:cSld>
</p:sld>
</file>

<file path=ppt/slides/slide8.xml><?xml version="1.0" encoding="utf-8"?>
<p:sld xmlns:p="http://schemas.openxmlformats.org/presentationml/2006/main">
  <p:cSld>
    <p:bg>
      <p:bgPr>
        <a:solidFill xmlns:a="http://schemas.openxmlformats.org/drawingml/2006/main">
          <a:srgbClr val="F7F6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1B8CFC9-0C9B-4F31-A23C-83CB7C07FE97}"/>
              </a:ext>
            </a:extLst>
          </p:cNvPr>
          <p:cNvSpPr>
            <a:spLocks xmlns:a="http://schemas.openxmlformats.org/drawingml/2006/main" noGrp="1"/>
          </p:cNvSpPr>
          <p:nvPr/>
        </p:nvSpPr>
        <p:spPr>
          <a:xfrm xmlns:a="http://schemas.openxmlformats.org/drawingml/2006/main">
            <a:off x="685800" y="514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42039"/>
                </a:solidFill>
                <a:latin typeface="Arial"/>
                <a:ea typeface="Arial"/>
                <a:cs typeface="Arial"/>
              </a:defRPr>
            </a:defPPr>
            <a:lvl1pPr>
              <a:defRPr sz="3450" b="1">
                <a:solidFill>
                  <a:srgbClr val="242039"/>
                </a:solidFill>
                <a:latin typeface="Arial"/>
                <a:ea typeface="Arial"/>
                <a:cs typeface="Arial"/>
              </a:defRPr>
            </a:lvl1pPr>
            <a:lvl2pPr>
              <a:defRPr sz="3450" b="1">
                <a:solidFill>
                  <a:srgbClr val="242039"/>
                </a:solidFill>
                <a:latin typeface="Arial"/>
                <a:ea typeface="Arial"/>
                <a:cs typeface="Arial"/>
              </a:defRPr>
            </a:lvl2pPr>
            <a:lvl3pPr>
              <a:defRPr sz="3450" b="1">
                <a:solidFill>
                  <a:srgbClr val="242039"/>
                </a:solidFill>
                <a:latin typeface="Arial"/>
                <a:ea typeface="Arial"/>
                <a:cs typeface="Arial"/>
              </a:defRPr>
            </a:lvl3pPr>
            <a:lvl4pPr>
              <a:defRPr sz="3450" b="1">
                <a:solidFill>
                  <a:srgbClr val="242039"/>
                </a:solidFill>
                <a:latin typeface="Arial"/>
                <a:ea typeface="Arial"/>
                <a:cs typeface="Arial"/>
              </a:defRPr>
            </a:lvl4pPr>
            <a:lvl5pPr>
              <a:defRPr sz="3450" b="1">
                <a:solidFill>
                  <a:srgbClr val="242039"/>
                </a:solidFill>
                <a:latin typeface="Arial"/>
                <a:ea typeface="Arial"/>
                <a:cs typeface="Arial"/>
              </a:defRPr>
            </a:lvl5pPr>
            <a:lvl6pPr>
              <a:defRPr sz="3450" b="1">
                <a:solidFill>
                  <a:srgbClr val="242039"/>
                </a:solidFill>
                <a:latin typeface="Arial"/>
                <a:ea typeface="Arial"/>
                <a:cs typeface="Arial"/>
              </a:defRPr>
            </a:lvl6pPr>
            <a:lvl7pPr>
              <a:defRPr sz="3450" b="1">
                <a:solidFill>
                  <a:srgbClr val="242039"/>
                </a:solidFill>
                <a:latin typeface="Arial"/>
                <a:ea typeface="Arial"/>
                <a:cs typeface="Arial"/>
              </a:defRPr>
            </a:lvl7pPr>
            <a:lvl8pPr>
              <a:defRPr sz="3450" b="1">
                <a:solidFill>
                  <a:srgbClr val="242039"/>
                </a:solidFill>
                <a:latin typeface="Arial"/>
                <a:ea typeface="Arial"/>
                <a:cs typeface="Arial"/>
              </a:defRPr>
            </a:lvl8pPr>
            <a:lvl9pPr>
              <a:defRPr sz="3450" b="1">
                <a:solidFill>
                  <a:srgbClr val="242039"/>
                </a:solidFill>
                <a:latin typeface="Arial"/>
                <a:ea typeface="Arial"/>
                <a:cs typeface="Arial"/>
              </a:defRPr>
            </a:lvl9pPr>
          </a:lstStyle>
          <a:p xmlns:a="http://schemas.openxmlformats.org/drawingml/2006/main">
            <a:pPr>
              <a:defRPr sz="3450" b="1">
                <a:solidFill>
                  <a:srgbClr val="242039"/>
                </a:solidFill>
                <a:latin typeface="Arial"/>
                <a:ea typeface="Arial"/>
                <a:cs typeface="Arial"/>
              </a:defRPr>
            </a:pPr>
            <a:r>
              <a:rPr sz="3450" b="1">
                <a:solidFill>
                  <a:srgbClr val="242039"/>
                </a:solidFill>
                <a:latin typeface="Arial"/>
                <a:ea typeface="Arial"/>
                <a:cs typeface="Arial"/>
              </a:rPr>
              <a:t>Implementation and scoring</a:t>
            </a:r>
          </a:p>
        </p:txBody>
      </p:sp>
      <p:sp>
        <p:nvSpPr>
          <p:cNvPr id="2" name="">
            <a:extLst xmlns:a="http://schemas.openxmlformats.org/drawingml/2006/main">
              <a:ext uri="{FF2B5EF4-FFF2-40B4-BE49-F238E27FC236}">
                <a16:creationId xmlns:a16="http://schemas.microsoft.com/office/drawing/2014/main" id="{9A967045-62E1-4DD1-A74C-26D1170FC1B9}"/>
              </a:ext>
            </a:extLst>
          </p:cNvPr>
          <p:cNvSpPr>
            <a:spLocks xmlns:a="http://schemas.openxmlformats.org/drawingml/2006/main" noGrp="1"/>
          </p:cNvSpPr>
          <p:nvPr/>
        </p:nvSpPr>
        <p:spPr>
          <a:xfrm xmlns:a="http://schemas.openxmlformats.org/drawingml/2006/main">
            <a:off x="10477500" y="6296025"/>
            <a:ext cx="1028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625B74"/>
                </a:solidFill>
                <a:latin typeface="Arial"/>
                <a:ea typeface="Arial"/>
                <a:cs typeface="Arial"/>
              </a:defRPr>
            </a:defPPr>
            <a:lvl1pPr>
              <a:defRPr sz="1425" b="0">
                <a:solidFill>
                  <a:srgbClr val="625B74"/>
                </a:solidFill>
                <a:latin typeface="Arial"/>
                <a:ea typeface="Arial"/>
                <a:cs typeface="Arial"/>
              </a:defRPr>
            </a:lvl1pPr>
            <a:lvl2pPr>
              <a:defRPr sz="1425" b="0">
                <a:solidFill>
                  <a:srgbClr val="625B74"/>
                </a:solidFill>
                <a:latin typeface="Arial"/>
                <a:ea typeface="Arial"/>
                <a:cs typeface="Arial"/>
              </a:defRPr>
            </a:lvl2pPr>
            <a:lvl3pPr>
              <a:defRPr sz="1425" b="0">
                <a:solidFill>
                  <a:srgbClr val="625B74"/>
                </a:solidFill>
                <a:latin typeface="Arial"/>
                <a:ea typeface="Arial"/>
                <a:cs typeface="Arial"/>
              </a:defRPr>
            </a:lvl3pPr>
            <a:lvl4pPr>
              <a:defRPr sz="1425" b="0">
                <a:solidFill>
                  <a:srgbClr val="625B74"/>
                </a:solidFill>
                <a:latin typeface="Arial"/>
                <a:ea typeface="Arial"/>
                <a:cs typeface="Arial"/>
              </a:defRPr>
            </a:lvl4pPr>
            <a:lvl5pPr>
              <a:defRPr sz="1425" b="0">
                <a:solidFill>
                  <a:srgbClr val="625B74"/>
                </a:solidFill>
                <a:latin typeface="Arial"/>
                <a:ea typeface="Arial"/>
                <a:cs typeface="Arial"/>
              </a:defRPr>
            </a:lvl5pPr>
            <a:lvl6pPr>
              <a:defRPr sz="1425" b="0">
                <a:solidFill>
                  <a:srgbClr val="625B74"/>
                </a:solidFill>
                <a:latin typeface="Arial"/>
                <a:ea typeface="Arial"/>
                <a:cs typeface="Arial"/>
              </a:defRPr>
            </a:lvl6pPr>
            <a:lvl7pPr>
              <a:defRPr sz="1425" b="0">
                <a:solidFill>
                  <a:srgbClr val="625B74"/>
                </a:solidFill>
                <a:latin typeface="Arial"/>
                <a:ea typeface="Arial"/>
                <a:cs typeface="Arial"/>
              </a:defRPr>
            </a:lvl7pPr>
            <a:lvl8pPr>
              <a:defRPr sz="1425" b="0">
                <a:solidFill>
                  <a:srgbClr val="625B74"/>
                </a:solidFill>
                <a:latin typeface="Arial"/>
                <a:ea typeface="Arial"/>
                <a:cs typeface="Arial"/>
              </a:defRPr>
            </a:lvl8pPr>
            <a:lvl9pPr>
              <a:defRPr sz="1425" b="0">
                <a:solidFill>
                  <a:srgbClr val="625B74"/>
                </a:solidFill>
                <a:latin typeface="Arial"/>
                <a:ea typeface="Arial"/>
                <a:cs typeface="Arial"/>
              </a:defRPr>
            </a:lvl9pPr>
          </a:lstStyle>
          <a:p xmlns:a="http://schemas.openxmlformats.org/drawingml/2006/main">
            <a:pPr>
              <a:defRPr sz="1425" b="0">
                <a:solidFill>
                  <a:srgbClr val="625B74"/>
                </a:solidFill>
                <a:latin typeface="Arial"/>
                <a:ea typeface="Arial"/>
                <a:cs typeface="Arial"/>
              </a:defRPr>
            </a:pPr>
            <a:r>
              <a:rPr sz="1425" b="0">
                <a:solidFill>
                  <a:srgbClr val="625B74"/>
                </a:solidFill>
                <a:latin typeface="Arial"/>
                <a:ea typeface="Arial"/>
                <a:cs typeface="Arial"/>
              </a:rPr>
              <a:t>Backup</a:t>
            </a:r>
          </a:p>
        </p:txBody>
      </p:sp>
      <p:sp>
        <p:nvSpPr>
          <p:cNvPr id="3" name="">
            <a:extLst xmlns:a="http://schemas.openxmlformats.org/drawingml/2006/main">
              <a:ext uri="{FF2B5EF4-FFF2-40B4-BE49-F238E27FC236}">
                <a16:creationId xmlns:a16="http://schemas.microsoft.com/office/drawing/2014/main" id="{99FE3C92-7A70-4C34-9777-4750E209DC7E}"/>
              </a:ext>
            </a:extLst>
          </p:cNvPr>
          <p:cNvSpPr>
            <a:spLocks xmlns:a="http://schemas.openxmlformats.org/drawingml/2006/main" noGrp="1"/>
          </p:cNvSpPr>
          <p:nvPr/>
        </p:nvSpPr>
        <p:spPr>
          <a:xfrm xmlns:a="http://schemas.openxmlformats.org/drawingml/2006/main">
            <a:off x="762000" y="15430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58458D"/>
                </a:solidFill>
                <a:latin typeface="Arial"/>
                <a:ea typeface="Arial"/>
                <a:cs typeface="Arial"/>
              </a:defRPr>
            </a:defPPr>
            <a:lvl1pPr>
              <a:defRPr sz="2100" b="1">
                <a:solidFill>
                  <a:srgbClr val="58458D"/>
                </a:solidFill>
                <a:latin typeface="Arial"/>
                <a:ea typeface="Arial"/>
                <a:cs typeface="Arial"/>
              </a:defRPr>
            </a:lvl1pPr>
            <a:lvl2pPr>
              <a:defRPr sz="2100" b="1">
                <a:solidFill>
                  <a:srgbClr val="58458D"/>
                </a:solidFill>
                <a:latin typeface="Arial"/>
                <a:ea typeface="Arial"/>
                <a:cs typeface="Arial"/>
              </a:defRPr>
            </a:lvl2pPr>
            <a:lvl3pPr>
              <a:defRPr sz="2100" b="1">
                <a:solidFill>
                  <a:srgbClr val="58458D"/>
                </a:solidFill>
                <a:latin typeface="Arial"/>
                <a:ea typeface="Arial"/>
                <a:cs typeface="Arial"/>
              </a:defRPr>
            </a:lvl3pPr>
            <a:lvl4pPr>
              <a:defRPr sz="2100" b="1">
                <a:solidFill>
                  <a:srgbClr val="58458D"/>
                </a:solidFill>
                <a:latin typeface="Arial"/>
                <a:ea typeface="Arial"/>
                <a:cs typeface="Arial"/>
              </a:defRPr>
            </a:lvl4pPr>
            <a:lvl5pPr>
              <a:defRPr sz="2100" b="1">
                <a:solidFill>
                  <a:srgbClr val="58458D"/>
                </a:solidFill>
                <a:latin typeface="Arial"/>
                <a:ea typeface="Arial"/>
                <a:cs typeface="Arial"/>
              </a:defRPr>
            </a:lvl5pPr>
            <a:lvl6pPr>
              <a:defRPr sz="2100" b="1">
                <a:solidFill>
                  <a:srgbClr val="58458D"/>
                </a:solidFill>
                <a:latin typeface="Arial"/>
                <a:ea typeface="Arial"/>
                <a:cs typeface="Arial"/>
              </a:defRPr>
            </a:lvl6pPr>
            <a:lvl7pPr>
              <a:defRPr sz="2100" b="1">
                <a:solidFill>
                  <a:srgbClr val="58458D"/>
                </a:solidFill>
                <a:latin typeface="Arial"/>
                <a:ea typeface="Arial"/>
                <a:cs typeface="Arial"/>
              </a:defRPr>
            </a:lvl7pPr>
            <a:lvl8pPr>
              <a:defRPr sz="2100" b="1">
                <a:solidFill>
                  <a:srgbClr val="58458D"/>
                </a:solidFill>
                <a:latin typeface="Arial"/>
                <a:ea typeface="Arial"/>
                <a:cs typeface="Arial"/>
              </a:defRPr>
            </a:lvl8pPr>
            <a:lvl9pPr>
              <a:defRPr sz="2100" b="1">
                <a:solidFill>
                  <a:srgbClr val="58458D"/>
                </a:solidFill>
                <a:latin typeface="Arial"/>
                <a:ea typeface="Arial"/>
                <a:cs typeface="Arial"/>
              </a:defRPr>
            </a:lvl9pPr>
          </a:lstStyle>
          <a:p xmlns:a="http://schemas.openxmlformats.org/drawingml/2006/main">
            <a:pPr>
              <a:defRPr sz="2100" b="1">
                <a:solidFill>
                  <a:srgbClr val="58458D"/>
                </a:solidFill>
                <a:latin typeface="Arial"/>
                <a:ea typeface="Arial"/>
                <a:cs typeface="Arial"/>
              </a:defRPr>
            </a:pPr>
            <a:r>
              <a:rPr sz="2100" b="1">
                <a:solidFill>
                  <a:srgbClr val="58458D"/>
                </a:solidFill>
                <a:latin typeface="Arial"/>
                <a:ea typeface="Arial"/>
                <a:cs typeface="Arial"/>
              </a:rPr>
              <a:t>Shared interface     Pure decision core     Source adapters</a:t>
            </a:r>
          </a:p>
        </p:txBody>
      </p:sp>
      <p:sp>
        <p:nvSpPr>
          <p:cNvPr id="4" name="">
            <a:extLst xmlns:a="http://schemas.openxmlformats.org/drawingml/2006/main">
              <a:ext uri="{FF2B5EF4-FFF2-40B4-BE49-F238E27FC236}">
                <a16:creationId xmlns:a16="http://schemas.microsoft.com/office/drawing/2014/main" id="{7EF9C39D-3597-43B0-8801-59B14494F8BB}"/>
              </a:ext>
            </a:extLst>
          </p:cNvPr>
          <p:cNvSpPr>
            <a:spLocks xmlns:a="http://schemas.openxmlformats.org/drawingml/2006/main" noGrp="1"/>
          </p:cNvSpPr>
          <p:nvPr/>
        </p:nvSpPr>
        <p:spPr>
          <a:xfrm xmlns:a="http://schemas.openxmlformats.org/drawingml/2006/main">
            <a:off x="762000" y="23907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2039"/>
                </a:solidFill>
                <a:latin typeface="Arial"/>
                <a:ea typeface="Arial"/>
                <a:cs typeface="Arial"/>
              </a:defRPr>
            </a:defPPr>
            <a:lvl1pPr>
              <a:defRPr sz="2325" b="1">
                <a:solidFill>
                  <a:srgbClr val="242039"/>
                </a:solidFill>
                <a:latin typeface="Arial"/>
                <a:ea typeface="Arial"/>
                <a:cs typeface="Arial"/>
              </a:defRPr>
            </a:lvl1pPr>
            <a:lvl2pPr>
              <a:defRPr sz="2325" b="1">
                <a:solidFill>
                  <a:srgbClr val="242039"/>
                </a:solidFill>
                <a:latin typeface="Arial"/>
                <a:ea typeface="Arial"/>
                <a:cs typeface="Arial"/>
              </a:defRPr>
            </a:lvl2pPr>
            <a:lvl3pPr>
              <a:defRPr sz="2325" b="1">
                <a:solidFill>
                  <a:srgbClr val="242039"/>
                </a:solidFill>
                <a:latin typeface="Arial"/>
                <a:ea typeface="Arial"/>
                <a:cs typeface="Arial"/>
              </a:defRPr>
            </a:lvl3pPr>
            <a:lvl4pPr>
              <a:defRPr sz="2325" b="1">
                <a:solidFill>
                  <a:srgbClr val="242039"/>
                </a:solidFill>
                <a:latin typeface="Arial"/>
                <a:ea typeface="Arial"/>
                <a:cs typeface="Arial"/>
              </a:defRPr>
            </a:lvl4pPr>
            <a:lvl5pPr>
              <a:defRPr sz="2325" b="1">
                <a:solidFill>
                  <a:srgbClr val="242039"/>
                </a:solidFill>
                <a:latin typeface="Arial"/>
                <a:ea typeface="Arial"/>
                <a:cs typeface="Arial"/>
              </a:defRPr>
            </a:lvl5pPr>
            <a:lvl6pPr>
              <a:defRPr sz="2325" b="1">
                <a:solidFill>
                  <a:srgbClr val="242039"/>
                </a:solidFill>
                <a:latin typeface="Arial"/>
                <a:ea typeface="Arial"/>
                <a:cs typeface="Arial"/>
              </a:defRPr>
            </a:lvl6pPr>
            <a:lvl7pPr>
              <a:defRPr sz="2325" b="1">
                <a:solidFill>
                  <a:srgbClr val="242039"/>
                </a:solidFill>
                <a:latin typeface="Arial"/>
                <a:ea typeface="Arial"/>
                <a:cs typeface="Arial"/>
              </a:defRPr>
            </a:lvl7pPr>
            <a:lvl8pPr>
              <a:defRPr sz="2325" b="1">
                <a:solidFill>
                  <a:srgbClr val="242039"/>
                </a:solidFill>
                <a:latin typeface="Arial"/>
                <a:ea typeface="Arial"/>
                <a:cs typeface="Arial"/>
              </a:defRPr>
            </a:lvl8pPr>
            <a:lvl9pPr>
              <a:defRPr sz="2325" b="1">
                <a:solidFill>
                  <a:srgbClr val="242039"/>
                </a:solidFill>
                <a:latin typeface="Arial"/>
                <a:ea typeface="Arial"/>
                <a:cs typeface="Arial"/>
              </a:defRPr>
            </a:lvl9pPr>
          </a:lstStyle>
          <a:p xmlns:a="http://schemas.openxmlformats.org/drawingml/2006/main">
            <a:pPr>
              <a:defRPr sz="2325" b="1">
                <a:solidFill>
                  <a:srgbClr val="242039"/>
                </a:solidFill>
                <a:latin typeface="Arial"/>
                <a:ea typeface="Arial"/>
                <a:cs typeface="Arial"/>
              </a:defRPr>
            </a:pPr>
            <a:r>
              <a:rPr sz="2325" b="1">
                <a:solidFill>
                  <a:srgbClr val="242039"/>
                </a:solidFill>
                <a:latin typeface="Arial"/>
                <a:ea typeface="Arial"/>
                <a:cs typeface="Arial"/>
              </a:rPr>
              <a:t>1   Check availability and hard limits</a:t>
            </a:r>
          </a:p>
        </p:txBody>
      </p:sp>
      <p:sp>
        <p:nvSpPr>
          <p:cNvPr id="5" name="">
            <a:extLst xmlns:a="http://schemas.openxmlformats.org/drawingml/2006/main">
              <a:ext uri="{FF2B5EF4-FFF2-40B4-BE49-F238E27FC236}">
                <a16:creationId xmlns:a16="http://schemas.microsoft.com/office/drawing/2014/main" id="{440624EA-F946-49E8-8052-3AD0791D80DA}"/>
              </a:ext>
            </a:extLst>
          </p:cNvPr>
          <p:cNvSpPr>
            <a:spLocks xmlns:a="http://schemas.openxmlformats.org/drawingml/2006/main" noGrp="1"/>
          </p:cNvSpPr>
          <p:nvPr/>
        </p:nvSpPr>
        <p:spPr>
          <a:xfrm xmlns:a="http://schemas.openxmlformats.org/drawingml/2006/main">
            <a:off x="762000" y="32956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2039"/>
                </a:solidFill>
                <a:latin typeface="Arial"/>
                <a:ea typeface="Arial"/>
                <a:cs typeface="Arial"/>
              </a:defRPr>
            </a:defPPr>
            <a:lvl1pPr>
              <a:defRPr sz="2325" b="1">
                <a:solidFill>
                  <a:srgbClr val="242039"/>
                </a:solidFill>
                <a:latin typeface="Arial"/>
                <a:ea typeface="Arial"/>
                <a:cs typeface="Arial"/>
              </a:defRPr>
            </a:lvl1pPr>
            <a:lvl2pPr>
              <a:defRPr sz="2325" b="1">
                <a:solidFill>
                  <a:srgbClr val="242039"/>
                </a:solidFill>
                <a:latin typeface="Arial"/>
                <a:ea typeface="Arial"/>
                <a:cs typeface="Arial"/>
              </a:defRPr>
            </a:lvl2pPr>
            <a:lvl3pPr>
              <a:defRPr sz="2325" b="1">
                <a:solidFill>
                  <a:srgbClr val="242039"/>
                </a:solidFill>
                <a:latin typeface="Arial"/>
                <a:ea typeface="Arial"/>
                <a:cs typeface="Arial"/>
              </a:defRPr>
            </a:lvl3pPr>
            <a:lvl4pPr>
              <a:defRPr sz="2325" b="1">
                <a:solidFill>
                  <a:srgbClr val="242039"/>
                </a:solidFill>
                <a:latin typeface="Arial"/>
                <a:ea typeface="Arial"/>
                <a:cs typeface="Arial"/>
              </a:defRPr>
            </a:lvl4pPr>
            <a:lvl5pPr>
              <a:defRPr sz="2325" b="1">
                <a:solidFill>
                  <a:srgbClr val="242039"/>
                </a:solidFill>
                <a:latin typeface="Arial"/>
                <a:ea typeface="Arial"/>
                <a:cs typeface="Arial"/>
              </a:defRPr>
            </a:lvl5pPr>
            <a:lvl6pPr>
              <a:defRPr sz="2325" b="1">
                <a:solidFill>
                  <a:srgbClr val="242039"/>
                </a:solidFill>
                <a:latin typeface="Arial"/>
                <a:ea typeface="Arial"/>
                <a:cs typeface="Arial"/>
              </a:defRPr>
            </a:lvl6pPr>
            <a:lvl7pPr>
              <a:defRPr sz="2325" b="1">
                <a:solidFill>
                  <a:srgbClr val="242039"/>
                </a:solidFill>
                <a:latin typeface="Arial"/>
                <a:ea typeface="Arial"/>
                <a:cs typeface="Arial"/>
              </a:defRPr>
            </a:lvl7pPr>
            <a:lvl8pPr>
              <a:defRPr sz="2325" b="1">
                <a:solidFill>
                  <a:srgbClr val="242039"/>
                </a:solidFill>
                <a:latin typeface="Arial"/>
                <a:ea typeface="Arial"/>
                <a:cs typeface="Arial"/>
              </a:defRPr>
            </a:lvl8pPr>
            <a:lvl9pPr>
              <a:defRPr sz="2325" b="1">
                <a:solidFill>
                  <a:srgbClr val="242039"/>
                </a:solidFill>
                <a:latin typeface="Arial"/>
                <a:ea typeface="Arial"/>
                <a:cs typeface="Arial"/>
              </a:defRPr>
            </a:lvl9pPr>
          </a:lstStyle>
          <a:p xmlns:a="http://schemas.openxmlformats.org/drawingml/2006/main">
            <a:pPr>
              <a:defRPr sz="2325" b="1">
                <a:solidFill>
                  <a:srgbClr val="242039"/>
                </a:solidFill>
                <a:latin typeface="Arial"/>
                <a:ea typeface="Arial"/>
                <a:cs typeface="Arial"/>
              </a:defRPr>
            </a:pPr>
            <a:r>
              <a:rPr sz="2325" b="1">
                <a:solidFill>
                  <a:srgbClr val="242039"/>
                </a:solidFill>
                <a:latin typeface="Arial"/>
                <a:ea typeface="Arial"/>
                <a:cs typeface="Arial"/>
              </a:rPr>
              <a:t>2   Normalize feasible options and apply weights</a:t>
            </a:r>
          </a:p>
        </p:txBody>
      </p:sp>
      <p:sp>
        <p:nvSpPr>
          <p:cNvPr id="6" name="">
            <a:extLst xmlns:a="http://schemas.openxmlformats.org/drawingml/2006/main">
              <a:ext uri="{FF2B5EF4-FFF2-40B4-BE49-F238E27FC236}">
                <a16:creationId xmlns:a16="http://schemas.microsoft.com/office/drawing/2014/main" id="{AE977BF9-D02E-4DC4-BE62-AF7B009FB109}"/>
              </a:ext>
            </a:extLst>
          </p:cNvPr>
          <p:cNvSpPr>
            <a:spLocks xmlns:a="http://schemas.openxmlformats.org/drawingml/2006/main" noGrp="1"/>
          </p:cNvSpPr>
          <p:nvPr/>
        </p:nvSpPr>
        <p:spPr>
          <a:xfrm xmlns:a="http://schemas.openxmlformats.org/drawingml/2006/main">
            <a:off x="762000" y="42862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58458D"/>
                </a:solidFill>
                <a:latin typeface="Arial"/>
                <a:ea typeface="Arial"/>
                <a:cs typeface="Arial"/>
              </a:defRPr>
            </a:defPPr>
            <a:lvl1pPr>
              <a:defRPr sz="2250" b="1">
                <a:solidFill>
                  <a:srgbClr val="58458D"/>
                </a:solidFill>
                <a:latin typeface="Arial"/>
                <a:ea typeface="Arial"/>
                <a:cs typeface="Arial"/>
              </a:defRPr>
            </a:lvl1pPr>
            <a:lvl2pPr>
              <a:defRPr sz="2250" b="1">
                <a:solidFill>
                  <a:srgbClr val="58458D"/>
                </a:solidFill>
                <a:latin typeface="Arial"/>
                <a:ea typeface="Arial"/>
                <a:cs typeface="Arial"/>
              </a:defRPr>
            </a:lvl2pPr>
            <a:lvl3pPr>
              <a:defRPr sz="2250" b="1">
                <a:solidFill>
                  <a:srgbClr val="58458D"/>
                </a:solidFill>
                <a:latin typeface="Arial"/>
                <a:ea typeface="Arial"/>
                <a:cs typeface="Arial"/>
              </a:defRPr>
            </a:lvl3pPr>
            <a:lvl4pPr>
              <a:defRPr sz="2250" b="1">
                <a:solidFill>
                  <a:srgbClr val="58458D"/>
                </a:solidFill>
                <a:latin typeface="Arial"/>
                <a:ea typeface="Arial"/>
                <a:cs typeface="Arial"/>
              </a:defRPr>
            </a:lvl4pPr>
            <a:lvl5pPr>
              <a:defRPr sz="2250" b="1">
                <a:solidFill>
                  <a:srgbClr val="58458D"/>
                </a:solidFill>
                <a:latin typeface="Arial"/>
                <a:ea typeface="Arial"/>
                <a:cs typeface="Arial"/>
              </a:defRPr>
            </a:lvl5pPr>
            <a:lvl6pPr>
              <a:defRPr sz="2250" b="1">
                <a:solidFill>
                  <a:srgbClr val="58458D"/>
                </a:solidFill>
                <a:latin typeface="Arial"/>
                <a:ea typeface="Arial"/>
                <a:cs typeface="Arial"/>
              </a:defRPr>
            </a:lvl6pPr>
            <a:lvl7pPr>
              <a:defRPr sz="2250" b="1">
                <a:solidFill>
                  <a:srgbClr val="58458D"/>
                </a:solidFill>
                <a:latin typeface="Arial"/>
                <a:ea typeface="Arial"/>
                <a:cs typeface="Arial"/>
              </a:defRPr>
            </a:lvl7pPr>
            <a:lvl8pPr>
              <a:defRPr sz="2250" b="1">
                <a:solidFill>
                  <a:srgbClr val="58458D"/>
                </a:solidFill>
                <a:latin typeface="Arial"/>
                <a:ea typeface="Arial"/>
                <a:cs typeface="Arial"/>
              </a:defRPr>
            </a:lvl8pPr>
            <a:lvl9pPr>
              <a:defRPr sz="2250" b="1">
                <a:solidFill>
                  <a:srgbClr val="58458D"/>
                </a:solidFill>
                <a:latin typeface="Arial"/>
                <a:ea typeface="Arial"/>
                <a:cs typeface="Arial"/>
              </a:defRPr>
            </a:lvl9pPr>
          </a:lstStyle>
          <a:p xmlns:a="http://schemas.openxmlformats.org/drawingml/2006/main">
            <a:pPr>
              <a:defRPr sz="2250" b="1">
                <a:solidFill>
                  <a:srgbClr val="58458D"/>
                </a:solidFill>
                <a:latin typeface="Arial"/>
                <a:ea typeface="Arial"/>
                <a:cs typeface="Arial"/>
              </a:defRPr>
            </a:pPr>
            <a:r>
              <a:rPr sz="2250" b="1">
                <a:solidFill>
                  <a:srgbClr val="58458D"/>
                </a:solidFill>
                <a:latin typeface="Arial"/>
                <a:ea typeface="Arial"/>
                <a:cs typeface="Arial"/>
              </a:rPr>
              <a:t>score = 100 × Σ(weight × normalized value) / Σ(weight)</a:t>
            </a:r>
          </a:p>
        </p:txBody>
      </p:sp>
      <p:sp>
        <p:nvSpPr>
          <p:cNvPr id="7" name="">
            <a:extLst xmlns:a="http://schemas.openxmlformats.org/drawingml/2006/main">
              <a:ext uri="{FF2B5EF4-FFF2-40B4-BE49-F238E27FC236}">
                <a16:creationId xmlns:a16="http://schemas.microsoft.com/office/drawing/2014/main" id="{F27493DA-BA83-4824-880B-B52CBC067D23}"/>
              </a:ext>
            </a:extLst>
          </p:cNvPr>
          <p:cNvSpPr>
            <a:spLocks xmlns:a="http://schemas.openxmlformats.org/drawingml/2006/main" noGrp="1"/>
          </p:cNvSpPr>
          <p:nvPr/>
        </p:nvSpPr>
        <p:spPr>
          <a:xfrm xmlns:a="http://schemas.openxmlformats.org/drawingml/2006/main">
            <a:off x="762000" y="520065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625B74"/>
                </a:solidFill>
                <a:latin typeface="Arial"/>
                <a:ea typeface="Arial"/>
                <a:cs typeface="Arial"/>
              </a:defRPr>
            </a:defPPr>
            <a:lvl1pPr>
              <a:defRPr sz="1875" b="0">
                <a:solidFill>
                  <a:srgbClr val="625B74"/>
                </a:solidFill>
                <a:latin typeface="Arial"/>
                <a:ea typeface="Arial"/>
                <a:cs typeface="Arial"/>
              </a:defRPr>
            </a:lvl1pPr>
            <a:lvl2pPr>
              <a:defRPr sz="1875" b="0">
                <a:solidFill>
                  <a:srgbClr val="625B74"/>
                </a:solidFill>
                <a:latin typeface="Arial"/>
                <a:ea typeface="Arial"/>
                <a:cs typeface="Arial"/>
              </a:defRPr>
            </a:lvl2pPr>
            <a:lvl3pPr>
              <a:defRPr sz="1875" b="0">
                <a:solidFill>
                  <a:srgbClr val="625B74"/>
                </a:solidFill>
                <a:latin typeface="Arial"/>
                <a:ea typeface="Arial"/>
                <a:cs typeface="Arial"/>
              </a:defRPr>
            </a:lvl3pPr>
            <a:lvl4pPr>
              <a:defRPr sz="1875" b="0">
                <a:solidFill>
                  <a:srgbClr val="625B74"/>
                </a:solidFill>
                <a:latin typeface="Arial"/>
                <a:ea typeface="Arial"/>
                <a:cs typeface="Arial"/>
              </a:defRPr>
            </a:lvl4pPr>
            <a:lvl5pPr>
              <a:defRPr sz="1875" b="0">
                <a:solidFill>
                  <a:srgbClr val="625B74"/>
                </a:solidFill>
                <a:latin typeface="Arial"/>
                <a:ea typeface="Arial"/>
                <a:cs typeface="Arial"/>
              </a:defRPr>
            </a:lvl5pPr>
            <a:lvl6pPr>
              <a:defRPr sz="1875" b="0">
                <a:solidFill>
                  <a:srgbClr val="625B74"/>
                </a:solidFill>
                <a:latin typeface="Arial"/>
                <a:ea typeface="Arial"/>
                <a:cs typeface="Arial"/>
              </a:defRPr>
            </a:lvl6pPr>
            <a:lvl7pPr>
              <a:defRPr sz="1875" b="0">
                <a:solidFill>
                  <a:srgbClr val="625B74"/>
                </a:solidFill>
                <a:latin typeface="Arial"/>
                <a:ea typeface="Arial"/>
                <a:cs typeface="Arial"/>
              </a:defRPr>
            </a:lvl7pPr>
            <a:lvl8pPr>
              <a:defRPr sz="1875" b="0">
                <a:solidFill>
                  <a:srgbClr val="625B74"/>
                </a:solidFill>
                <a:latin typeface="Arial"/>
                <a:ea typeface="Arial"/>
                <a:cs typeface="Arial"/>
              </a:defRPr>
            </a:lvl8pPr>
            <a:lvl9pPr>
              <a:defRPr sz="1875" b="0">
                <a:solidFill>
                  <a:srgbClr val="625B74"/>
                </a:solidFill>
                <a:latin typeface="Arial"/>
                <a:ea typeface="Arial"/>
                <a:cs typeface="Arial"/>
              </a:defRPr>
            </a:lvl9pPr>
          </a:lstStyle>
          <a:p xmlns:a="http://schemas.openxmlformats.org/drawingml/2006/main">
            <a:pPr>
              <a:defRPr sz="1875" b="0">
                <a:solidFill>
                  <a:srgbClr val="625B74"/>
                </a:solidFill>
                <a:latin typeface="Arial"/>
                <a:ea typeface="Arial"/>
                <a:cs typeface="Arial"/>
              </a:defRPr>
            </a:pPr>
            <a:r>
              <a:rPr sz="1875" b="0">
                <a:solidFill>
                  <a:srgbClr val="625B74"/>
                </a:solidFill>
                <a:latin typeface="Arial"/>
                <a:ea typeface="Arial"/>
                <a:cs typeface="Arial"/>
              </a:rPr>
              <a:t>Unknown required data excludes a choice. Ties use stable IDs.</a:t>
            </a:r>
          </a:p>
          <a:p xmlns:a="http://schemas.openxmlformats.org/drawingml/2006/main">
            <a:pPr>
              <a:defRPr sz="1875" b="0">
                <a:solidFill>
                  <a:srgbClr val="625B74"/>
                </a:solidFill>
                <a:latin typeface="Arial"/>
                <a:ea typeface="Arial"/>
                <a:cs typeface="Arial"/>
              </a:defRPr>
            </a:pPr>
            <a:r>
              <a:rPr sz="1875" b="0">
                <a:solidFill>
                  <a:srgbClr val="625B74"/>
                </a:solidFill>
                <a:latin typeface="Arial"/>
                <a:ea typeface="Arial"/>
                <a:cs typeface="Arial"/>
              </a:rPr>
              <a:t>Notes and AI proposals do not silently rewrite measurements or scores.</a:t>
            </a:r>
          </a:p>
        </p:txBody>
      </p:sp>
      <p:sp>
        <p:nvSpPr>
          <p:cNvPr id="8" name="">
            <a:extLst xmlns:a="http://schemas.openxmlformats.org/drawingml/2006/main">
              <a:ext uri="{FF2B5EF4-FFF2-40B4-BE49-F238E27FC236}">
                <a16:creationId xmlns:a16="http://schemas.microsoft.com/office/drawing/2014/main" id="{0DF6E26A-7B8A-4A02-B0E4-6FA653492448}"/>
              </a:ext>
            </a:extLst>
          </p:cNvPr>
          <p:cNvSpPr>
            <a:spLocks xmlns:a="http://schemas.openxmlformats.org/drawingml/2006/main" noGrp="1"/>
          </p:cNvSpPr>
          <p:nvPr/>
        </p:nvSpPr>
        <p:spPr>
          <a:xfrm xmlns:a="http://schemas.openxmlformats.org/drawingml/2006/main">
            <a:off x="762000" y="6153150"/>
            <a:ext cx="952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25B74"/>
                </a:solidFill>
                <a:latin typeface="Arial"/>
                <a:ea typeface="Arial"/>
                <a:cs typeface="Arial"/>
              </a:defRPr>
            </a:defPPr>
            <a:lvl1pPr>
              <a:defRPr sz="1725" b="0">
                <a:solidFill>
                  <a:srgbClr val="625B74"/>
                </a:solidFill>
                <a:latin typeface="Arial"/>
                <a:ea typeface="Arial"/>
                <a:cs typeface="Arial"/>
              </a:defRPr>
            </a:lvl1pPr>
            <a:lvl2pPr>
              <a:defRPr sz="1725" b="0">
                <a:solidFill>
                  <a:srgbClr val="625B74"/>
                </a:solidFill>
                <a:latin typeface="Arial"/>
                <a:ea typeface="Arial"/>
                <a:cs typeface="Arial"/>
              </a:defRPr>
            </a:lvl2pPr>
            <a:lvl3pPr>
              <a:defRPr sz="1725" b="0">
                <a:solidFill>
                  <a:srgbClr val="625B74"/>
                </a:solidFill>
                <a:latin typeface="Arial"/>
                <a:ea typeface="Arial"/>
                <a:cs typeface="Arial"/>
              </a:defRPr>
            </a:lvl3pPr>
            <a:lvl4pPr>
              <a:defRPr sz="1725" b="0">
                <a:solidFill>
                  <a:srgbClr val="625B74"/>
                </a:solidFill>
                <a:latin typeface="Arial"/>
                <a:ea typeface="Arial"/>
                <a:cs typeface="Arial"/>
              </a:defRPr>
            </a:lvl4pPr>
            <a:lvl5pPr>
              <a:defRPr sz="1725" b="0">
                <a:solidFill>
                  <a:srgbClr val="625B74"/>
                </a:solidFill>
                <a:latin typeface="Arial"/>
                <a:ea typeface="Arial"/>
                <a:cs typeface="Arial"/>
              </a:defRPr>
            </a:lvl5pPr>
            <a:lvl6pPr>
              <a:defRPr sz="1725" b="0">
                <a:solidFill>
                  <a:srgbClr val="625B74"/>
                </a:solidFill>
                <a:latin typeface="Arial"/>
                <a:ea typeface="Arial"/>
                <a:cs typeface="Arial"/>
              </a:defRPr>
            </a:lvl6pPr>
            <a:lvl7pPr>
              <a:defRPr sz="1725" b="0">
                <a:solidFill>
                  <a:srgbClr val="625B74"/>
                </a:solidFill>
                <a:latin typeface="Arial"/>
                <a:ea typeface="Arial"/>
                <a:cs typeface="Arial"/>
              </a:defRPr>
            </a:lvl7pPr>
            <a:lvl8pPr>
              <a:defRPr sz="1725" b="0">
                <a:solidFill>
                  <a:srgbClr val="625B74"/>
                </a:solidFill>
                <a:latin typeface="Arial"/>
                <a:ea typeface="Arial"/>
                <a:cs typeface="Arial"/>
              </a:defRPr>
            </a:lvl8pPr>
            <a:lvl9pPr>
              <a:defRPr sz="1725" b="0">
                <a:solidFill>
                  <a:srgbClr val="625B74"/>
                </a:solidFill>
                <a:latin typeface="Arial"/>
                <a:ea typeface="Arial"/>
                <a:cs typeface="Arial"/>
              </a:defRPr>
            </a:lvl9pPr>
          </a:lstStyle>
          <a:p xmlns:a="http://schemas.openxmlformats.org/drawingml/2006/main">
            <a:pPr>
              <a:defRPr sz="1725" b="0">
                <a:solidFill>
                  <a:srgbClr val="625B74"/>
                </a:solidFill>
                <a:latin typeface="Arial"/>
                <a:ea typeface="Arial"/>
                <a:cs typeface="Arial"/>
              </a:defRPr>
            </a:pPr>
            <a:r>
              <a:rPr sz="1725" b="0">
                <a:solidFill>
                  <a:srgbClr val="625B74"/>
                </a:solidFill>
                <a:latin typeface="Arial"/>
                <a:ea typeface="Arial"/>
                <a:cs typeface="Arial"/>
              </a:rPr>
              <a:t>OpenAPI contract. Tests for boundaries, ranking, both sources and failures.</a:t>
            </a:r>
          </a:p>
        </p:txBody>
      </p:sp>
    </p:spTree>
    <p:extLst>
      <p:ext uri="{BB962C8B-B14F-4D97-AF65-F5344CB8AC3E}">
        <p14:creationId xmlns:p14="http://schemas.microsoft.com/office/powerpoint/2010/main" val="1160127893"/>
      </p:ext>
    </p:extLst>
  </p:cSld>
</p:sld>
</file>

<file path=ppt/slides/slide9.xml><?xml version="1.0" encoding="utf-8"?>
<p:sld xmlns:p="http://schemas.openxmlformats.org/presentationml/2006/main">
  <p:cSld>
    <p:bg>
      <p:bgPr>
        <a:solidFill xmlns:a="http://schemas.openxmlformats.org/drawingml/2006/main">
          <a:srgbClr val="F7F6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40998E0-E2A9-4C0A-AA35-89443EAC5E2C}"/>
              </a:ext>
            </a:extLst>
          </p:cNvPr>
          <p:cNvSpPr>
            <a:spLocks xmlns:a="http://schemas.openxmlformats.org/drawingml/2006/main" noGrp="1"/>
          </p:cNvSpPr>
          <p:nvPr/>
        </p:nvSpPr>
        <p:spPr>
          <a:xfrm xmlns:a="http://schemas.openxmlformats.org/drawingml/2006/main">
            <a:off x="685800" y="514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42039"/>
                </a:solidFill>
                <a:latin typeface="Arial"/>
                <a:ea typeface="Arial"/>
                <a:cs typeface="Arial"/>
              </a:defRPr>
            </a:defPPr>
            <a:lvl1pPr>
              <a:defRPr sz="3450" b="1">
                <a:solidFill>
                  <a:srgbClr val="242039"/>
                </a:solidFill>
                <a:latin typeface="Arial"/>
                <a:ea typeface="Arial"/>
                <a:cs typeface="Arial"/>
              </a:defRPr>
            </a:lvl1pPr>
            <a:lvl2pPr>
              <a:defRPr sz="3450" b="1">
                <a:solidFill>
                  <a:srgbClr val="242039"/>
                </a:solidFill>
                <a:latin typeface="Arial"/>
                <a:ea typeface="Arial"/>
                <a:cs typeface="Arial"/>
              </a:defRPr>
            </a:lvl2pPr>
            <a:lvl3pPr>
              <a:defRPr sz="3450" b="1">
                <a:solidFill>
                  <a:srgbClr val="242039"/>
                </a:solidFill>
                <a:latin typeface="Arial"/>
                <a:ea typeface="Arial"/>
                <a:cs typeface="Arial"/>
              </a:defRPr>
            </a:lvl3pPr>
            <a:lvl4pPr>
              <a:defRPr sz="3450" b="1">
                <a:solidFill>
                  <a:srgbClr val="242039"/>
                </a:solidFill>
                <a:latin typeface="Arial"/>
                <a:ea typeface="Arial"/>
                <a:cs typeface="Arial"/>
              </a:defRPr>
            </a:lvl4pPr>
            <a:lvl5pPr>
              <a:defRPr sz="3450" b="1">
                <a:solidFill>
                  <a:srgbClr val="242039"/>
                </a:solidFill>
                <a:latin typeface="Arial"/>
                <a:ea typeface="Arial"/>
                <a:cs typeface="Arial"/>
              </a:defRPr>
            </a:lvl5pPr>
            <a:lvl6pPr>
              <a:defRPr sz="3450" b="1">
                <a:solidFill>
                  <a:srgbClr val="242039"/>
                </a:solidFill>
                <a:latin typeface="Arial"/>
                <a:ea typeface="Arial"/>
                <a:cs typeface="Arial"/>
              </a:defRPr>
            </a:lvl6pPr>
            <a:lvl7pPr>
              <a:defRPr sz="3450" b="1">
                <a:solidFill>
                  <a:srgbClr val="242039"/>
                </a:solidFill>
                <a:latin typeface="Arial"/>
                <a:ea typeface="Arial"/>
                <a:cs typeface="Arial"/>
              </a:defRPr>
            </a:lvl7pPr>
            <a:lvl8pPr>
              <a:defRPr sz="3450" b="1">
                <a:solidFill>
                  <a:srgbClr val="242039"/>
                </a:solidFill>
                <a:latin typeface="Arial"/>
                <a:ea typeface="Arial"/>
                <a:cs typeface="Arial"/>
              </a:defRPr>
            </a:lvl8pPr>
            <a:lvl9pPr>
              <a:defRPr sz="3450" b="1">
                <a:solidFill>
                  <a:srgbClr val="242039"/>
                </a:solidFill>
                <a:latin typeface="Arial"/>
                <a:ea typeface="Arial"/>
                <a:cs typeface="Arial"/>
              </a:defRPr>
            </a:lvl9pPr>
          </a:lstStyle>
          <a:p xmlns:a="http://schemas.openxmlformats.org/drawingml/2006/main">
            <a:pPr>
              <a:defRPr sz="3450" b="1">
                <a:solidFill>
                  <a:srgbClr val="242039"/>
                </a:solidFill>
                <a:latin typeface="Arial"/>
                <a:ea typeface="Arial"/>
                <a:cs typeface="Arial"/>
              </a:defRPr>
            </a:pPr>
            <a:r>
              <a:rPr sz="3450" b="1">
                <a:solidFill>
                  <a:srgbClr val="242039"/>
                </a:solidFill>
                <a:latin typeface="Arial"/>
                <a:ea typeface="Arial"/>
                <a:cs typeface="Arial"/>
              </a:rPr>
              <a:t>Questions we expect</a:t>
            </a:r>
          </a:p>
        </p:txBody>
      </p:sp>
      <p:sp>
        <p:nvSpPr>
          <p:cNvPr id="2" name="">
            <a:extLst xmlns:a="http://schemas.openxmlformats.org/drawingml/2006/main">
              <a:ext uri="{FF2B5EF4-FFF2-40B4-BE49-F238E27FC236}">
                <a16:creationId xmlns:a16="http://schemas.microsoft.com/office/drawing/2014/main" id="{1FD5957E-27C6-4DCA-BFA3-EFBDFD5A94EB}"/>
              </a:ext>
            </a:extLst>
          </p:cNvPr>
          <p:cNvSpPr>
            <a:spLocks xmlns:a="http://schemas.openxmlformats.org/drawingml/2006/main" noGrp="1"/>
          </p:cNvSpPr>
          <p:nvPr/>
        </p:nvSpPr>
        <p:spPr>
          <a:xfrm xmlns:a="http://schemas.openxmlformats.org/drawingml/2006/main">
            <a:off x="10477500" y="6296025"/>
            <a:ext cx="1028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625B74"/>
                </a:solidFill>
                <a:latin typeface="Arial"/>
                <a:ea typeface="Arial"/>
                <a:cs typeface="Arial"/>
              </a:defRPr>
            </a:defPPr>
            <a:lvl1pPr>
              <a:defRPr sz="1425" b="0">
                <a:solidFill>
                  <a:srgbClr val="625B74"/>
                </a:solidFill>
                <a:latin typeface="Arial"/>
                <a:ea typeface="Arial"/>
                <a:cs typeface="Arial"/>
              </a:defRPr>
            </a:lvl1pPr>
            <a:lvl2pPr>
              <a:defRPr sz="1425" b="0">
                <a:solidFill>
                  <a:srgbClr val="625B74"/>
                </a:solidFill>
                <a:latin typeface="Arial"/>
                <a:ea typeface="Arial"/>
                <a:cs typeface="Arial"/>
              </a:defRPr>
            </a:lvl2pPr>
            <a:lvl3pPr>
              <a:defRPr sz="1425" b="0">
                <a:solidFill>
                  <a:srgbClr val="625B74"/>
                </a:solidFill>
                <a:latin typeface="Arial"/>
                <a:ea typeface="Arial"/>
                <a:cs typeface="Arial"/>
              </a:defRPr>
            </a:lvl3pPr>
            <a:lvl4pPr>
              <a:defRPr sz="1425" b="0">
                <a:solidFill>
                  <a:srgbClr val="625B74"/>
                </a:solidFill>
                <a:latin typeface="Arial"/>
                <a:ea typeface="Arial"/>
                <a:cs typeface="Arial"/>
              </a:defRPr>
            </a:lvl4pPr>
            <a:lvl5pPr>
              <a:defRPr sz="1425" b="0">
                <a:solidFill>
                  <a:srgbClr val="625B74"/>
                </a:solidFill>
                <a:latin typeface="Arial"/>
                <a:ea typeface="Arial"/>
                <a:cs typeface="Arial"/>
              </a:defRPr>
            </a:lvl5pPr>
            <a:lvl6pPr>
              <a:defRPr sz="1425" b="0">
                <a:solidFill>
                  <a:srgbClr val="625B74"/>
                </a:solidFill>
                <a:latin typeface="Arial"/>
                <a:ea typeface="Arial"/>
                <a:cs typeface="Arial"/>
              </a:defRPr>
            </a:lvl6pPr>
            <a:lvl7pPr>
              <a:defRPr sz="1425" b="0">
                <a:solidFill>
                  <a:srgbClr val="625B74"/>
                </a:solidFill>
                <a:latin typeface="Arial"/>
                <a:ea typeface="Arial"/>
                <a:cs typeface="Arial"/>
              </a:defRPr>
            </a:lvl7pPr>
            <a:lvl8pPr>
              <a:defRPr sz="1425" b="0">
                <a:solidFill>
                  <a:srgbClr val="625B74"/>
                </a:solidFill>
                <a:latin typeface="Arial"/>
                <a:ea typeface="Arial"/>
                <a:cs typeface="Arial"/>
              </a:defRPr>
            </a:lvl8pPr>
            <a:lvl9pPr>
              <a:defRPr sz="1425" b="0">
                <a:solidFill>
                  <a:srgbClr val="625B74"/>
                </a:solidFill>
                <a:latin typeface="Arial"/>
                <a:ea typeface="Arial"/>
                <a:cs typeface="Arial"/>
              </a:defRPr>
            </a:lvl9pPr>
          </a:lstStyle>
          <a:p xmlns:a="http://schemas.openxmlformats.org/drawingml/2006/main">
            <a:pPr>
              <a:defRPr sz="1425" b="0">
                <a:solidFill>
                  <a:srgbClr val="625B74"/>
                </a:solidFill>
                <a:latin typeface="Arial"/>
                <a:ea typeface="Arial"/>
                <a:cs typeface="Arial"/>
              </a:defRPr>
            </a:pPr>
            <a:r>
              <a:rPr sz="1425" b="0">
                <a:solidFill>
                  <a:srgbClr val="625B74"/>
                </a:solidFill>
                <a:latin typeface="Arial"/>
                <a:ea typeface="Arial"/>
                <a:cs typeface="Arial"/>
              </a:rPr>
              <a:t>Backup</a:t>
            </a:r>
          </a:p>
        </p:txBody>
      </p:sp>
      <p:sp>
        <p:nvSpPr>
          <p:cNvPr id="3" name="">
            <a:extLst xmlns:a="http://schemas.openxmlformats.org/drawingml/2006/main">
              <a:ext uri="{FF2B5EF4-FFF2-40B4-BE49-F238E27FC236}">
                <a16:creationId xmlns:a16="http://schemas.microsoft.com/office/drawing/2014/main" id="{92FFFE94-37DA-4B6D-AA41-ED8C1C2B62C1}"/>
              </a:ext>
            </a:extLst>
          </p:cNvPr>
          <p:cNvSpPr>
            <a:spLocks xmlns:a="http://schemas.openxmlformats.org/drawingml/2006/main" noGrp="1"/>
          </p:cNvSpPr>
          <p:nvPr/>
        </p:nvSpPr>
        <p:spPr>
          <a:xfrm xmlns:a="http://schemas.openxmlformats.org/drawingml/2006/main">
            <a:off x="762000" y="1619250"/>
            <a:ext cx="3286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58458D"/>
                </a:solidFill>
                <a:latin typeface="Arial"/>
                <a:ea typeface="Arial"/>
                <a:cs typeface="Arial"/>
              </a:defRPr>
            </a:defPPr>
            <a:lvl1pPr>
              <a:defRPr sz="2100" b="1">
                <a:solidFill>
                  <a:srgbClr val="58458D"/>
                </a:solidFill>
                <a:latin typeface="Arial"/>
                <a:ea typeface="Arial"/>
                <a:cs typeface="Arial"/>
              </a:defRPr>
            </a:lvl1pPr>
            <a:lvl2pPr>
              <a:defRPr sz="2100" b="1">
                <a:solidFill>
                  <a:srgbClr val="58458D"/>
                </a:solidFill>
                <a:latin typeface="Arial"/>
                <a:ea typeface="Arial"/>
                <a:cs typeface="Arial"/>
              </a:defRPr>
            </a:lvl2pPr>
            <a:lvl3pPr>
              <a:defRPr sz="2100" b="1">
                <a:solidFill>
                  <a:srgbClr val="58458D"/>
                </a:solidFill>
                <a:latin typeface="Arial"/>
                <a:ea typeface="Arial"/>
                <a:cs typeface="Arial"/>
              </a:defRPr>
            </a:lvl3pPr>
            <a:lvl4pPr>
              <a:defRPr sz="2100" b="1">
                <a:solidFill>
                  <a:srgbClr val="58458D"/>
                </a:solidFill>
                <a:latin typeface="Arial"/>
                <a:ea typeface="Arial"/>
                <a:cs typeface="Arial"/>
              </a:defRPr>
            </a:lvl4pPr>
            <a:lvl5pPr>
              <a:defRPr sz="2100" b="1">
                <a:solidFill>
                  <a:srgbClr val="58458D"/>
                </a:solidFill>
                <a:latin typeface="Arial"/>
                <a:ea typeface="Arial"/>
                <a:cs typeface="Arial"/>
              </a:defRPr>
            </a:lvl5pPr>
            <a:lvl6pPr>
              <a:defRPr sz="2100" b="1">
                <a:solidFill>
                  <a:srgbClr val="58458D"/>
                </a:solidFill>
                <a:latin typeface="Arial"/>
                <a:ea typeface="Arial"/>
                <a:cs typeface="Arial"/>
              </a:defRPr>
            </a:lvl6pPr>
            <a:lvl7pPr>
              <a:defRPr sz="2100" b="1">
                <a:solidFill>
                  <a:srgbClr val="58458D"/>
                </a:solidFill>
                <a:latin typeface="Arial"/>
                <a:ea typeface="Arial"/>
                <a:cs typeface="Arial"/>
              </a:defRPr>
            </a:lvl7pPr>
            <a:lvl8pPr>
              <a:defRPr sz="2100" b="1">
                <a:solidFill>
                  <a:srgbClr val="58458D"/>
                </a:solidFill>
                <a:latin typeface="Arial"/>
                <a:ea typeface="Arial"/>
                <a:cs typeface="Arial"/>
              </a:defRPr>
            </a:lvl8pPr>
            <a:lvl9pPr>
              <a:defRPr sz="2100" b="1">
                <a:solidFill>
                  <a:srgbClr val="58458D"/>
                </a:solidFill>
                <a:latin typeface="Arial"/>
                <a:ea typeface="Arial"/>
                <a:cs typeface="Arial"/>
              </a:defRPr>
            </a:lvl9pPr>
          </a:lstStyle>
          <a:p xmlns:a="http://schemas.openxmlformats.org/drawingml/2006/main">
            <a:pPr>
              <a:defRPr sz="2100" b="1">
                <a:solidFill>
                  <a:srgbClr val="58458D"/>
                </a:solidFill>
                <a:latin typeface="Arial"/>
                <a:ea typeface="Arial"/>
                <a:cs typeface="Arial"/>
              </a:defRPr>
            </a:pPr>
            <a:r>
              <a:rPr sz="2100" b="1">
                <a:solidFill>
                  <a:srgbClr val="58458D"/>
                </a:solidFill>
                <a:latin typeface="Arial"/>
                <a:ea typeface="Arial"/>
                <a:cs typeface="Arial"/>
              </a:rPr>
              <a:t>Why use AI?</a:t>
            </a:r>
          </a:p>
        </p:txBody>
      </p:sp>
      <p:sp>
        <p:nvSpPr>
          <p:cNvPr id="4" name="">
            <a:extLst xmlns:a="http://schemas.openxmlformats.org/drawingml/2006/main">
              <a:ext uri="{FF2B5EF4-FFF2-40B4-BE49-F238E27FC236}">
                <a16:creationId xmlns:a16="http://schemas.microsoft.com/office/drawing/2014/main" id="{8284F051-7DC1-459E-BA42-5DB32973C75E}"/>
              </a:ext>
            </a:extLst>
          </p:cNvPr>
          <p:cNvSpPr>
            <a:spLocks xmlns:a="http://schemas.openxmlformats.org/drawingml/2006/main" noGrp="1"/>
          </p:cNvSpPr>
          <p:nvPr/>
        </p:nvSpPr>
        <p:spPr>
          <a:xfrm xmlns:a="http://schemas.openxmlformats.org/drawingml/2006/main">
            <a:off x="4238625" y="1619250"/>
            <a:ext cx="7096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2039"/>
                </a:solidFill>
                <a:latin typeface="Arial"/>
                <a:ea typeface="Arial"/>
                <a:cs typeface="Arial"/>
              </a:defRPr>
            </a:defPPr>
            <a:lvl1pPr>
              <a:defRPr sz="2025" b="0">
                <a:solidFill>
                  <a:srgbClr val="242039"/>
                </a:solidFill>
                <a:latin typeface="Arial"/>
                <a:ea typeface="Arial"/>
                <a:cs typeface="Arial"/>
              </a:defRPr>
            </a:lvl1pPr>
            <a:lvl2pPr>
              <a:defRPr sz="2025" b="0">
                <a:solidFill>
                  <a:srgbClr val="242039"/>
                </a:solidFill>
                <a:latin typeface="Arial"/>
                <a:ea typeface="Arial"/>
                <a:cs typeface="Arial"/>
              </a:defRPr>
            </a:lvl2pPr>
            <a:lvl3pPr>
              <a:defRPr sz="2025" b="0">
                <a:solidFill>
                  <a:srgbClr val="242039"/>
                </a:solidFill>
                <a:latin typeface="Arial"/>
                <a:ea typeface="Arial"/>
                <a:cs typeface="Arial"/>
              </a:defRPr>
            </a:lvl3pPr>
            <a:lvl4pPr>
              <a:defRPr sz="2025" b="0">
                <a:solidFill>
                  <a:srgbClr val="242039"/>
                </a:solidFill>
                <a:latin typeface="Arial"/>
                <a:ea typeface="Arial"/>
                <a:cs typeface="Arial"/>
              </a:defRPr>
            </a:lvl4pPr>
            <a:lvl5pPr>
              <a:defRPr sz="2025" b="0">
                <a:solidFill>
                  <a:srgbClr val="242039"/>
                </a:solidFill>
                <a:latin typeface="Arial"/>
                <a:ea typeface="Arial"/>
                <a:cs typeface="Arial"/>
              </a:defRPr>
            </a:lvl5pPr>
            <a:lvl6pPr>
              <a:defRPr sz="2025" b="0">
                <a:solidFill>
                  <a:srgbClr val="242039"/>
                </a:solidFill>
                <a:latin typeface="Arial"/>
                <a:ea typeface="Arial"/>
                <a:cs typeface="Arial"/>
              </a:defRPr>
            </a:lvl6pPr>
            <a:lvl7pPr>
              <a:defRPr sz="2025" b="0">
                <a:solidFill>
                  <a:srgbClr val="242039"/>
                </a:solidFill>
                <a:latin typeface="Arial"/>
                <a:ea typeface="Arial"/>
                <a:cs typeface="Arial"/>
              </a:defRPr>
            </a:lvl7pPr>
            <a:lvl8pPr>
              <a:defRPr sz="2025" b="0">
                <a:solidFill>
                  <a:srgbClr val="242039"/>
                </a:solidFill>
                <a:latin typeface="Arial"/>
                <a:ea typeface="Arial"/>
                <a:cs typeface="Arial"/>
              </a:defRPr>
            </a:lvl8pPr>
            <a:lvl9pPr>
              <a:defRPr sz="2025" b="0">
                <a:solidFill>
                  <a:srgbClr val="242039"/>
                </a:solidFill>
                <a:latin typeface="Arial"/>
                <a:ea typeface="Arial"/>
                <a:cs typeface="Arial"/>
              </a:defRPr>
            </a:lvl9pPr>
          </a:lstStyle>
          <a:p xmlns:a="http://schemas.openxmlformats.org/drawingml/2006/main">
            <a:pPr>
              <a:defRPr sz="2025" b="0">
                <a:solidFill>
                  <a:srgbClr val="242039"/>
                </a:solidFill>
                <a:latin typeface="Arial"/>
                <a:ea typeface="Arial"/>
                <a:cs typeface="Arial"/>
              </a:defRPr>
            </a:pPr>
            <a:r>
              <a:rPr sz="2025" b="0">
                <a:solidFill>
                  <a:srgbClr val="242039"/>
                </a:solidFill>
                <a:latin typeface="Arial"/>
                <a:ea typeface="Arial"/>
                <a:cs typeface="Arial"/>
              </a:rPr>
              <a:t>To discuss selected evidence and propose options.</a:t>
            </a:r>
          </a:p>
          <a:p xmlns:a="http://schemas.openxmlformats.org/drawingml/2006/main">
            <a:pPr>
              <a:defRPr sz="2025" b="0">
                <a:solidFill>
                  <a:srgbClr val="242039"/>
                </a:solidFill>
                <a:latin typeface="Arial"/>
                <a:ea typeface="Arial"/>
                <a:cs typeface="Arial"/>
              </a:defRPr>
            </a:pPr>
            <a:r>
              <a:rPr sz="2025" b="0">
                <a:solidFill>
                  <a:srgbClr val="242039"/>
                </a:solidFill>
                <a:latin typeface="Arial"/>
                <a:ea typeface="Arial"/>
                <a:cs typeface="Arial"/>
              </a:rPr>
              <a:t>The score stays deterministic.</a:t>
            </a:r>
          </a:p>
        </p:txBody>
      </p:sp>
      <p:sp>
        <p:nvSpPr>
          <p:cNvPr id="5" name="">
            <a:extLst xmlns:a="http://schemas.openxmlformats.org/drawingml/2006/main">
              <a:ext uri="{FF2B5EF4-FFF2-40B4-BE49-F238E27FC236}">
                <a16:creationId xmlns:a16="http://schemas.microsoft.com/office/drawing/2014/main" id="{DF95E603-9A53-43E3-AEAF-1545CC01828D}"/>
              </a:ext>
            </a:extLst>
          </p:cNvPr>
          <p:cNvSpPr>
            <a:spLocks xmlns:a="http://schemas.openxmlformats.org/drawingml/2006/main" noGrp="1"/>
          </p:cNvSpPr>
          <p:nvPr/>
        </p:nvSpPr>
        <p:spPr>
          <a:xfrm xmlns:a="http://schemas.openxmlformats.org/drawingml/2006/main">
            <a:off x="762000" y="2771775"/>
            <a:ext cx="3286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58458D"/>
                </a:solidFill>
                <a:latin typeface="Arial"/>
                <a:ea typeface="Arial"/>
                <a:cs typeface="Arial"/>
              </a:defRPr>
            </a:defPPr>
            <a:lvl1pPr>
              <a:defRPr sz="2100" b="1">
                <a:solidFill>
                  <a:srgbClr val="58458D"/>
                </a:solidFill>
                <a:latin typeface="Arial"/>
                <a:ea typeface="Arial"/>
                <a:cs typeface="Arial"/>
              </a:defRPr>
            </a:lvl1pPr>
            <a:lvl2pPr>
              <a:defRPr sz="2100" b="1">
                <a:solidFill>
                  <a:srgbClr val="58458D"/>
                </a:solidFill>
                <a:latin typeface="Arial"/>
                <a:ea typeface="Arial"/>
                <a:cs typeface="Arial"/>
              </a:defRPr>
            </a:lvl2pPr>
            <a:lvl3pPr>
              <a:defRPr sz="2100" b="1">
                <a:solidFill>
                  <a:srgbClr val="58458D"/>
                </a:solidFill>
                <a:latin typeface="Arial"/>
                <a:ea typeface="Arial"/>
                <a:cs typeface="Arial"/>
              </a:defRPr>
            </a:lvl3pPr>
            <a:lvl4pPr>
              <a:defRPr sz="2100" b="1">
                <a:solidFill>
                  <a:srgbClr val="58458D"/>
                </a:solidFill>
                <a:latin typeface="Arial"/>
                <a:ea typeface="Arial"/>
                <a:cs typeface="Arial"/>
              </a:defRPr>
            </a:lvl4pPr>
            <a:lvl5pPr>
              <a:defRPr sz="2100" b="1">
                <a:solidFill>
                  <a:srgbClr val="58458D"/>
                </a:solidFill>
                <a:latin typeface="Arial"/>
                <a:ea typeface="Arial"/>
                <a:cs typeface="Arial"/>
              </a:defRPr>
            </a:lvl5pPr>
            <a:lvl6pPr>
              <a:defRPr sz="2100" b="1">
                <a:solidFill>
                  <a:srgbClr val="58458D"/>
                </a:solidFill>
                <a:latin typeface="Arial"/>
                <a:ea typeface="Arial"/>
                <a:cs typeface="Arial"/>
              </a:defRPr>
            </a:lvl6pPr>
            <a:lvl7pPr>
              <a:defRPr sz="2100" b="1">
                <a:solidFill>
                  <a:srgbClr val="58458D"/>
                </a:solidFill>
                <a:latin typeface="Arial"/>
                <a:ea typeface="Arial"/>
                <a:cs typeface="Arial"/>
              </a:defRPr>
            </a:lvl7pPr>
            <a:lvl8pPr>
              <a:defRPr sz="2100" b="1">
                <a:solidFill>
                  <a:srgbClr val="58458D"/>
                </a:solidFill>
                <a:latin typeface="Arial"/>
                <a:ea typeface="Arial"/>
                <a:cs typeface="Arial"/>
              </a:defRPr>
            </a:lvl8pPr>
            <a:lvl9pPr>
              <a:defRPr sz="2100" b="1">
                <a:solidFill>
                  <a:srgbClr val="58458D"/>
                </a:solidFill>
                <a:latin typeface="Arial"/>
                <a:ea typeface="Arial"/>
                <a:cs typeface="Arial"/>
              </a:defRPr>
            </a:lvl9pPr>
          </a:lstStyle>
          <a:p xmlns:a="http://schemas.openxmlformats.org/drawingml/2006/main">
            <a:pPr>
              <a:defRPr sz="2100" b="1">
                <a:solidFill>
                  <a:srgbClr val="58458D"/>
                </a:solidFill>
                <a:latin typeface="Arial"/>
                <a:ea typeface="Arial"/>
                <a:cs typeface="Arial"/>
              </a:defRPr>
            </a:pPr>
            <a:r>
              <a:rPr sz="2100" b="1">
                <a:solidFill>
                  <a:srgbClr val="58458D"/>
                </a:solidFill>
                <a:latin typeface="Arial"/>
                <a:ea typeface="Arial"/>
                <a:cs typeface="Arial"/>
              </a:rPr>
              <a:t>Are the numbers live?</a:t>
            </a:r>
          </a:p>
        </p:txBody>
      </p:sp>
      <p:sp>
        <p:nvSpPr>
          <p:cNvPr id="6" name="">
            <a:extLst xmlns:a="http://schemas.openxmlformats.org/drawingml/2006/main">
              <a:ext uri="{FF2B5EF4-FFF2-40B4-BE49-F238E27FC236}">
                <a16:creationId xmlns:a16="http://schemas.microsoft.com/office/drawing/2014/main" id="{8DC30BAF-448E-42AF-9D3D-F3F98F0EB6A9}"/>
              </a:ext>
            </a:extLst>
          </p:cNvPr>
          <p:cNvSpPr>
            <a:spLocks xmlns:a="http://schemas.openxmlformats.org/drawingml/2006/main" noGrp="1"/>
          </p:cNvSpPr>
          <p:nvPr/>
        </p:nvSpPr>
        <p:spPr>
          <a:xfrm xmlns:a="http://schemas.openxmlformats.org/drawingml/2006/main">
            <a:off x="4238625" y="2771775"/>
            <a:ext cx="7096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2039"/>
                </a:solidFill>
                <a:latin typeface="Arial"/>
                <a:ea typeface="Arial"/>
                <a:cs typeface="Arial"/>
              </a:defRPr>
            </a:defPPr>
            <a:lvl1pPr>
              <a:defRPr sz="2025" b="0">
                <a:solidFill>
                  <a:srgbClr val="242039"/>
                </a:solidFill>
                <a:latin typeface="Arial"/>
                <a:ea typeface="Arial"/>
                <a:cs typeface="Arial"/>
              </a:defRPr>
            </a:lvl1pPr>
            <a:lvl2pPr>
              <a:defRPr sz="2025" b="0">
                <a:solidFill>
                  <a:srgbClr val="242039"/>
                </a:solidFill>
                <a:latin typeface="Arial"/>
                <a:ea typeface="Arial"/>
                <a:cs typeface="Arial"/>
              </a:defRPr>
            </a:lvl2pPr>
            <a:lvl3pPr>
              <a:defRPr sz="2025" b="0">
                <a:solidFill>
                  <a:srgbClr val="242039"/>
                </a:solidFill>
                <a:latin typeface="Arial"/>
                <a:ea typeface="Arial"/>
                <a:cs typeface="Arial"/>
              </a:defRPr>
            </a:lvl3pPr>
            <a:lvl4pPr>
              <a:defRPr sz="2025" b="0">
                <a:solidFill>
                  <a:srgbClr val="242039"/>
                </a:solidFill>
                <a:latin typeface="Arial"/>
                <a:ea typeface="Arial"/>
                <a:cs typeface="Arial"/>
              </a:defRPr>
            </a:lvl4pPr>
            <a:lvl5pPr>
              <a:defRPr sz="2025" b="0">
                <a:solidFill>
                  <a:srgbClr val="242039"/>
                </a:solidFill>
                <a:latin typeface="Arial"/>
                <a:ea typeface="Arial"/>
                <a:cs typeface="Arial"/>
              </a:defRPr>
            </a:lvl5pPr>
            <a:lvl6pPr>
              <a:defRPr sz="2025" b="0">
                <a:solidFill>
                  <a:srgbClr val="242039"/>
                </a:solidFill>
                <a:latin typeface="Arial"/>
                <a:ea typeface="Arial"/>
                <a:cs typeface="Arial"/>
              </a:defRPr>
            </a:lvl6pPr>
            <a:lvl7pPr>
              <a:defRPr sz="2025" b="0">
                <a:solidFill>
                  <a:srgbClr val="242039"/>
                </a:solidFill>
                <a:latin typeface="Arial"/>
                <a:ea typeface="Arial"/>
                <a:cs typeface="Arial"/>
              </a:defRPr>
            </a:lvl7pPr>
            <a:lvl8pPr>
              <a:defRPr sz="2025" b="0">
                <a:solidFill>
                  <a:srgbClr val="242039"/>
                </a:solidFill>
                <a:latin typeface="Arial"/>
                <a:ea typeface="Arial"/>
                <a:cs typeface="Arial"/>
              </a:defRPr>
            </a:lvl8pPr>
            <a:lvl9pPr>
              <a:defRPr sz="2025" b="0">
                <a:solidFill>
                  <a:srgbClr val="242039"/>
                </a:solidFill>
                <a:latin typeface="Arial"/>
                <a:ea typeface="Arial"/>
                <a:cs typeface="Arial"/>
              </a:defRPr>
            </a:lvl9pPr>
          </a:lstStyle>
          <a:p xmlns:a="http://schemas.openxmlformats.org/drawingml/2006/main">
            <a:pPr>
              <a:defRPr sz="2025" b="0">
                <a:solidFill>
                  <a:srgbClr val="242039"/>
                </a:solidFill>
                <a:latin typeface="Arial"/>
                <a:ea typeface="Arial"/>
                <a:cs typeface="Arial"/>
              </a:defRPr>
            </a:pPr>
            <a:r>
              <a:rPr sz="2025" b="0">
                <a:solidFill>
                  <a:srgbClr val="242039"/>
                </a:solidFill>
                <a:latin typeface="Arial"/>
                <a:ea typeface="Arial"/>
                <a:cs typeface="Arial"/>
              </a:rPr>
              <a:t>No. The preset data is explicitly fictional.</a:t>
            </a:r>
          </a:p>
        </p:txBody>
      </p:sp>
      <p:sp>
        <p:nvSpPr>
          <p:cNvPr id="7" name="">
            <a:extLst xmlns:a="http://schemas.openxmlformats.org/drawingml/2006/main">
              <a:ext uri="{FF2B5EF4-FFF2-40B4-BE49-F238E27FC236}">
                <a16:creationId xmlns:a16="http://schemas.microsoft.com/office/drawing/2014/main" id="{27FD9C49-5528-48FA-8F97-10607DF307C6}"/>
              </a:ext>
            </a:extLst>
          </p:cNvPr>
          <p:cNvSpPr>
            <a:spLocks xmlns:a="http://schemas.openxmlformats.org/drawingml/2006/main" noGrp="1"/>
          </p:cNvSpPr>
          <p:nvPr/>
        </p:nvSpPr>
        <p:spPr>
          <a:xfrm xmlns:a="http://schemas.openxmlformats.org/drawingml/2006/main">
            <a:off x="762000" y="3924300"/>
            <a:ext cx="3286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58458D"/>
                </a:solidFill>
                <a:latin typeface="Arial"/>
                <a:ea typeface="Arial"/>
                <a:cs typeface="Arial"/>
              </a:defRPr>
            </a:defPPr>
            <a:lvl1pPr>
              <a:defRPr sz="2100" b="1">
                <a:solidFill>
                  <a:srgbClr val="58458D"/>
                </a:solidFill>
                <a:latin typeface="Arial"/>
                <a:ea typeface="Arial"/>
                <a:cs typeface="Arial"/>
              </a:defRPr>
            </a:lvl1pPr>
            <a:lvl2pPr>
              <a:defRPr sz="2100" b="1">
                <a:solidFill>
                  <a:srgbClr val="58458D"/>
                </a:solidFill>
                <a:latin typeface="Arial"/>
                <a:ea typeface="Arial"/>
                <a:cs typeface="Arial"/>
              </a:defRPr>
            </a:lvl2pPr>
            <a:lvl3pPr>
              <a:defRPr sz="2100" b="1">
                <a:solidFill>
                  <a:srgbClr val="58458D"/>
                </a:solidFill>
                <a:latin typeface="Arial"/>
                <a:ea typeface="Arial"/>
                <a:cs typeface="Arial"/>
              </a:defRPr>
            </a:lvl3pPr>
            <a:lvl4pPr>
              <a:defRPr sz="2100" b="1">
                <a:solidFill>
                  <a:srgbClr val="58458D"/>
                </a:solidFill>
                <a:latin typeface="Arial"/>
                <a:ea typeface="Arial"/>
                <a:cs typeface="Arial"/>
              </a:defRPr>
            </a:lvl4pPr>
            <a:lvl5pPr>
              <a:defRPr sz="2100" b="1">
                <a:solidFill>
                  <a:srgbClr val="58458D"/>
                </a:solidFill>
                <a:latin typeface="Arial"/>
                <a:ea typeface="Arial"/>
                <a:cs typeface="Arial"/>
              </a:defRPr>
            </a:lvl5pPr>
            <a:lvl6pPr>
              <a:defRPr sz="2100" b="1">
                <a:solidFill>
                  <a:srgbClr val="58458D"/>
                </a:solidFill>
                <a:latin typeface="Arial"/>
                <a:ea typeface="Arial"/>
                <a:cs typeface="Arial"/>
              </a:defRPr>
            </a:lvl6pPr>
            <a:lvl7pPr>
              <a:defRPr sz="2100" b="1">
                <a:solidFill>
                  <a:srgbClr val="58458D"/>
                </a:solidFill>
                <a:latin typeface="Arial"/>
                <a:ea typeface="Arial"/>
                <a:cs typeface="Arial"/>
              </a:defRPr>
            </a:lvl7pPr>
            <a:lvl8pPr>
              <a:defRPr sz="2100" b="1">
                <a:solidFill>
                  <a:srgbClr val="58458D"/>
                </a:solidFill>
                <a:latin typeface="Arial"/>
                <a:ea typeface="Arial"/>
                <a:cs typeface="Arial"/>
              </a:defRPr>
            </a:lvl8pPr>
            <a:lvl9pPr>
              <a:defRPr sz="2100" b="1">
                <a:solidFill>
                  <a:srgbClr val="58458D"/>
                </a:solidFill>
                <a:latin typeface="Arial"/>
                <a:ea typeface="Arial"/>
                <a:cs typeface="Arial"/>
              </a:defRPr>
            </a:lvl9pPr>
          </a:lstStyle>
          <a:p xmlns:a="http://schemas.openxmlformats.org/drawingml/2006/main">
            <a:pPr>
              <a:defRPr sz="2100" b="1">
                <a:solidFill>
                  <a:srgbClr val="58458D"/>
                </a:solidFill>
                <a:latin typeface="Arial"/>
                <a:ea typeface="Arial"/>
                <a:cs typeface="Arial"/>
              </a:defRPr>
            </a:pPr>
            <a:r>
              <a:rPr sz="2100" b="1">
                <a:solidFill>
                  <a:srgbClr val="58458D"/>
                </a:solidFill>
                <a:latin typeface="Arial"/>
                <a:ea typeface="Arial"/>
                <a:cs typeface="Arial"/>
              </a:rPr>
              <a:t>What leaves the device?</a:t>
            </a:r>
          </a:p>
        </p:txBody>
      </p:sp>
      <p:sp>
        <p:nvSpPr>
          <p:cNvPr id="8" name="">
            <a:extLst xmlns:a="http://schemas.openxmlformats.org/drawingml/2006/main">
              <a:ext uri="{FF2B5EF4-FFF2-40B4-BE49-F238E27FC236}">
                <a16:creationId xmlns:a16="http://schemas.microsoft.com/office/drawing/2014/main" id="{F09376FC-3E61-4DD0-8032-EF10DC9659D2}"/>
              </a:ext>
            </a:extLst>
          </p:cNvPr>
          <p:cNvSpPr>
            <a:spLocks xmlns:a="http://schemas.openxmlformats.org/drawingml/2006/main" noGrp="1"/>
          </p:cNvSpPr>
          <p:nvPr/>
        </p:nvSpPr>
        <p:spPr>
          <a:xfrm xmlns:a="http://schemas.openxmlformats.org/drawingml/2006/main">
            <a:off x="4238625" y="3924300"/>
            <a:ext cx="7096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2039"/>
                </a:solidFill>
                <a:latin typeface="Arial"/>
                <a:ea typeface="Arial"/>
                <a:cs typeface="Arial"/>
              </a:defRPr>
            </a:defPPr>
            <a:lvl1pPr>
              <a:defRPr sz="2025" b="0">
                <a:solidFill>
                  <a:srgbClr val="242039"/>
                </a:solidFill>
                <a:latin typeface="Arial"/>
                <a:ea typeface="Arial"/>
                <a:cs typeface="Arial"/>
              </a:defRPr>
            </a:lvl1pPr>
            <a:lvl2pPr>
              <a:defRPr sz="2025" b="0">
                <a:solidFill>
                  <a:srgbClr val="242039"/>
                </a:solidFill>
                <a:latin typeface="Arial"/>
                <a:ea typeface="Arial"/>
                <a:cs typeface="Arial"/>
              </a:defRPr>
            </a:lvl2pPr>
            <a:lvl3pPr>
              <a:defRPr sz="2025" b="0">
                <a:solidFill>
                  <a:srgbClr val="242039"/>
                </a:solidFill>
                <a:latin typeface="Arial"/>
                <a:ea typeface="Arial"/>
                <a:cs typeface="Arial"/>
              </a:defRPr>
            </a:lvl3pPr>
            <a:lvl4pPr>
              <a:defRPr sz="2025" b="0">
                <a:solidFill>
                  <a:srgbClr val="242039"/>
                </a:solidFill>
                <a:latin typeface="Arial"/>
                <a:ea typeface="Arial"/>
                <a:cs typeface="Arial"/>
              </a:defRPr>
            </a:lvl4pPr>
            <a:lvl5pPr>
              <a:defRPr sz="2025" b="0">
                <a:solidFill>
                  <a:srgbClr val="242039"/>
                </a:solidFill>
                <a:latin typeface="Arial"/>
                <a:ea typeface="Arial"/>
                <a:cs typeface="Arial"/>
              </a:defRPr>
            </a:lvl5pPr>
            <a:lvl6pPr>
              <a:defRPr sz="2025" b="0">
                <a:solidFill>
                  <a:srgbClr val="242039"/>
                </a:solidFill>
                <a:latin typeface="Arial"/>
                <a:ea typeface="Arial"/>
                <a:cs typeface="Arial"/>
              </a:defRPr>
            </a:lvl6pPr>
            <a:lvl7pPr>
              <a:defRPr sz="2025" b="0">
                <a:solidFill>
                  <a:srgbClr val="242039"/>
                </a:solidFill>
                <a:latin typeface="Arial"/>
                <a:ea typeface="Arial"/>
                <a:cs typeface="Arial"/>
              </a:defRPr>
            </a:lvl7pPr>
            <a:lvl8pPr>
              <a:defRPr sz="2025" b="0">
                <a:solidFill>
                  <a:srgbClr val="242039"/>
                </a:solidFill>
                <a:latin typeface="Arial"/>
                <a:ea typeface="Arial"/>
                <a:cs typeface="Arial"/>
              </a:defRPr>
            </a:lvl8pPr>
            <a:lvl9pPr>
              <a:defRPr sz="2025" b="0">
                <a:solidFill>
                  <a:srgbClr val="242039"/>
                </a:solidFill>
                <a:latin typeface="Arial"/>
                <a:ea typeface="Arial"/>
                <a:cs typeface="Arial"/>
              </a:defRPr>
            </a:lvl9pPr>
          </a:lstStyle>
          <a:p xmlns:a="http://schemas.openxmlformats.org/drawingml/2006/main">
            <a:pPr>
              <a:defRPr sz="2025" b="0">
                <a:solidFill>
                  <a:srgbClr val="242039"/>
                </a:solidFill>
                <a:latin typeface="Arial"/>
                <a:ea typeface="Arial"/>
                <a:cs typeface="Arial"/>
              </a:defRPr>
            </a:pPr>
            <a:r>
              <a:rPr sz="2025" b="0">
                <a:solidFill>
                  <a:srgbClr val="242039"/>
                </a:solidFill>
                <a:latin typeface="Arial"/>
                <a:ea typeface="Arial"/>
                <a:cs typeface="Arial"/>
              </a:rPr>
              <a:t>The question, selected snippets and explicitly requested</a:t>
            </a:r>
          </a:p>
          <a:p xmlns:a="http://schemas.openxmlformats.org/drawingml/2006/main">
            <a:pPr>
              <a:defRPr sz="2025" b="0">
                <a:solidFill>
                  <a:srgbClr val="242039"/>
                </a:solidFill>
                <a:latin typeface="Arial"/>
                <a:ea typeface="Arial"/>
                <a:cs typeface="Arial"/>
              </a:defRPr>
            </a:pPr>
            <a:r>
              <a:rPr sz="2025" b="0">
                <a:solidFill>
                  <a:srgbClr val="242039"/>
                </a:solidFill>
                <a:latin typeface="Arial"/>
                <a:ea typeface="Arial"/>
                <a:cs typeface="Arial"/>
              </a:rPr>
              <a:t>calculated context go to the chosen provider.</a:t>
            </a:r>
          </a:p>
        </p:txBody>
      </p:sp>
      <p:sp>
        <p:nvSpPr>
          <p:cNvPr id="9" name="">
            <a:extLst xmlns:a="http://schemas.openxmlformats.org/drawingml/2006/main">
              <a:ext uri="{FF2B5EF4-FFF2-40B4-BE49-F238E27FC236}">
                <a16:creationId xmlns:a16="http://schemas.microsoft.com/office/drawing/2014/main" id="{A9C4934D-2E12-403F-B3DB-3A2486C60C74}"/>
              </a:ext>
            </a:extLst>
          </p:cNvPr>
          <p:cNvSpPr>
            <a:spLocks xmlns:a="http://schemas.openxmlformats.org/drawingml/2006/main" noGrp="1"/>
          </p:cNvSpPr>
          <p:nvPr/>
        </p:nvSpPr>
        <p:spPr>
          <a:xfrm xmlns:a="http://schemas.openxmlformats.org/drawingml/2006/main">
            <a:off x="762000" y="5076825"/>
            <a:ext cx="3286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58458D"/>
                </a:solidFill>
                <a:latin typeface="Arial"/>
                <a:ea typeface="Arial"/>
                <a:cs typeface="Arial"/>
              </a:defRPr>
            </a:defPPr>
            <a:lvl1pPr>
              <a:defRPr sz="2100" b="1">
                <a:solidFill>
                  <a:srgbClr val="58458D"/>
                </a:solidFill>
                <a:latin typeface="Arial"/>
                <a:ea typeface="Arial"/>
                <a:cs typeface="Arial"/>
              </a:defRPr>
            </a:lvl1pPr>
            <a:lvl2pPr>
              <a:defRPr sz="2100" b="1">
                <a:solidFill>
                  <a:srgbClr val="58458D"/>
                </a:solidFill>
                <a:latin typeface="Arial"/>
                <a:ea typeface="Arial"/>
                <a:cs typeface="Arial"/>
              </a:defRPr>
            </a:lvl2pPr>
            <a:lvl3pPr>
              <a:defRPr sz="2100" b="1">
                <a:solidFill>
                  <a:srgbClr val="58458D"/>
                </a:solidFill>
                <a:latin typeface="Arial"/>
                <a:ea typeface="Arial"/>
                <a:cs typeface="Arial"/>
              </a:defRPr>
            </a:lvl3pPr>
            <a:lvl4pPr>
              <a:defRPr sz="2100" b="1">
                <a:solidFill>
                  <a:srgbClr val="58458D"/>
                </a:solidFill>
                <a:latin typeface="Arial"/>
                <a:ea typeface="Arial"/>
                <a:cs typeface="Arial"/>
              </a:defRPr>
            </a:lvl4pPr>
            <a:lvl5pPr>
              <a:defRPr sz="2100" b="1">
                <a:solidFill>
                  <a:srgbClr val="58458D"/>
                </a:solidFill>
                <a:latin typeface="Arial"/>
                <a:ea typeface="Arial"/>
                <a:cs typeface="Arial"/>
              </a:defRPr>
            </a:lvl5pPr>
            <a:lvl6pPr>
              <a:defRPr sz="2100" b="1">
                <a:solidFill>
                  <a:srgbClr val="58458D"/>
                </a:solidFill>
                <a:latin typeface="Arial"/>
                <a:ea typeface="Arial"/>
                <a:cs typeface="Arial"/>
              </a:defRPr>
            </a:lvl6pPr>
            <a:lvl7pPr>
              <a:defRPr sz="2100" b="1">
                <a:solidFill>
                  <a:srgbClr val="58458D"/>
                </a:solidFill>
                <a:latin typeface="Arial"/>
                <a:ea typeface="Arial"/>
                <a:cs typeface="Arial"/>
              </a:defRPr>
            </a:lvl7pPr>
            <a:lvl8pPr>
              <a:defRPr sz="2100" b="1">
                <a:solidFill>
                  <a:srgbClr val="58458D"/>
                </a:solidFill>
                <a:latin typeface="Arial"/>
                <a:ea typeface="Arial"/>
                <a:cs typeface="Arial"/>
              </a:defRPr>
            </a:lvl8pPr>
            <a:lvl9pPr>
              <a:defRPr sz="2100" b="1">
                <a:solidFill>
                  <a:srgbClr val="58458D"/>
                </a:solidFill>
                <a:latin typeface="Arial"/>
                <a:ea typeface="Arial"/>
                <a:cs typeface="Arial"/>
              </a:defRPr>
            </a:lvl9pPr>
          </a:lstStyle>
          <a:p xmlns:a="http://schemas.openxmlformats.org/drawingml/2006/main">
            <a:pPr>
              <a:defRPr sz="2100" b="1">
                <a:solidFill>
                  <a:srgbClr val="58458D"/>
                </a:solidFill>
                <a:latin typeface="Arial"/>
                <a:ea typeface="Arial"/>
                <a:cs typeface="Arial"/>
              </a:defRPr>
            </a:pPr>
            <a:r>
              <a:rPr sz="2100" b="1">
                <a:solidFill>
                  <a:srgbClr val="58458D"/>
                </a:solidFill>
                <a:latin typeface="Arial"/>
                <a:ea typeface="Arial"/>
                <a:cs typeface="Arial"/>
              </a:rPr>
              <a:t>What did AI help build?</a:t>
            </a:r>
          </a:p>
        </p:txBody>
      </p:sp>
      <p:sp>
        <p:nvSpPr>
          <p:cNvPr id="10" name="">
            <a:extLst xmlns:a="http://schemas.openxmlformats.org/drawingml/2006/main">
              <a:ext uri="{FF2B5EF4-FFF2-40B4-BE49-F238E27FC236}">
                <a16:creationId xmlns:a16="http://schemas.microsoft.com/office/drawing/2014/main" id="{E3428EDF-F39F-4D51-A522-3B6CBD8EB057}"/>
              </a:ext>
            </a:extLst>
          </p:cNvPr>
          <p:cNvSpPr>
            <a:spLocks xmlns:a="http://schemas.openxmlformats.org/drawingml/2006/main" noGrp="1"/>
          </p:cNvSpPr>
          <p:nvPr/>
        </p:nvSpPr>
        <p:spPr>
          <a:xfrm xmlns:a="http://schemas.openxmlformats.org/drawingml/2006/main">
            <a:off x="4238625" y="5076825"/>
            <a:ext cx="7096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2039"/>
                </a:solidFill>
                <a:latin typeface="Arial"/>
                <a:ea typeface="Arial"/>
                <a:cs typeface="Arial"/>
              </a:defRPr>
            </a:defPPr>
            <a:lvl1pPr>
              <a:defRPr sz="2025" b="0">
                <a:solidFill>
                  <a:srgbClr val="242039"/>
                </a:solidFill>
                <a:latin typeface="Arial"/>
                <a:ea typeface="Arial"/>
                <a:cs typeface="Arial"/>
              </a:defRPr>
            </a:lvl1pPr>
            <a:lvl2pPr>
              <a:defRPr sz="2025" b="0">
                <a:solidFill>
                  <a:srgbClr val="242039"/>
                </a:solidFill>
                <a:latin typeface="Arial"/>
                <a:ea typeface="Arial"/>
                <a:cs typeface="Arial"/>
              </a:defRPr>
            </a:lvl2pPr>
            <a:lvl3pPr>
              <a:defRPr sz="2025" b="0">
                <a:solidFill>
                  <a:srgbClr val="242039"/>
                </a:solidFill>
                <a:latin typeface="Arial"/>
                <a:ea typeface="Arial"/>
                <a:cs typeface="Arial"/>
              </a:defRPr>
            </a:lvl3pPr>
            <a:lvl4pPr>
              <a:defRPr sz="2025" b="0">
                <a:solidFill>
                  <a:srgbClr val="242039"/>
                </a:solidFill>
                <a:latin typeface="Arial"/>
                <a:ea typeface="Arial"/>
                <a:cs typeface="Arial"/>
              </a:defRPr>
            </a:lvl4pPr>
            <a:lvl5pPr>
              <a:defRPr sz="2025" b="0">
                <a:solidFill>
                  <a:srgbClr val="242039"/>
                </a:solidFill>
                <a:latin typeface="Arial"/>
                <a:ea typeface="Arial"/>
                <a:cs typeface="Arial"/>
              </a:defRPr>
            </a:lvl5pPr>
            <a:lvl6pPr>
              <a:defRPr sz="2025" b="0">
                <a:solidFill>
                  <a:srgbClr val="242039"/>
                </a:solidFill>
                <a:latin typeface="Arial"/>
                <a:ea typeface="Arial"/>
                <a:cs typeface="Arial"/>
              </a:defRPr>
            </a:lvl6pPr>
            <a:lvl7pPr>
              <a:defRPr sz="2025" b="0">
                <a:solidFill>
                  <a:srgbClr val="242039"/>
                </a:solidFill>
                <a:latin typeface="Arial"/>
                <a:ea typeface="Arial"/>
                <a:cs typeface="Arial"/>
              </a:defRPr>
            </a:lvl7pPr>
            <a:lvl8pPr>
              <a:defRPr sz="2025" b="0">
                <a:solidFill>
                  <a:srgbClr val="242039"/>
                </a:solidFill>
                <a:latin typeface="Arial"/>
                <a:ea typeface="Arial"/>
                <a:cs typeface="Arial"/>
              </a:defRPr>
            </a:lvl8pPr>
            <a:lvl9pPr>
              <a:defRPr sz="2025" b="0">
                <a:solidFill>
                  <a:srgbClr val="242039"/>
                </a:solidFill>
                <a:latin typeface="Arial"/>
                <a:ea typeface="Arial"/>
                <a:cs typeface="Arial"/>
              </a:defRPr>
            </a:lvl9pPr>
          </a:lstStyle>
          <a:p xmlns:a="http://schemas.openxmlformats.org/drawingml/2006/main">
            <a:pPr>
              <a:defRPr sz="2025" b="0">
                <a:solidFill>
                  <a:srgbClr val="242039"/>
                </a:solidFill>
                <a:latin typeface="Arial"/>
                <a:ea typeface="Arial"/>
                <a:cs typeface="Arial"/>
              </a:defRPr>
            </a:pPr>
            <a:r>
              <a:rPr sz="2025" b="0">
                <a:solidFill>
                  <a:srgbClr val="242039"/>
                </a:solidFill>
                <a:latin typeface="Arial"/>
                <a:ea typeface="Arial"/>
                <a:cs typeface="Arial"/>
              </a:rPr>
              <a:t>Codex helped with planning, code, tests and this deck.</a:t>
            </a:r>
          </a:p>
          <a:p xmlns:a="http://schemas.openxmlformats.org/drawingml/2006/main">
            <a:pPr>
              <a:defRPr sz="2025" b="0">
                <a:solidFill>
                  <a:srgbClr val="242039"/>
                </a:solidFill>
                <a:latin typeface="Arial"/>
                <a:ea typeface="Arial"/>
                <a:cs typeface="Arial"/>
              </a:defRPr>
            </a:pPr>
            <a:r>
              <a:rPr sz="2025" b="0">
                <a:solidFill>
                  <a:srgbClr val="242039"/>
                </a:solidFill>
                <a:latin typeface="Arial"/>
                <a:ea typeface="Arial"/>
                <a:cs typeface="Arial"/>
              </a:rPr>
              <a:t>The team reviewed code and records human decisions.</a:t>
            </a:r>
          </a:p>
        </p:txBody>
      </p:sp>
      <p:sp>
        <p:nvSpPr>
          <p:cNvPr id="11" name="">
            <a:extLst xmlns:a="http://schemas.openxmlformats.org/drawingml/2006/main">
              <a:ext uri="{FF2B5EF4-FFF2-40B4-BE49-F238E27FC236}">
                <a16:creationId xmlns:a16="http://schemas.microsoft.com/office/drawing/2014/main" id="{9E2F27CA-684F-4755-B9A0-EEF9E1410F56}"/>
              </a:ext>
            </a:extLst>
          </p:cNvPr>
          <p:cNvSpPr>
            <a:spLocks xmlns:a="http://schemas.openxmlformats.org/drawingml/2006/main" noGrp="1"/>
          </p:cNvSpPr>
          <p:nvPr/>
        </p:nvSpPr>
        <p:spPr>
          <a:xfrm xmlns:a="http://schemas.openxmlformats.org/drawingml/2006/main">
            <a:off x="762000" y="6391275"/>
            <a:ext cx="942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625B74"/>
                </a:solidFill>
                <a:latin typeface="Arial"/>
                <a:ea typeface="Arial"/>
                <a:cs typeface="Arial"/>
              </a:defRPr>
            </a:defPPr>
            <a:lvl1pPr>
              <a:defRPr sz="1425" b="0">
                <a:solidFill>
                  <a:srgbClr val="625B74"/>
                </a:solidFill>
                <a:latin typeface="Arial"/>
                <a:ea typeface="Arial"/>
                <a:cs typeface="Arial"/>
              </a:defRPr>
            </a:lvl1pPr>
            <a:lvl2pPr>
              <a:defRPr sz="1425" b="0">
                <a:solidFill>
                  <a:srgbClr val="625B74"/>
                </a:solidFill>
                <a:latin typeface="Arial"/>
                <a:ea typeface="Arial"/>
                <a:cs typeface="Arial"/>
              </a:defRPr>
            </a:lvl2pPr>
            <a:lvl3pPr>
              <a:defRPr sz="1425" b="0">
                <a:solidFill>
                  <a:srgbClr val="625B74"/>
                </a:solidFill>
                <a:latin typeface="Arial"/>
                <a:ea typeface="Arial"/>
                <a:cs typeface="Arial"/>
              </a:defRPr>
            </a:lvl3pPr>
            <a:lvl4pPr>
              <a:defRPr sz="1425" b="0">
                <a:solidFill>
                  <a:srgbClr val="625B74"/>
                </a:solidFill>
                <a:latin typeface="Arial"/>
                <a:ea typeface="Arial"/>
                <a:cs typeface="Arial"/>
              </a:defRPr>
            </a:lvl4pPr>
            <a:lvl5pPr>
              <a:defRPr sz="1425" b="0">
                <a:solidFill>
                  <a:srgbClr val="625B74"/>
                </a:solidFill>
                <a:latin typeface="Arial"/>
                <a:ea typeface="Arial"/>
                <a:cs typeface="Arial"/>
              </a:defRPr>
            </a:lvl5pPr>
            <a:lvl6pPr>
              <a:defRPr sz="1425" b="0">
                <a:solidFill>
                  <a:srgbClr val="625B74"/>
                </a:solidFill>
                <a:latin typeface="Arial"/>
                <a:ea typeface="Arial"/>
                <a:cs typeface="Arial"/>
              </a:defRPr>
            </a:lvl6pPr>
            <a:lvl7pPr>
              <a:defRPr sz="1425" b="0">
                <a:solidFill>
                  <a:srgbClr val="625B74"/>
                </a:solidFill>
                <a:latin typeface="Arial"/>
                <a:ea typeface="Arial"/>
                <a:cs typeface="Arial"/>
              </a:defRPr>
            </a:lvl7pPr>
            <a:lvl8pPr>
              <a:defRPr sz="1425" b="0">
                <a:solidFill>
                  <a:srgbClr val="625B74"/>
                </a:solidFill>
                <a:latin typeface="Arial"/>
                <a:ea typeface="Arial"/>
                <a:cs typeface="Arial"/>
              </a:defRPr>
            </a:lvl8pPr>
            <a:lvl9pPr>
              <a:defRPr sz="1425" b="0">
                <a:solidFill>
                  <a:srgbClr val="625B74"/>
                </a:solidFill>
                <a:latin typeface="Arial"/>
                <a:ea typeface="Arial"/>
                <a:cs typeface="Arial"/>
              </a:defRPr>
            </a:lvl9pPr>
          </a:lstStyle>
          <a:p xmlns:a="http://schemas.openxmlformats.org/drawingml/2006/main">
            <a:pPr>
              <a:defRPr sz="1425" b="0">
                <a:solidFill>
                  <a:srgbClr val="625B74"/>
                </a:solidFill>
                <a:latin typeface="Arial"/>
                <a:ea typeface="Arial"/>
                <a:cs typeface="Arial"/>
              </a:defRPr>
            </a:pPr>
            <a:r>
              <a:rPr sz="1425" b="0">
                <a:solidFill>
                  <a:srgbClr val="625B74"/>
                </a:solidFill>
                <a:latin typeface="Arial"/>
                <a:ea typeface="Arial"/>
                <a:cs typeface="Arial"/>
              </a:rPr>
              <a:t>Live DeepSeek API checks passed for cited answers and option proposals.</a:t>
            </a:r>
          </a:p>
        </p:txBody>
      </p:sp>
    </p:spTree>
    <p:extLst>
      <p:ext uri="{BB962C8B-B14F-4D97-AF65-F5344CB8AC3E}">
        <p14:creationId xmlns:p14="http://schemas.microsoft.com/office/powerpoint/2010/main" val="13726942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2026-10-18T10:53:39.2510000Z</dcterms:created>
  <dcterms:modified xsi:type="dcterms:W3CDTF">2026-10-18T10:53:39.2510000Z</dcterms:modified>
</coreProperties>
</file>